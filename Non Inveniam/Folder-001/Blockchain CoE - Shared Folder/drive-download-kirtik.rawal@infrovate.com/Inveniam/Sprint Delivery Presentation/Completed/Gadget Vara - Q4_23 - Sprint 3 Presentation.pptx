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49">
          <p15:clr>
            <a:srgbClr val="000000"/>
          </p15:clr>
        </p15:guide>
        <p15:guide id="2" pos="2863">
          <p15:clr>
            <a:srgbClr val="000000"/>
          </p15:clr>
        </p15:guide>
      </p15:sldGuideLst>
    </p:ext>
    <p:ext uri="GoogleSlidesCustomDataVersion2">
      <go:slidesCustomData xmlns:go="http://customooxmlschemas.google.com/" r:id="rId10" roundtripDataSignature="AMtx7mhWP+ZpKFxItrE42NUwwRz1t2g+Y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49" orient="horz"/>
        <p:guide pos="286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customschemas.google.com/relationships/presentationmetadata" Target="metadata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60b7a7f0bc_0_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260b7a7f0bc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Task + Progress + Goal (what we have achieved with it, why we are doing it, what PI objective is it related to..)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2988b40965f_0_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g2988b40965f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Task + Progress + Goal (what we have achieved with it, why we are doing it, what PI objective is it related to..)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4fac33e419_0_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g24fac33e419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Task + Progress + Goal (what we have achieved with it, why we are doing it, what PI objective is it related to..)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8" name="Google Shape;1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9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" name="Google Shape;21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10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2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12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6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/>
          <p:cNvPicPr preferRelativeResize="0"/>
          <p:nvPr/>
        </p:nvPicPr>
        <p:blipFill rotWithShape="1">
          <a:blip r:embed="rId3">
            <a:alphaModFix/>
          </a:blip>
          <a:srcRect b="0" l="12841" r="0" t="0"/>
          <a:stretch/>
        </p:blipFill>
        <p:spPr>
          <a:xfrm>
            <a:off x="0" y="-66375"/>
            <a:ext cx="9143999" cy="520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02074" y="285125"/>
            <a:ext cx="3416100" cy="210852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"/>
          <p:cNvSpPr txBox="1"/>
          <p:nvPr/>
        </p:nvSpPr>
        <p:spPr>
          <a:xfrm>
            <a:off x="176975" y="3035200"/>
            <a:ext cx="86412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600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Sprint </a:t>
            </a:r>
            <a:r>
              <a:rPr b="1" lang="en-US" sz="2900">
                <a:solidFill>
                  <a:srgbClr val="FFFFFF"/>
                </a:solidFill>
              </a:rPr>
              <a:t>3</a:t>
            </a: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Q4 2023</a:t>
            </a:r>
            <a:endParaRPr b="1" i="0" sz="2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"/>
          <p:cNvSpPr txBox="1"/>
          <p:nvPr/>
        </p:nvSpPr>
        <p:spPr>
          <a:xfrm>
            <a:off x="176975" y="3787375"/>
            <a:ext cx="89670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n-US" sz="1600">
                <a:solidFill>
                  <a:schemeClr val="lt1"/>
                </a:solidFill>
              </a:rPr>
              <a:t>Gadget Vara Team: Kirtik Rawal, Faiza Taj, Animesh Kotka, Soumajit Das, Soumyajit Ghosh, Mobinul Islam, Yogesh Majila, Shivam Gaur, Payal Jain, Moumita Ghosh</a:t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60b7a7f0bc_0_6"/>
          <p:cNvSpPr txBox="1"/>
          <p:nvPr>
            <p:ph type="title"/>
          </p:nvPr>
        </p:nvSpPr>
        <p:spPr>
          <a:xfrm>
            <a:off x="267450" y="892012"/>
            <a:ext cx="7632600" cy="8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555">
                <a:solidFill>
                  <a:srgbClr val="0D5493"/>
                </a:solidFill>
                <a:highlight>
                  <a:schemeClr val="lt1"/>
                </a:highlight>
              </a:rPr>
              <a:t>What we’ve been working on …</a:t>
            </a:r>
            <a:endParaRPr sz="1800"/>
          </a:p>
        </p:txBody>
      </p:sp>
      <p:sp>
        <p:nvSpPr>
          <p:cNvPr id="63" name="Google Shape;63;g260b7a7f0bc_0_6"/>
          <p:cNvSpPr txBox="1"/>
          <p:nvPr>
            <p:ph idx="1" type="body"/>
          </p:nvPr>
        </p:nvSpPr>
        <p:spPr>
          <a:xfrm>
            <a:off x="261925" y="1723600"/>
            <a:ext cx="8566200" cy="31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b="1" lang="en-US" sz="2000">
                <a:latin typeface="Calibri"/>
                <a:ea typeface="Calibri"/>
                <a:cs typeface="Calibri"/>
                <a:sym typeface="Calibri"/>
              </a:rPr>
              <a:t>Tokeny ONCHAINID Linkage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○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[Tokeny] Add/Update Claim Issuers - </a:t>
            </a:r>
            <a:r>
              <a:rPr b="1" lang="en-US" sz="1800">
                <a:latin typeface="Calibri"/>
                <a:ea typeface="Calibri"/>
                <a:cs typeface="Calibri"/>
                <a:sym typeface="Calibri"/>
              </a:rPr>
              <a:t>Achieved</a:t>
            </a:r>
            <a:endParaRPr b="1" sz="1800"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○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[Tokeny] Add/Update Claims - </a:t>
            </a:r>
            <a:r>
              <a:rPr b="1" lang="en-US" sz="1800">
                <a:latin typeface="Calibri"/>
                <a:ea typeface="Calibri"/>
                <a:cs typeface="Calibri"/>
                <a:sym typeface="Calibri"/>
              </a:rPr>
              <a:t>In Progress</a:t>
            </a:r>
            <a:endParaRPr b="1" sz="1800">
              <a:latin typeface="Calibri"/>
              <a:ea typeface="Calibri"/>
              <a:cs typeface="Calibri"/>
              <a:sym typeface="Calibri"/>
            </a:endParaRPr>
          </a:p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b="1" lang="en-US" sz="2000">
                <a:latin typeface="Calibri"/>
                <a:ea typeface="Calibri"/>
                <a:cs typeface="Calibri"/>
                <a:sym typeface="Calibri"/>
              </a:rPr>
              <a:t>Implement Disconnect Ledger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○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[INV]Disconnect Ledger if No Documents Synced Yet - </a:t>
            </a:r>
            <a:r>
              <a:rPr b="1" lang="en-US" sz="1800">
                <a:latin typeface="Calibri"/>
                <a:ea typeface="Calibri"/>
                <a:cs typeface="Calibri"/>
                <a:sym typeface="Calibri"/>
              </a:rPr>
              <a:t>Partially Achieved</a:t>
            </a:r>
            <a:endParaRPr b="1" sz="1900">
              <a:latin typeface="Calibri"/>
              <a:ea typeface="Calibri"/>
              <a:cs typeface="Calibri"/>
              <a:sym typeface="Calibri"/>
            </a:endParaRPr>
          </a:p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b="1" lang="en-US" sz="2000">
                <a:latin typeface="Calibri"/>
                <a:ea typeface="Calibri"/>
                <a:cs typeface="Calibri"/>
                <a:sym typeface="Calibri"/>
              </a:rPr>
              <a:t>Investigation of Provenance Blockchain Ledger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○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Provenance Blockchain Investigation on Smart Contract &amp; POC - </a:t>
            </a:r>
            <a:r>
              <a:rPr b="1" lang="en-US" sz="1800">
                <a:latin typeface="Calibri"/>
                <a:ea typeface="Calibri"/>
                <a:cs typeface="Calibri"/>
                <a:sym typeface="Calibri"/>
              </a:rPr>
              <a:t>Partially Achieved</a:t>
            </a:r>
            <a:endParaRPr b="1" sz="1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4" name="Google Shape;64;g260b7a7f0bc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2725" y="59575"/>
            <a:ext cx="2171700" cy="76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988b40965f_0_9"/>
          <p:cNvSpPr txBox="1"/>
          <p:nvPr>
            <p:ph type="title"/>
          </p:nvPr>
        </p:nvSpPr>
        <p:spPr>
          <a:xfrm>
            <a:off x="267450" y="892012"/>
            <a:ext cx="7632600" cy="8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555">
                <a:solidFill>
                  <a:srgbClr val="0D5493"/>
                </a:solidFill>
                <a:highlight>
                  <a:schemeClr val="lt1"/>
                </a:highlight>
              </a:rPr>
              <a:t>What we’ve been working on …</a:t>
            </a:r>
            <a:endParaRPr sz="1800"/>
          </a:p>
        </p:txBody>
      </p:sp>
      <p:sp>
        <p:nvSpPr>
          <p:cNvPr id="70" name="Google Shape;70;g2988b40965f_0_9"/>
          <p:cNvSpPr txBox="1"/>
          <p:nvPr>
            <p:ph idx="1" type="body"/>
          </p:nvPr>
        </p:nvSpPr>
        <p:spPr>
          <a:xfrm>
            <a:off x="261925" y="1723600"/>
            <a:ext cx="8566200" cy="31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b="1" lang="en-US" sz="2000">
                <a:latin typeface="Calibri"/>
                <a:ea typeface="Calibri"/>
                <a:cs typeface="Calibri"/>
                <a:sym typeface="Calibri"/>
              </a:rPr>
              <a:t>Add Organization and Deal ID to bHub Organization Transaction Report &amp; Filter Report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Calibri"/>
              <a:buChar char="○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[INV] Add Organization and Deal information (ID or Name) to the HUB Organization Transaction Report - </a:t>
            </a:r>
            <a:r>
              <a:rPr b="1" lang="en-US" sz="1800">
                <a:latin typeface="Calibri"/>
                <a:ea typeface="Calibri"/>
                <a:cs typeface="Calibri"/>
                <a:sym typeface="Calibri"/>
              </a:rPr>
              <a:t>Partially Achieved</a:t>
            </a:r>
            <a:endParaRPr b="1" sz="1800"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Calibri"/>
              <a:buChar char="○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[HUB] Capture extra data for the transaction on Inveniam - </a:t>
            </a:r>
            <a:r>
              <a:rPr b="1" lang="en-US" sz="1800">
                <a:latin typeface="Calibri"/>
                <a:ea typeface="Calibri"/>
                <a:cs typeface="Calibri"/>
                <a:sym typeface="Calibri"/>
              </a:rPr>
              <a:t>Partially Achieved</a:t>
            </a:r>
            <a:endParaRPr b="1" sz="1800"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Calibri"/>
              <a:buChar char="○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[HUB] Filter Transaction Report using Organization Name Or Deal Name - </a:t>
            </a:r>
            <a:r>
              <a:rPr b="1" lang="en-US" sz="1800">
                <a:latin typeface="Calibri"/>
                <a:ea typeface="Calibri"/>
                <a:cs typeface="Calibri"/>
                <a:sym typeface="Calibri"/>
              </a:rPr>
              <a:t>Partially Achieved</a:t>
            </a:r>
            <a:endParaRPr b="1" sz="1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1" name="Google Shape;71;g2988b40965f_0_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2725" y="59575"/>
            <a:ext cx="2171700" cy="76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4fac33e419_0_3"/>
          <p:cNvSpPr txBox="1"/>
          <p:nvPr>
            <p:ph type="title"/>
          </p:nvPr>
        </p:nvSpPr>
        <p:spPr>
          <a:xfrm>
            <a:off x="267450" y="892012"/>
            <a:ext cx="7632600" cy="8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555">
                <a:solidFill>
                  <a:srgbClr val="0D5493"/>
                </a:solidFill>
                <a:highlight>
                  <a:schemeClr val="lt1"/>
                </a:highlight>
              </a:rPr>
              <a:t>What we’ve been working on …</a:t>
            </a:r>
            <a:endParaRPr sz="1800"/>
          </a:p>
        </p:txBody>
      </p:sp>
      <p:sp>
        <p:nvSpPr>
          <p:cNvPr id="77" name="Google Shape;77;g24fac33e419_0_3"/>
          <p:cNvSpPr txBox="1"/>
          <p:nvPr>
            <p:ph idx="1" type="body"/>
          </p:nvPr>
        </p:nvSpPr>
        <p:spPr>
          <a:xfrm>
            <a:off x="267325" y="1570475"/>
            <a:ext cx="8566200" cy="3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12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b="1" lang="en-US" sz="2000">
                <a:latin typeface="Calibri"/>
                <a:ea typeface="Calibri"/>
                <a:cs typeface="Calibri"/>
                <a:sym typeface="Calibri"/>
              </a:rPr>
              <a:t>Other </a:t>
            </a:r>
            <a:r>
              <a:rPr b="1" lang="en-US" sz="2000">
                <a:latin typeface="Calibri"/>
                <a:ea typeface="Calibri"/>
                <a:cs typeface="Calibri"/>
                <a:sym typeface="Calibri"/>
              </a:rPr>
              <a:t>Improvements: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-34293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○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Add an option to cancel batch verification process for hanging transaction - </a:t>
            </a:r>
            <a:r>
              <a:rPr b="1" lang="en-US" sz="1800">
                <a:latin typeface="Calibri"/>
                <a:ea typeface="Calibri"/>
                <a:cs typeface="Calibri"/>
                <a:sym typeface="Calibri"/>
              </a:rPr>
              <a:t>In Progress</a:t>
            </a:r>
            <a:endParaRPr b="1" sz="1800"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No. of Bugs Resolved - 1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No. of Support Ticket Closed - 2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8" name="Google Shape;78;g24fac33e419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2725" y="59575"/>
            <a:ext cx="2171700" cy="76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2023-05-11T07:14:00Z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6037C7F04D194443BD0BD2ACEF14218C</vt:lpwstr>
  </property>
  <property fmtid="{D5CDD505-2E9C-101B-9397-08002B2CF9AE}" pid="3" name="KSOProductBuildVer">
    <vt:lpwstr>1033-11.2.0.11537</vt:lpwstr>
  </property>
</Properties>
</file>