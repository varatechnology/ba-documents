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5"/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6858000" cx="12192000"/>
  <p:notesSz cx="6858000" cy="9144000"/>
  <p:embeddedFontLst>
    <p:embeddedFont>
      <p:font typeface="Roboto"/>
      <p:regular r:id="rId24"/>
      <p:bold r:id="rId25"/>
      <p:italic r:id="rId26"/>
      <p:boldItalic r:id="rId27"/>
    </p:embeddedFont>
    <p:embeddedFont>
      <p:font typeface="Alfa Slab One"/>
      <p:regular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61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29" roundtripDataSignature="AMtx7mjyifgfQi2uBNAQtcEgTkDzxkSc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936784-D278-4FC6-A942-3862531B065A}">
  <a:tblStyle styleId="{0D936784-D278-4FC6-A942-3862531B065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12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Roboto-regular.fntdata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8" Type="http://schemas.openxmlformats.org/officeDocument/2006/relationships/font" Target="fonts/AlfaSlabOne-regular.fntdata"/><Relationship Id="rId27" Type="http://schemas.openxmlformats.org/officeDocument/2006/relationships/font" Target="fonts/Roboto-bold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customschemas.google.com/relationships/presentationmetadata" Target="meta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493977c55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493977c55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3493977c55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493977c559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493977c55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493977c55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1c8e19323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g31c8e19323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g31c8e193238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383993a027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g3383993a027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" name="Google Shape;203;g3383993a027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4055684b17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g34055684b17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1" name="Google Shape;211;g34055684b17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3" name="Google Shape;22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383993a027_1_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g3383993a027_1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9" name="Google Shape;239;g3383993a027_1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383993a027_1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g3383993a027_1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2" name="Google Shape;262;g3383993a027_1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383993a027_1_9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g3383993a027_1_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0" name="Google Shape;270;g3383993a027_1_9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383993a027_1_1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g3383993a027_1_1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9" name="Google Shape;279;g3383993a027_1_13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383993a027_1_1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6" name="Google Shape;296;g3383993a027_1_1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383993a027_1_18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2" name="Google Shape;312;g3383993a027_1_18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493977c559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493977c559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g3493977c559_0_3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7" name="Google Shape;32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1" name="Google Shape;21;p21"/>
          <p:cNvSpPr txBox="1"/>
          <p:nvPr>
            <p:ph idx="10" type="dt"/>
          </p:nvPr>
        </p:nvSpPr>
        <p:spPr>
          <a:xfrm>
            <a:off x="838200" y="648551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2" type="sldNum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4"/>
          <p:cNvSpPr txBox="1"/>
          <p:nvPr>
            <p:ph type="title"/>
          </p:nvPr>
        </p:nvSpPr>
        <p:spPr>
          <a:xfrm>
            <a:off x="838200" y="154130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4"/>
          <p:cNvSpPr txBox="1"/>
          <p:nvPr>
            <p:ph idx="1" type="body"/>
          </p:nvPr>
        </p:nvSpPr>
        <p:spPr>
          <a:xfrm>
            <a:off x="876297" y="1663954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5"/>
          <p:cNvSpPr txBox="1"/>
          <p:nvPr>
            <p:ph type="title"/>
          </p:nvPr>
        </p:nvSpPr>
        <p:spPr>
          <a:xfrm>
            <a:off x="295511" y="274547"/>
            <a:ext cx="10517632" cy="5287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4796"/>
              </a:buClr>
              <a:buSzPts val="2800"/>
              <a:buFont typeface="Calibri"/>
              <a:buNone/>
              <a:defRPr b="1" sz="2800">
                <a:solidFill>
                  <a:srgbClr val="26479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 txBox="1"/>
          <p:nvPr>
            <p:ph type="title"/>
          </p:nvPr>
        </p:nvSpPr>
        <p:spPr>
          <a:xfrm>
            <a:off x="838200" y="154130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" name="Google Shape;53;p28"/>
          <p:cNvSpPr txBox="1"/>
          <p:nvPr>
            <p:ph type="title"/>
          </p:nvPr>
        </p:nvSpPr>
        <p:spPr>
          <a:xfrm>
            <a:off x="838200" y="60326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" name="Google Shape;58;p29"/>
          <p:cNvSpPr txBox="1"/>
          <p:nvPr>
            <p:ph type="title"/>
          </p:nvPr>
        </p:nvSpPr>
        <p:spPr>
          <a:xfrm>
            <a:off x="838200" y="60326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3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6" name="Google Shape;66;p3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7" name="Google Shape;67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3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3"/>
          <p:cNvSpPr txBox="1"/>
          <p:nvPr>
            <p:ph idx="1" type="body"/>
          </p:nvPr>
        </p:nvSpPr>
        <p:spPr>
          <a:xfrm>
            <a:off x="838200" y="1673433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>
            <p:ph type="title"/>
          </p:nvPr>
        </p:nvSpPr>
        <p:spPr>
          <a:xfrm>
            <a:off x="838200" y="60326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3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5" name="Google Shape;95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3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1" name="Google Shape;101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3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3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0" name="Google Shape;110;p35"/>
          <p:cNvSpPr txBox="1"/>
          <p:nvPr>
            <p:ph type="title"/>
          </p:nvPr>
        </p:nvSpPr>
        <p:spPr>
          <a:xfrm>
            <a:off x="838200" y="60326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3" name="Google Shape;113;p3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3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5" name="Google Shape;115;p3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6" name="Google Shape;116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9" name="Google Shape;119;p36"/>
          <p:cNvSpPr txBox="1"/>
          <p:nvPr>
            <p:ph type="title"/>
          </p:nvPr>
        </p:nvSpPr>
        <p:spPr>
          <a:xfrm>
            <a:off x="838200" y="60326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3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4" name="Google Shape;124;p37"/>
          <p:cNvSpPr txBox="1"/>
          <p:nvPr>
            <p:ph type="title"/>
          </p:nvPr>
        </p:nvSpPr>
        <p:spPr>
          <a:xfrm>
            <a:off x="838200" y="60326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3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p3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33" name="Google Shape;133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4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4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40" name="Google Shape;140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4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3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154130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76297" y="1663954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/>
          <p:nvPr/>
        </p:nvSpPr>
        <p:spPr>
          <a:xfrm>
            <a:off x="0" y="6423517"/>
            <a:ext cx="6134098" cy="434483"/>
          </a:xfrm>
          <a:prstGeom prst="rect">
            <a:avLst/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20"/>
          <p:cNvSpPr/>
          <p:nvPr/>
        </p:nvSpPr>
        <p:spPr>
          <a:xfrm>
            <a:off x="6134097" y="6423517"/>
            <a:ext cx="6057903" cy="434483"/>
          </a:xfrm>
          <a:prstGeom prst="rect">
            <a:avLst/>
          </a:prstGeom>
          <a:solidFill>
            <a:srgbClr val="F6821C">
              <a:alpha val="3647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0"/>
          <p:cNvSpPr/>
          <p:nvPr/>
        </p:nvSpPr>
        <p:spPr>
          <a:xfrm>
            <a:off x="156247" y="-2912"/>
            <a:ext cx="471837" cy="855319"/>
          </a:xfrm>
          <a:prstGeom prst="flowChartOffpageConnector">
            <a:avLst/>
          </a:prstGeom>
          <a:solidFill>
            <a:srgbClr val="213D8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20"/>
          <p:cNvSpPr txBox="1"/>
          <p:nvPr>
            <p:ph idx="10" type="dt"/>
          </p:nvPr>
        </p:nvSpPr>
        <p:spPr>
          <a:xfrm>
            <a:off x="838200" y="646112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" name="Google Shape;16;p20"/>
          <p:cNvSpPr txBox="1"/>
          <p:nvPr>
            <p:ph idx="11" type="ftr"/>
          </p:nvPr>
        </p:nvSpPr>
        <p:spPr>
          <a:xfrm>
            <a:off x="4038600" y="646112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20"/>
          <p:cNvSpPr txBox="1"/>
          <p:nvPr>
            <p:ph idx="12" type="sldNum"/>
          </p:nvPr>
        </p:nvSpPr>
        <p:spPr>
          <a:xfrm>
            <a:off x="8610600" y="646112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/>
          <p:nvPr>
            <p:ph idx="1" type="body"/>
          </p:nvPr>
        </p:nvSpPr>
        <p:spPr>
          <a:xfrm>
            <a:off x="838200" y="1673433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p22"/>
          <p:cNvSpPr/>
          <p:nvPr/>
        </p:nvSpPr>
        <p:spPr>
          <a:xfrm>
            <a:off x="0" y="6423517"/>
            <a:ext cx="6134098" cy="434483"/>
          </a:xfrm>
          <a:prstGeom prst="rect">
            <a:avLst/>
          </a:prstGeom>
          <a:solidFill>
            <a:srgbClr val="26479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2"/>
          <p:cNvSpPr/>
          <p:nvPr/>
        </p:nvSpPr>
        <p:spPr>
          <a:xfrm>
            <a:off x="6134097" y="6423517"/>
            <a:ext cx="6057903" cy="434483"/>
          </a:xfrm>
          <a:prstGeom prst="rect">
            <a:avLst/>
          </a:prstGeom>
          <a:solidFill>
            <a:srgbClr val="264796">
              <a:alpha val="3647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2"/>
          <p:cNvSpPr/>
          <p:nvPr/>
        </p:nvSpPr>
        <p:spPr>
          <a:xfrm>
            <a:off x="156247" y="-2912"/>
            <a:ext cx="471837" cy="855319"/>
          </a:xfrm>
          <a:prstGeom prst="flowChartOffpageConnector">
            <a:avLst/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2"/>
          <p:cNvSpPr txBox="1"/>
          <p:nvPr>
            <p:ph idx="10" type="dt"/>
          </p:nvPr>
        </p:nvSpPr>
        <p:spPr>
          <a:xfrm>
            <a:off x="838200" y="646112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22"/>
          <p:cNvSpPr txBox="1"/>
          <p:nvPr>
            <p:ph idx="11" type="ftr"/>
          </p:nvPr>
        </p:nvSpPr>
        <p:spPr>
          <a:xfrm>
            <a:off x="4038600" y="646112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22"/>
          <p:cNvSpPr txBox="1"/>
          <p:nvPr>
            <p:ph idx="12" type="sldNum"/>
          </p:nvPr>
        </p:nvSpPr>
        <p:spPr>
          <a:xfrm>
            <a:off x="8610600" y="646112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5" name="Google Shape;85;p22"/>
          <p:cNvSpPr txBox="1"/>
          <p:nvPr>
            <p:ph type="title"/>
          </p:nvPr>
        </p:nvSpPr>
        <p:spPr>
          <a:xfrm>
            <a:off x="838200" y="139703"/>
            <a:ext cx="10515600" cy="855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b="1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jp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ledgerinsights.com/bcg-estimates-tokenization-could-improve-mutual-fund-returns-by-100-billion/" TargetMode="External"/><Relationship Id="rId4" Type="http://schemas.openxmlformats.org/officeDocument/2006/relationships/hyperlink" Target="https://www.hindustantimes.com/real-estate/fractional-ownership-market-in-india-predicted-to-grow-over-10x-to-surpass-5-billion-by-2030-jll-propshare-analysis-101710242261435.html#" TargetMode="External"/><Relationship Id="rId5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incodias.elpais.com/companias/2025-01-15/la-startup-brickken-cierra-una-ronda-de-24-millones-para-impulsar-su-negocio-de-tokenizacion-de-activos.html?utm_source=chatgpt.com" TargetMode="External"/><Relationship Id="rId4" Type="http://schemas.openxmlformats.org/officeDocument/2006/relationships/hyperlink" Target="https://www.chainbits.com/press-releases/blocksquare-partners-with-fractionex-to-empower-first-time-real-estate-buyers/" TargetMode="External"/><Relationship Id="rId5" Type="http://schemas.openxmlformats.org/officeDocument/2006/relationships/hyperlink" Target="https://www.ft.com/content/648f2249-5783-4e98-8412-4056f56ad1b0?utm_source=chatgpt.com" TargetMode="External"/><Relationship Id="rId6" Type="http://schemas.openxmlformats.org/officeDocument/2006/relationships/hyperlink" Target="https://www.ft.com/content/cf036ebf-6f4e-474f-a1ef-ca7179b712b0?utm_source=chatgpt.com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eamless pattern of isometric pentagons and network hub icons" id="148" name="Google Shape;148;g3493977c55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0" y="50"/>
            <a:ext cx="5334000" cy="690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g3493977c559_0_0"/>
          <p:cNvPicPr preferRelativeResize="0"/>
          <p:nvPr/>
        </p:nvPicPr>
        <p:blipFill rotWithShape="1">
          <a:blip r:embed="rId4">
            <a:alphaModFix/>
          </a:blip>
          <a:srcRect b="0" l="18558" r="18552" t="0"/>
          <a:stretch/>
        </p:blipFill>
        <p:spPr>
          <a:xfrm>
            <a:off x="399470" y="1114491"/>
            <a:ext cx="1351279" cy="1170441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493977c559_0_0"/>
          <p:cNvSpPr txBox="1"/>
          <p:nvPr/>
        </p:nvSpPr>
        <p:spPr>
          <a:xfrm>
            <a:off x="590738" y="4315970"/>
            <a:ext cx="4722000" cy="11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50" lIns="0" spcFirstLastPara="1" rIns="0" wrap="square" tIns="1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6464"/>
              </a:buClr>
              <a:buSzPts val="1100"/>
              <a:buFont typeface="Calibri"/>
              <a:buNone/>
            </a:pPr>
            <a:r>
              <a:t/>
            </a:r>
            <a:endParaRPr sz="1100"/>
          </a:p>
        </p:txBody>
      </p:sp>
      <p:sp>
        <p:nvSpPr>
          <p:cNvPr id="151" name="Google Shape;151;g3493977c559_0_0"/>
          <p:cNvSpPr txBox="1"/>
          <p:nvPr/>
        </p:nvSpPr>
        <p:spPr>
          <a:xfrm>
            <a:off x="399466" y="3144100"/>
            <a:ext cx="6126900" cy="890400"/>
          </a:xfrm>
          <a:prstGeom prst="rect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3D83"/>
              </a:buClr>
              <a:buSzPts val="4500"/>
              <a:buFont typeface="Calibri"/>
              <a:buNone/>
            </a:pPr>
            <a:r>
              <a:rPr b="1" lang="en-US" sz="4600">
                <a:solidFill>
                  <a:srgbClr val="213D83"/>
                </a:solidFill>
                <a:latin typeface="Calibri"/>
                <a:ea typeface="Calibri"/>
                <a:cs typeface="Calibri"/>
                <a:sym typeface="Calibri"/>
              </a:rPr>
              <a:t>Public Blockchain Trends</a:t>
            </a:r>
            <a:endParaRPr b="1" sz="4600">
              <a:solidFill>
                <a:srgbClr val="213D8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3D83"/>
              </a:buClr>
              <a:buSzPts val="4500"/>
              <a:buFont typeface="Calibri"/>
              <a:buNone/>
            </a:pPr>
            <a:r>
              <a:rPr b="1" lang="en-US" sz="4600">
                <a:solidFill>
                  <a:srgbClr val="213D83"/>
                </a:solidFill>
                <a:latin typeface="Calibri"/>
                <a:ea typeface="Calibri"/>
                <a:cs typeface="Calibri"/>
                <a:sym typeface="Calibri"/>
              </a:rPr>
              <a:t>2025</a:t>
            </a:r>
            <a:endParaRPr sz="1200"/>
          </a:p>
        </p:txBody>
      </p:sp>
      <p:sp>
        <p:nvSpPr>
          <p:cNvPr id="152" name="Google Shape;152;g3493977c559_0_0"/>
          <p:cNvSpPr/>
          <p:nvPr/>
        </p:nvSpPr>
        <p:spPr>
          <a:xfrm>
            <a:off x="6322656" y="1188009"/>
            <a:ext cx="1065900" cy="906600"/>
          </a:xfrm>
          <a:prstGeom prst="triangle">
            <a:avLst>
              <a:gd fmla="val 50000" name="adj"/>
            </a:avLst>
          </a:prstGeom>
          <a:solidFill>
            <a:srgbClr val="213D8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493977c559_0_0"/>
          <p:cNvSpPr/>
          <p:nvPr/>
        </p:nvSpPr>
        <p:spPr>
          <a:xfrm rot="10800000">
            <a:off x="6157508" y="8"/>
            <a:ext cx="1396200" cy="1188000"/>
          </a:xfrm>
          <a:prstGeom prst="triangle">
            <a:avLst>
              <a:gd fmla="val 50000" name="adj"/>
            </a:avLst>
          </a:prstGeom>
          <a:solidFill>
            <a:srgbClr val="F6821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493977c559_0_0"/>
          <p:cNvSpPr/>
          <p:nvPr/>
        </p:nvSpPr>
        <p:spPr>
          <a:xfrm rot="-5400000">
            <a:off x="-2071534" y="3392230"/>
            <a:ext cx="4709477" cy="44006"/>
          </a:xfrm>
          <a:custGeom>
            <a:rect b="b" l="l" r="r" t="t"/>
            <a:pathLst>
              <a:path extrusionOk="0" h="88900" w="11557000">
                <a:moveTo>
                  <a:pt x="11557000" y="0"/>
                </a:moveTo>
                <a:lnTo>
                  <a:pt x="0" y="0"/>
                </a:lnTo>
                <a:lnTo>
                  <a:pt x="0" y="88900"/>
                </a:lnTo>
                <a:lnTo>
                  <a:pt x="11557000" y="88900"/>
                </a:lnTo>
                <a:lnTo>
                  <a:pt x="11557000" y="0"/>
                </a:lnTo>
                <a:close/>
              </a:path>
            </a:pathLst>
          </a:custGeom>
          <a:solidFill>
            <a:srgbClr val="F6821C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493977c559_0_0"/>
          <p:cNvSpPr/>
          <p:nvPr/>
        </p:nvSpPr>
        <p:spPr>
          <a:xfrm rot="-5400000">
            <a:off x="-713585" y="3399900"/>
            <a:ext cx="1993583" cy="44006"/>
          </a:xfrm>
          <a:custGeom>
            <a:rect b="b" l="l" r="r" t="t"/>
            <a:pathLst>
              <a:path extrusionOk="0" h="88900" w="11557000">
                <a:moveTo>
                  <a:pt x="11557000" y="0"/>
                </a:moveTo>
                <a:lnTo>
                  <a:pt x="0" y="0"/>
                </a:lnTo>
                <a:lnTo>
                  <a:pt x="0" y="88900"/>
                </a:lnTo>
                <a:lnTo>
                  <a:pt x="11557000" y="88900"/>
                </a:lnTo>
                <a:lnTo>
                  <a:pt x="11557000" y="0"/>
                </a:lnTo>
                <a:close/>
              </a:path>
            </a:pathLst>
          </a:custGeom>
          <a:solidFill>
            <a:srgbClr val="213D8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493977c559_0_0"/>
          <p:cNvSpPr/>
          <p:nvPr/>
        </p:nvSpPr>
        <p:spPr>
          <a:xfrm>
            <a:off x="6858075" y="6369175"/>
            <a:ext cx="5334000" cy="430800"/>
          </a:xfrm>
          <a:prstGeom prst="rect">
            <a:avLst/>
          </a:prstGeom>
          <a:solidFill>
            <a:srgbClr val="F6821C">
              <a:alpha val="376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493977c559_0_0"/>
          <p:cNvSpPr/>
          <p:nvPr/>
        </p:nvSpPr>
        <p:spPr>
          <a:xfrm>
            <a:off x="6096000" y="6427200"/>
            <a:ext cx="762000" cy="430800"/>
          </a:xfrm>
          <a:prstGeom prst="rect">
            <a:avLst/>
          </a:prstGeom>
          <a:solidFill>
            <a:srgbClr val="F6821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A6D1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493977c559_0_6"/>
          <p:cNvSpPr txBox="1"/>
          <p:nvPr/>
        </p:nvSpPr>
        <p:spPr>
          <a:xfrm>
            <a:off x="628650" y="1566240"/>
            <a:ext cx="10709700" cy="41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55000" lnSpcReduction="20000"/>
          </a:bodyPr>
          <a:lstStyle/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highlight>
                  <a:srgbClr val="FFD966"/>
                </a:highlight>
                <a:latin typeface="Calibri"/>
                <a:ea typeface="Calibri"/>
                <a:cs typeface="Calibri"/>
                <a:sym typeface="Calibri"/>
              </a:rPr>
              <a:t>Real World Assets (RWA) Tokenization -</a:t>
            </a:r>
            <a:r>
              <a:rPr lang="en-US" sz="2800">
                <a:solidFill>
                  <a:srgbClr val="000000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Onboarding trillions in real estate, commodities, invoices, and securities onto the blockchain.</a:t>
            </a:r>
            <a:endParaRPr sz="2800">
              <a:solidFill>
                <a:srgbClr val="000000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Layer 2 (L2) Dominance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-Scaling Ethereum and other base layers with rollups and zero-knowledge tech.</a:t>
            </a:r>
            <a:endParaRPr sz="2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Interoperability and Modular Chains-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Composable blockchain stacks, cross-chain communication (IBC, bridges, shared sequencers,Polkadot,Cosmos).</a:t>
            </a:r>
            <a:endParaRPr sz="2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AI+Blockchain- 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On-chain AI agents and AI-generated smart contracts.</a:t>
            </a:r>
            <a:endParaRPr b="1" sz="2800"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Restaking and Shared Security-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EigenLayer, Babylon, and other protocols enabling security as a service</a:t>
            </a:r>
            <a:r>
              <a:rPr b="1" lang="en-US" sz="2800">
                <a:latin typeface="Calibri"/>
                <a:ea typeface="Calibri"/>
                <a:cs typeface="Calibri"/>
                <a:sym typeface="Calibri"/>
              </a:rPr>
              <a:t>.</a:t>
            </a:r>
            <a:endParaRPr b="1" sz="2800"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DePIN(Decentralised Physical Infrastructure Networks) -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Decentralizing real-world resources like storage (Filecoin), energy, sensors, and telecom (Helium).</a:t>
            </a:r>
            <a:endParaRPr b="1" sz="2800"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Char char="•"/>
            </a:pPr>
            <a:r>
              <a:rPr b="1"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Web3 Social and Consumer Apps- 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Decentralized social media (Lens, Farcaster), on-chain reputation, and gamified consumer experiences.</a:t>
            </a:r>
            <a:endParaRPr sz="2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639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•"/>
            </a:pPr>
            <a:r>
              <a:rPr b="1" lang="en-US" sz="2800">
                <a:latin typeface="Calibri"/>
                <a:ea typeface="Calibri"/>
                <a:cs typeface="Calibri"/>
                <a:sym typeface="Calibri"/>
              </a:rPr>
              <a:t>Memes</a:t>
            </a:r>
            <a:endParaRPr b="1" sz="2800"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493977c559_0_6"/>
          <p:cNvSpPr txBox="1"/>
          <p:nvPr/>
        </p:nvSpPr>
        <p:spPr>
          <a:xfrm>
            <a:off x="628650" y="102402"/>
            <a:ext cx="107097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TRENDING</a:t>
            </a:r>
            <a:endParaRPr b="1" sz="27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493977c559_0_6"/>
          <p:cNvSpPr txBox="1"/>
          <p:nvPr/>
        </p:nvSpPr>
        <p:spPr>
          <a:xfrm>
            <a:off x="8544580" y="6026515"/>
            <a:ext cx="27939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g3493977c559_0_6"/>
          <p:cNvPicPr preferRelativeResize="0"/>
          <p:nvPr/>
        </p:nvPicPr>
        <p:blipFill rotWithShape="1">
          <a:blip r:embed="rId3">
            <a:alphaModFix/>
          </a:blip>
          <a:srcRect b="0" l="18558" r="18552" t="0"/>
          <a:stretch/>
        </p:blipFill>
        <p:spPr>
          <a:xfrm>
            <a:off x="10653600" y="117332"/>
            <a:ext cx="1369674" cy="11243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ds holding a globe with dots and lines around it&#10;&#10;Description automatically generated" id="172" name="Google Shape;172;p1"/>
          <p:cNvPicPr preferRelativeResize="0"/>
          <p:nvPr/>
        </p:nvPicPr>
        <p:blipFill rotWithShape="1">
          <a:blip r:embed="rId3">
            <a:alphaModFix/>
          </a:blip>
          <a:srcRect b="13058" l="238" r="238" t="5733"/>
          <a:stretch/>
        </p:blipFill>
        <p:spPr>
          <a:xfrm>
            <a:off x="6945050" y="0"/>
            <a:ext cx="5246948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"/>
          <p:cNvPicPr preferRelativeResize="0"/>
          <p:nvPr/>
        </p:nvPicPr>
        <p:blipFill rotWithShape="1">
          <a:blip r:embed="rId4">
            <a:alphaModFix/>
          </a:blip>
          <a:srcRect b="0" l="18556" r="18556" t="0"/>
          <a:stretch/>
        </p:blipFill>
        <p:spPr>
          <a:xfrm>
            <a:off x="10630851" y="0"/>
            <a:ext cx="1511469" cy="132672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"/>
          <p:cNvSpPr txBox="1"/>
          <p:nvPr/>
        </p:nvSpPr>
        <p:spPr>
          <a:xfrm>
            <a:off x="448075" y="3976250"/>
            <a:ext cx="5783100" cy="8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0" spcFirstLastPara="1" rIns="0" wrap="square" tIns="2285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b="1" lang="en-US" sz="3600">
                <a:latin typeface="Calibri"/>
                <a:ea typeface="Calibri"/>
                <a:cs typeface="Calibri"/>
                <a:sym typeface="Calibri"/>
              </a:rPr>
              <a:t>Bridging Physical Assets access with Blockchain </a:t>
            </a:r>
            <a:endParaRPr b="1" sz="3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t/>
            </a:r>
            <a:endParaRPr b="1" sz="3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6464"/>
              </a:buClr>
              <a:buSzPts val="1400"/>
              <a:buFont typeface="Calibri"/>
              <a:buNone/>
            </a:pPr>
            <a:r>
              <a:t/>
            </a:r>
            <a:endParaRPr b="0" i="0" sz="2800" u="none" cap="none" strike="noStrike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348250" y="2905350"/>
            <a:ext cx="6364800" cy="123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3D83"/>
              </a:buClr>
              <a:buSzPts val="6600"/>
              <a:buFont typeface="Arial"/>
              <a:buNone/>
            </a:pPr>
            <a:r>
              <a:rPr b="1" lang="en-US" sz="4600" u="sng">
                <a:solidFill>
                  <a:srgbClr val="213D83"/>
                </a:solidFill>
                <a:latin typeface="Calibri"/>
                <a:ea typeface="Calibri"/>
                <a:cs typeface="Calibri"/>
                <a:sym typeface="Calibri"/>
              </a:rPr>
              <a:t>RWAFactory</a:t>
            </a:r>
            <a:endParaRPr b="0" i="0" sz="4600" u="sng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"/>
          <p:cNvSpPr/>
          <p:nvPr/>
        </p:nvSpPr>
        <p:spPr>
          <a:xfrm>
            <a:off x="6395451" y="1197819"/>
            <a:ext cx="1060800" cy="914400"/>
          </a:xfrm>
          <a:prstGeom prst="triangle">
            <a:avLst>
              <a:gd fmla="val 50000" name="adj"/>
            </a:avLst>
          </a:prstGeom>
          <a:solidFill>
            <a:srgbClr val="213D8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"/>
          <p:cNvSpPr/>
          <p:nvPr/>
        </p:nvSpPr>
        <p:spPr>
          <a:xfrm rot="10800000">
            <a:off x="6231013" y="-7"/>
            <a:ext cx="1389600" cy="1197900"/>
          </a:xfrm>
          <a:prstGeom prst="triangle">
            <a:avLst>
              <a:gd fmla="val 50000" name="adj"/>
            </a:avLst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"/>
          <p:cNvSpPr/>
          <p:nvPr/>
        </p:nvSpPr>
        <p:spPr>
          <a:xfrm rot="-5400000">
            <a:off x="-1994445" y="3431575"/>
            <a:ext cx="4729313" cy="43908"/>
          </a:xfrm>
          <a:custGeom>
            <a:rect b="b" l="l" r="r" t="t"/>
            <a:pathLst>
              <a:path extrusionOk="0" h="88900" w="11557000">
                <a:moveTo>
                  <a:pt x="11557000" y="0"/>
                </a:moveTo>
                <a:lnTo>
                  <a:pt x="0" y="0"/>
                </a:lnTo>
                <a:lnTo>
                  <a:pt x="0" y="88900"/>
                </a:lnTo>
                <a:lnTo>
                  <a:pt x="11557000" y="88900"/>
                </a:lnTo>
                <a:lnTo>
                  <a:pt x="11557000" y="0"/>
                </a:lnTo>
                <a:close/>
              </a:path>
            </a:pathLst>
          </a:custGeom>
          <a:solidFill>
            <a:srgbClr val="F6821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"/>
          <p:cNvSpPr/>
          <p:nvPr/>
        </p:nvSpPr>
        <p:spPr>
          <a:xfrm rot="-5400000">
            <a:off x="-632633" y="3431576"/>
            <a:ext cx="2005691" cy="43908"/>
          </a:xfrm>
          <a:custGeom>
            <a:rect b="b" l="l" r="r" t="t"/>
            <a:pathLst>
              <a:path extrusionOk="0" h="88900" w="11557000">
                <a:moveTo>
                  <a:pt x="11557000" y="0"/>
                </a:moveTo>
                <a:lnTo>
                  <a:pt x="0" y="0"/>
                </a:lnTo>
                <a:lnTo>
                  <a:pt x="0" y="88900"/>
                </a:lnTo>
                <a:lnTo>
                  <a:pt x="11557000" y="88900"/>
                </a:lnTo>
                <a:lnTo>
                  <a:pt x="11557000" y="0"/>
                </a:lnTo>
                <a:close/>
              </a:path>
            </a:pathLst>
          </a:custGeom>
          <a:solidFill>
            <a:srgbClr val="213D8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"/>
          <p:cNvSpPr/>
          <p:nvPr/>
        </p:nvSpPr>
        <p:spPr>
          <a:xfrm>
            <a:off x="6124575" y="6423517"/>
            <a:ext cx="6067425" cy="434483"/>
          </a:xfrm>
          <a:prstGeom prst="rect">
            <a:avLst/>
          </a:prstGeom>
          <a:solidFill>
            <a:srgbClr val="F6821C">
              <a:alpha val="3647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1" title="image-Photoroo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91025" y="203225"/>
            <a:ext cx="3905400" cy="304253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"/>
          <p:cNvSpPr txBox="1"/>
          <p:nvPr/>
        </p:nvSpPr>
        <p:spPr>
          <a:xfrm>
            <a:off x="348250" y="1088875"/>
            <a:ext cx="3905400" cy="15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FF0000"/>
                </a:solidFill>
                <a:latin typeface="Alfa Slab One"/>
                <a:ea typeface="Alfa Slab One"/>
                <a:cs typeface="Alfa Slab One"/>
                <a:sym typeface="Alfa Slab One"/>
              </a:rPr>
              <a:t>We have !!!!!!</a:t>
            </a:r>
            <a:endParaRPr sz="4000">
              <a:solidFill>
                <a:srgbClr val="FF0000"/>
              </a:solidFill>
              <a:latin typeface="Alfa Slab One"/>
              <a:ea typeface="Alfa Slab One"/>
              <a:cs typeface="Alfa Slab One"/>
              <a:sym typeface="Alfa Slab On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1c8e193238_0_0"/>
          <p:cNvSpPr txBox="1"/>
          <p:nvPr/>
        </p:nvSpPr>
        <p:spPr>
          <a:xfrm>
            <a:off x="732050" y="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4300">
                <a:latin typeface="Calibri"/>
                <a:ea typeface="Calibri"/>
                <a:cs typeface="Calibri"/>
                <a:sym typeface="Calibri"/>
              </a:rPr>
              <a:t>Problems</a:t>
            </a:r>
            <a:endParaRPr b="1" i="0" sz="4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9" name="Google Shape;189;g31c8e193238_0_0"/>
          <p:cNvGrpSpPr/>
          <p:nvPr/>
        </p:nvGrpSpPr>
        <p:grpSpPr>
          <a:xfrm>
            <a:off x="1592374" y="1826852"/>
            <a:ext cx="9259946" cy="3694981"/>
            <a:chOff x="720275" y="1713800"/>
            <a:chExt cx="10972800" cy="4717800"/>
          </a:xfrm>
        </p:grpSpPr>
        <p:sp>
          <p:nvSpPr>
            <p:cNvPr id="190" name="Google Shape;190;g31c8e193238_0_0"/>
            <p:cNvSpPr/>
            <p:nvPr/>
          </p:nvSpPr>
          <p:spPr>
            <a:xfrm>
              <a:off x="720275" y="1713800"/>
              <a:ext cx="2743200" cy="4717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38100">
              <a:solidFill>
                <a:srgbClr val="F6821C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" name="Google Shape;191;g31c8e193238_0_0"/>
            <p:cNvSpPr/>
            <p:nvPr/>
          </p:nvSpPr>
          <p:spPr>
            <a:xfrm>
              <a:off x="3463475" y="1713800"/>
              <a:ext cx="2743200" cy="4717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38100">
              <a:solidFill>
                <a:srgbClr val="F6821C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g31c8e193238_0_0"/>
            <p:cNvSpPr/>
            <p:nvPr/>
          </p:nvSpPr>
          <p:spPr>
            <a:xfrm>
              <a:off x="6206675" y="1713800"/>
              <a:ext cx="2743200" cy="4717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38100">
              <a:solidFill>
                <a:srgbClr val="F6821C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g31c8e193238_0_0"/>
            <p:cNvSpPr/>
            <p:nvPr/>
          </p:nvSpPr>
          <p:spPr>
            <a:xfrm>
              <a:off x="8949875" y="1770375"/>
              <a:ext cx="2743200" cy="46611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38100">
              <a:solidFill>
                <a:srgbClr val="F6821C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4" name="Google Shape;194;g31c8e193238_0_0"/>
          <p:cNvSpPr txBox="1"/>
          <p:nvPr/>
        </p:nvSpPr>
        <p:spPr>
          <a:xfrm>
            <a:off x="846000" y="97155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55000" lnSpcReduction="2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05"/>
              <a:buFont typeface="Arial"/>
              <a:buNone/>
            </a:pPr>
            <a:r>
              <a:rPr b="1" lang="en-US" sz="447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Traditional real-world asset (RWA) markets suffer from</a:t>
            </a:r>
            <a:endParaRPr b="1" sz="447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83720"/>
              <a:buFont typeface="Arial"/>
              <a:buNone/>
            </a:pPr>
            <a:r>
              <a:t/>
            </a:r>
            <a:endParaRPr b="1" sz="4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1c8e193238_0_0"/>
          <p:cNvSpPr txBox="1"/>
          <p:nvPr/>
        </p:nvSpPr>
        <p:spPr>
          <a:xfrm>
            <a:off x="1774375" y="2238875"/>
            <a:ext cx="1931100" cy="219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26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Illiquidity and slow transactions</a:t>
            </a:r>
            <a:endParaRPr sz="29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1c8e193238_0_0"/>
          <p:cNvSpPr txBox="1"/>
          <p:nvPr/>
        </p:nvSpPr>
        <p:spPr>
          <a:xfrm>
            <a:off x="4059575" y="2674075"/>
            <a:ext cx="1931100" cy="219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26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High entry barriers &amp; complex legal structures</a:t>
            </a:r>
            <a:endParaRPr sz="26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g31c8e193238_0_0"/>
          <p:cNvSpPr txBox="1"/>
          <p:nvPr/>
        </p:nvSpPr>
        <p:spPr>
          <a:xfrm>
            <a:off x="6427263" y="2238887"/>
            <a:ext cx="1931100" cy="219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26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Inefficient ownership transfer</a:t>
            </a:r>
            <a:endParaRPr sz="26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1c8e193238_0_0"/>
          <p:cNvSpPr txBox="1"/>
          <p:nvPr/>
        </p:nvSpPr>
        <p:spPr>
          <a:xfrm>
            <a:off x="8794975" y="2238887"/>
            <a:ext cx="1931100" cy="219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US" sz="26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b="1" lang="en-US" sz="26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ack of fractional ownership</a:t>
            </a:r>
            <a:endParaRPr sz="26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1c8e193238_0_0"/>
          <p:cNvSpPr txBox="1"/>
          <p:nvPr/>
        </p:nvSpPr>
        <p:spPr>
          <a:xfrm>
            <a:off x="1774375" y="1943100"/>
            <a:ext cx="1931100" cy="44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383993a027_1_0"/>
          <p:cNvSpPr txBox="1"/>
          <p:nvPr/>
        </p:nvSpPr>
        <p:spPr>
          <a:xfrm>
            <a:off x="732050" y="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4300">
                <a:latin typeface="Calibri"/>
                <a:ea typeface="Calibri"/>
                <a:cs typeface="Calibri"/>
                <a:sym typeface="Calibri"/>
              </a:rPr>
              <a:t>Solution</a:t>
            </a:r>
            <a:endParaRPr b="1" i="0" sz="4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383993a027_1_0"/>
          <p:cNvSpPr txBox="1"/>
          <p:nvPr/>
        </p:nvSpPr>
        <p:spPr>
          <a:xfrm>
            <a:off x="2123425" y="1330975"/>
            <a:ext cx="7345800" cy="13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1"/>
                </a:solidFill>
                <a:latin typeface="Alfa Slab One"/>
                <a:ea typeface="Alfa Slab One"/>
                <a:cs typeface="Alfa Slab One"/>
                <a:sym typeface="Alfa Slab One"/>
              </a:rPr>
              <a:t>RWA Tokenization Platform     Powered by Blockchain</a:t>
            </a:r>
            <a:endParaRPr sz="3600">
              <a:solidFill>
                <a:schemeClr val="dk1"/>
              </a:solidFill>
              <a:latin typeface="Alfa Slab One"/>
              <a:ea typeface="Alfa Slab One"/>
              <a:cs typeface="Alfa Slab One"/>
              <a:sym typeface="Alfa Slab One"/>
            </a:endParaRPr>
          </a:p>
        </p:txBody>
      </p:sp>
      <p:pic>
        <p:nvPicPr>
          <p:cNvPr id="207" name="Google Shape;207;g3383993a027_1_0" title="pic1-Photoro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3823" y="2827675"/>
            <a:ext cx="6435075" cy="321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4055684b17_0_7"/>
          <p:cNvSpPr txBox="1"/>
          <p:nvPr/>
        </p:nvSpPr>
        <p:spPr>
          <a:xfrm>
            <a:off x="732050" y="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4300">
                <a:latin typeface="Calibri"/>
                <a:ea typeface="Calibri"/>
                <a:cs typeface="Calibri"/>
                <a:sym typeface="Calibri"/>
              </a:rPr>
              <a:t>Solution.How??????</a:t>
            </a:r>
            <a:endParaRPr b="1" i="0" sz="4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g34055684b17_0_7"/>
          <p:cNvGrpSpPr/>
          <p:nvPr/>
        </p:nvGrpSpPr>
        <p:grpSpPr>
          <a:xfrm>
            <a:off x="655982" y="1683977"/>
            <a:ext cx="5683436" cy="3782119"/>
            <a:chOff x="1905700" y="1511329"/>
            <a:chExt cx="6378000" cy="3893071"/>
          </a:xfrm>
        </p:grpSpPr>
        <p:sp>
          <p:nvSpPr>
            <p:cNvPr id="215" name="Google Shape;215;g34055684b17_0_7"/>
            <p:cNvSpPr/>
            <p:nvPr/>
          </p:nvSpPr>
          <p:spPr>
            <a:xfrm>
              <a:off x="1905700" y="1511329"/>
              <a:ext cx="6378000" cy="8553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rgbClr val="1C4794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-35560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Calibri"/>
                <a:buAutoNum type="arabicPeriod"/>
              </a:pPr>
              <a:r>
                <a:rPr b="1"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Blockchain-powered asset tokenization</a:t>
              </a:r>
              <a:endParaRPr b="1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g34055684b17_0_7"/>
            <p:cNvSpPr/>
            <p:nvPr/>
          </p:nvSpPr>
          <p:spPr>
            <a:xfrm>
              <a:off x="1905700" y="2523900"/>
              <a:ext cx="6378000" cy="8553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rgbClr val="1C4794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2.    Fractional ownership &amp; seamless transfers</a:t>
              </a:r>
              <a:endParaRPr b="1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g34055684b17_0_7"/>
            <p:cNvSpPr/>
            <p:nvPr/>
          </p:nvSpPr>
          <p:spPr>
            <a:xfrm>
              <a:off x="1905700" y="3536500"/>
              <a:ext cx="6378000" cy="8553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rgbClr val="1C4794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3.    Secure leasing &amp; selling via smart contracts</a:t>
              </a:r>
              <a:endParaRPr b="1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4055684b17_0_7"/>
            <p:cNvSpPr/>
            <p:nvPr/>
          </p:nvSpPr>
          <p:spPr>
            <a:xfrm>
              <a:off x="1905700" y="4549100"/>
              <a:ext cx="6378000" cy="855300"/>
            </a:xfrm>
            <a:prstGeom prst="roundRect">
              <a:avLst>
                <a:gd fmla="val 16667" name="adj"/>
              </a:avLst>
            </a:prstGeom>
            <a:solidFill>
              <a:schemeClr val="lt1"/>
            </a:solidFill>
            <a:ln cap="flat" cmpd="sng" w="38100">
              <a:solidFill>
                <a:srgbClr val="1C4794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4.    Tamperproof &amp; Transparent Ledger</a:t>
              </a:r>
              <a:endParaRPr b="1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19" name="Google Shape;219;g34055684b17_0_7"/>
          <p:cNvPicPr preferRelativeResize="0"/>
          <p:nvPr/>
        </p:nvPicPr>
        <p:blipFill rotWithShape="1">
          <a:blip r:embed="rId3">
            <a:alphaModFix/>
          </a:blip>
          <a:srcRect b="7510" l="0" r="0" t="0"/>
          <a:stretch/>
        </p:blipFill>
        <p:spPr>
          <a:xfrm>
            <a:off x="6380475" y="1737350"/>
            <a:ext cx="5770875" cy="328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 txBox="1"/>
          <p:nvPr>
            <p:ph type="title"/>
          </p:nvPr>
        </p:nvSpPr>
        <p:spPr>
          <a:xfrm>
            <a:off x="765925" y="116250"/>
            <a:ext cx="71172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/>
              <a:t>HOW IT WORKS?</a:t>
            </a:r>
            <a:endParaRPr/>
          </a:p>
        </p:txBody>
      </p:sp>
      <p:grpSp>
        <p:nvGrpSpPr>
          <p:cNvPr id="226" name="Google Shape;226;p6"/>
          <p:cNvGrpSpPr/>
          <p:nvPr/>
        </p:nvGrpSpPr>
        <p:grpSpPr>
          <a:xfrm>
            <a:off x="734674" y="2235165"/>
            <a:ext cx="10722666" cy="1645850"/>
            <a:chOff x="718811" y="1331301"/>
            <a:chExt cx="10432639" cy="938608"/>
          </a:xfrm>
        </p:grpSpPr>
        <p:sp>
          <p:nvSpPr>
            <p:cNvPr id="227" name="Google Shape;227;p6"/>
            <p:cNvSpPr/>
            <p:nvPr/>
          </p:nvSpPr>
          <p:spPr>
            <a:xfrm rot="-2083">
              <a:off x="2356663" y="1945152"/>
              <a:ext cx="495000" cy="1650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8" name="Google Shape;228;p6"/>
            <p:cNvSpPr/>
            <p:nvPr/>
          </p:nvSpPr>
          <p:spPr>
            <a:xfrm rot="5773">
              <a:off x="3043203" y="1718224"/>
              <a:ext cx="357301" cy="1650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9" name="Google Shape;229;p6"/>
            <p:cNvSpPr/>
            <p:nvPr/>
          </p:nvSpPr>
          <p:spPr>
            <a:xfrm>
              <a:off x="718811" y="1331301"/>
              <a:ext cx="2320500" cy="9384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-US" sz="1800">
                  <a:solidFill>
                    <a:srgbClr val="1C4794"/>
                  </a:solidFill>
                  <a:latin typeface="Calibri"/>
                  <a:ea typeface="Calibri"/>
                  <a:cs typeface="Calibri"/>
                  <a:sym typeface="Calibri"/>
                </a:rPr>
                <a:t>Create an asset category (e.g., real estate, machinery, cruise)</a:t>
              </a:r>
              <a:endParaRPr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p6"/>
            <p:cNvSpPr/>
            <p:nvPr/>
          </p:nvSpPr>
          <p:spPr>
            <a:xfrm rot="-2083">
              <a:off x="5042263" y="1945277"/>
              <a:ext cx="495000" cy="1650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" name="Google Shape;231;p6"/>
            <p:cNvSpPr/>
            <p:nvPr/>
          </p:nvSpPr>
          <p:spPr>
            <a:xfrm rot="5773">
              <a:off x="5728803" y="1718349"/>
              <a:ext cx="357301" cy="1650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232;p6"/>
            <p:cNvSpPr/>
            <p:nvPr/>
          </p:nvSpPr>
          <p:spPr>
            <a:xfrm>
              <a:off x="3400508" y="1331809"/>
              <a:ext cx="2320500" cy="9381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800">
                  <a:solidFill>
                    <a:srgbClr val="1C4794"/>
                  </a:solidFill>
                  <a:latin typeface="Calibri"/>
                  <a:ea typeface="Calibri"/>
                  <a:cs typeface="Calibri"/>
                  <a:sym typeface="Calibri"/>
                </a:rPr>
                <a:t>Mint &amp; Issue tokens representing ownership</a:t>
              </a:r>
              <a:endParaRPr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6"/>
            <p:cNvSpPr/>
            <p:nvPr/>
          </p:nvSpPr>
          <p:spPr>
            <a:xfrm rot="5773">
              <a:off x="8473653" y="1718099"/>
              <a:ext cx="357301" cy="1650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" name="Google Shape;234;p6"/>
            <p:cNvSpPr/>
            <p:nvPr/>
          </p:nvSpPr>
          <p:spPr>
            <a:xfrm>
              <a:off x="8830950" y="1331800"/>
              <a:ext cx="2320500" cy="9381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800">
                  <a:solidFill>
                    <a:srgbClr val="1C4794"/>
                  </a:solidFill>
                  <a:latin typeface="Calibri"/>
                  <a:ea typeface="Calibri"/>
                  <a:cs typeface="Calibri"/>
                  <a:sym typeface="Calibri"/>
                </a:rPr>
                <a:t>Earn &amp; Manage revenue streams with automated payments</a:t>
              </a:r>
              <a:endParaRPr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" name="Google Shape;235;p6"/>
            <p:cNvSpPr/>
            <p:nvPr/>
          </p:nvSpPr>
          <p:spPr>
            <a:xfrm>
              <a:off x="6153150" y="1331800"/>
              <a:ext cx="2320500" cy="9381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800">
                  <a:solidFill>
                    <a:srgbClr val="1C4794"/>
                  </a:solidFill>
                  <a:latin typeface="Calibri"/>
                  <a:ea typeface="Calibri"/>
                  <a:cs typeface="Calibri"/>
                  <a:sym typeface="Calibri"/>
                </a:rPr>
                <a:t>T</a:t>
              </a:r>
              <a:r>
                <a:rPr b="1" lang="en-US" sz="1800">
                  <a:solidFill>
                    <a:srgbClr val="1C4794"/>
                  </a:solidFill>
                  <a:latin typeface="Calibri"/>
                  <a:ea typeface="Calibri"/>
                  <a:cs typeface="Calibri"/>
                  <a:sym typeface="Calibri"/>
                </a:rPr>
                <a:t>rade &amp; Lease assets through a decentralized marketplace</a:t>
              </a:r>
              <a:endParaRPr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383993a027_1_40"/>
          <p:cNvSpPr txBox="1"/>
          <p:nvPr>
            <p:ph type="title"/>
          </p:nvPr>
        </p:nvSpPr>
        <p:spPr>
          <a:xfrm>
            <a:off x="765925" y="116250"/>
            <a:ext cx="72618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lang="en-US"/>
              <a:t>Key Features</a:t>
            </a:r>
            <a:endParaRPr/>
          </a:p>
        </p:txBody>
      </p:sp>
      <p:sp>
        <p:nvSpPr>
          <p:cNvPr id="242" name="Google Shape;242;g3383993a027_1_40"/>
          <p:cNvSpPr/>
          <p:nvPr/>
        </p:nvSpPr>
        <p:spPr>
          <a:xfrm>
            <a:off x="9295275" y="1823792"/>
            <a:ext cx="2736000" cy="12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3" name="Google Shape;243;g3383993a027_1_40"/>
          <p:cNvGrpSpPr/>
          <p:nvPr/>
        </p:nvGrpSpPr>
        <p:grpSpPr>
          <a:xfrm>
            <a:off x="695224" y="1127683"/>
            <a:ext cx="10531792" cy="4662112"/>
            <a:chOff x="871925" y="1458400"/>
            <a:chExt cx="6881725" cy="4654200"/>
          </a:xfrm>
        </p:grpSpPr>
        <p:sp>
          <p:nvSpPr>
            <p:cNvPr id="244" name="Google Shape;244;g3383993a027_1_40"/>
            <p:cNvSpPr/>
            <p:nvPr/>
          </p:nvSpPr>
          <p:spPr>
            <a:xfrm>
              <a:off x="871925" y="1689550"/>
              <a:ext cx="683400" cy="2829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g3383993a027_1_40"/>
            <p:cNvSpPr/>
            <p:nvPr/>
          </p:nvSpPr>
          <p:spPr>
            <a:xfrm>
              <a:off x="1755750" y="1458400"/>
              <a:ext cx="5997900" cy="745200"/>
            </a:xfrm>
            <a:prstGeom prst="frame">
              <a:avLst>
                <a:gd fmla="val 12500" name="adj1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g3383993a027_1_40"/>
            <p:cNvSpPr txBox="1"/>
            <p:nvPr/>
          </p:nvSpPr>
          <p:spPr>
            <a:xfrm>
              <a:off x="1794600" y="1654000"/>
              <a:ext cx="59202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ERC-1155 Multi-Token Standard: Efficient handling of multiple assets</a:t>
              </a:r>
              <a:endParaRPr sz="18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g3383993a027_1_40"/>
            <p:cNvSpPr/>
            <p:nvPr/>
          </p:nvSpPr>
          <p:spPr>
            <a:xfrm>
              <a:off x="871925" y="2666800"/>
              <a:ext cx="683400" cy="2829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g3383993a027_1_40"/>
            <p:cNvSpPr/>
            <p:nvPr/>
          </p:nvSpPr>
          <p:spPr>
            <a:xfrm>
              <a:off x="1755750" y="2435650"/>
              <a:ext cx="5997900" cy="745200"/>
            </a:xfrm>
            <a:prstGeom prst="frame">
              <a:avLst>
                <a:gd fmla="val 12500" name="adj1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9" name="Google Shape;249;g3383993a027_1_40"/>
            <p:cNvSpPr txBox="1"/>
            <p:nvPr/>
          </p:nvSpPr>
          <p:spPr>
            <a:xfrm>
              <a:off x="1794600" y="2631250"/>
              <a:ext cx="59202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Access Control &amp; Permissions: Roles for admins, sellers, buyers</a:t>
              </a:r>
              <a:endParaRPr sz="18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g3383993a027_1_40"/>
            <p:cNvSpPr/>
            <p:nvPr/>
          </p:nvSpPr>
          <p:spPr>
            <a:xfrm>
              <a:off x="871925" y="3644050"/>
              <a:ext cx="683400" cy="2829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g3383993a027_1_40"/>
            <p:cNvSpPr/>
            <p:nvPr/>
          </p:nvSpPr>
          <p:spPr>
            <a:xfrm>
              <a:off x="1755750" y="3412900"/>
              <a:ext cx="5997900" cy="745200"/>
            </a:xfrm>
            <a:prstGeom prst="frame">
              <a:avLst>
                <a:gd fmla="val 12500" name="adj1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g3383993a027_1_40"/>
            <p:cNvSpPr txBox="1"/>
            <p:nvPr/>
          </p:nvSpPr>
          <p:spPr>
            <a:xfrm>
              <a:off x="1794600" y="3608500"/>
              <a:ext cx="59202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Secure Payments/Leasing: Transparent revenue sharing &amp; fee collection</a:t>
              </a:r>
              <a:endParaRPr sz="18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g3383993a027_1_40"/>
            <p:cNvSpPr/>
            <p:nvPr/>
          </p:nvSpPr>
          <p:spPr>
            <a:xfrm>
              <a:off x="871925" y="4621300"/>
              <a:ext cx="683400" cy="2829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g3383993a027_1_40"/>
            <p:cNvSpPr/>
            <p:nvPr/>
          </p:nvSpPr>
          <p:spPr>
            <a:xfrm>
              <a:off x="1755750" y="4390150"/>
              <a:ext cx="5997900" cy="745200"/>
            </a:xfrm>
            <a:prstGeom prst="frame">
              <a:avLst>
                <a:gd fmla="val 12500" name="adj1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5" name="Google Shape;255;g3383993a027_1_40"/>
            <p:cNvSpPr txBox="1"/>
            <p:nvPr/>
          </p:nvSpPr>
          <p:spPr>
            <a:xfrm>
              <a:off x="1794600" y="4585750"/>
              <a:ext cx="59202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Automated Platform Fees: Ensuring sustainability &amp; scalability</a:t>
              </a:r>
              <a:endParaRPr sz="18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g3383993a027_1_40"/>
            <p:cNvSpPr/>
            <p:nvPr/>
          </p:nvSpPr>
          <p:spPr>
            <a:xfrm>
              <a:off x="871925" y="5598550"/>
              <a:ext cx="683400" cy="2829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g3383993a027_1_40"/>
            <p:cNvSpPr/>
            <p:nvPr/>
          </p:nvSpPr>
          <p:spPr>
            <a:xfrm>
              <a:off x="1755750" y="5367400"/>
              <a:ext cx="5997900" cy="745200"/>
            </a:xfrm>
            <a:prstGeom prst="frame">
              <a:avLst>
                <a:gd fmla="val 12500" name="adj1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8" name="Google Shape;258;g3383993a027_1_40"/>
            <p:cNvSpPr txBox="1"/>
            <p:nvPr/>
          </p:nvSpPr>
          <p:spPr>
            <a:xfrm>
              <a:off x="1794600" y="5563000"/>
              <a:ext cx="5920200" cy="41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Fractional Ownership: Reducing barriers to entry for investors</a:t>
              </a:r>
              <a:endParaRPr sz="18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383993a027_1_80"/>
          <p:cNvSpPr txBox="1"/>
          <p:nvPr/>
        </p:nvSpPr>
        <p:spPr>
          <a:xfrm>
            <a:off x="732050" y="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4300">
                <a:latin typeface="Calibri"/>
                <a:ea typeface="Calibri"/>
                <a:cs typeface="Calibri"/>
                <a:sym typeface="Calibri"/>
              </a:rPr>
              <a:t>Market Opportunities </a:t>
            </a:r>
            <a:endParaRPr b="1" i="0" sz="4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g3383993a027_1_80"/>
          <p:cNvSpPr/>
          <p:nvPr/>
        </p:nvSpPr>
        <p:spPr>
          <a:xfrm>
            <a:off x="9191125" y="945300"/>
            <a:ext cx="2556900" cy="4967400"/>
          </a:xfrm>
          <a:prstGeom prst="flowChartAlternateProcess">
            <a:avLst/>
          </a:prstGeom>
          <a:solidFill>
            <a:schemeClr val="lt1"/>
          </a:solidFill>
          <a:ln cap="flat" cmpd="sng" w="9525">
            <a:solidFill>
              <a:srgbClr val="1C47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➔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Global RWA tokenization market projected to reach </a:t>
            </a:r>
            <a:r>
              <a:rPr b="1" lang="en-US" sz="1300">
                <a:solidFill>
                  <a:srgbClr val="F96E20"/>
                </a:solidFill>
                <a:latin typeface="Calibri"/>
                <a:ea typeface="Calibri"/>
                <a:cs typeface="Calibri"/>
                <a:sym typeface="Calibri"/>
              </a:rPr>
              <a:t>$16 trillion by 2030 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300" u="sng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Source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➔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 estate, art, machineries, hospital equipment, luxury goods are prime for disruption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➔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Increasing demand for alternative investments and fractional ownership (</a:t>
            </a:r>
            <a:r>
              <a:rPr lang="en-US" sz="1300" u="sng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Source</a:t>
            </a: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➔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Growing acceptance of blockchain technology in traditional finance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➔"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Regulatory advancements supporting digital asset adoption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g3383993a027_1_8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869100"/>
            <a:ext cx="8990242" cy="5398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383993a027_1_98"/>
          <p:cNvSpPr txBox="1"/>
          <p:nvPr/>
        </p:nvSpPr>
        <p:spPr>
          <a:xfrm>
            <a:off x="614225" y="11625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4300">
                <a:latin typeface="Calibri"/>
                <a:ea typeface="Calibri"/>
                <a:cs typeface="Calibri"/>
                <a:sym typeface="Calibri"/>
              </a:rPr>
              <a:t>Business Model</a:t>
            </a:r>
            <a:endParaRPr b="1" i="0" sz="4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g3383993a027_1_98"/>
          <p:cNvSpPr/>
          <p:nvPr/>
        </p:nvSpPr>
        <p:spPr>
          <a:xfrm>
            <a:off x="813050" y="1383975"/>
            <a:ext cx="5903700" cy="1956000"/>
          </a:xfrm>
          <a:prstGeom prst="flowChartAlternateProcess">
            <a:avLst/>
          </a:prstGeom>
          <a:solidFill>
            <a:schemeClr val="lt1"/>
          </a:solidFill>
          <a:ln cap="flat" cmpd="sng" w="9525">
            <a:solidFill>
              <a:srgbClr val="1C47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100">
                <a:solidFill>
                  <a:srgbClr val="F96E20"/>
                </a:solidFill>
                <a:latin typeface="Calibri"/>
                <a:ea typeface="Calibri"/>
                <a:cs typeface="Calibri"/>
                <a:sym typeface="Calibri"/>
              </a:rPr>
              <a:t>Primary Revenue Streams:</a:t>
            </a:r>
            <a:endParaRPr b="1" sz="2100">
              <a:solidFill>
                <a:srgbClr val="F96E2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C4794"/>
              </a:buClr>
              <a:buSzPts val="2100"/>
              <a:buFont typeface="Calibri"/>
              <a:buChar char="➢"/>
            </a:pPr>
            <a:r>
              <a:rPr b="1" lang="en-US"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Transaction fees on asset sales &amp; leases (1%)</a:t>
            </a:r>
            <a:endParaRPr b="1" sz="21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4794"/>
              </a:buClr>
              <a:buSzPts val="2100"/>
              <a:buFont typeface="Calibri"/>
              <a:buChar char="➢"/>
            </a:pPr>
            <a:r>
              <a:rPr b="1" lang="en-US"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Premium access for institutional investors</a:t>
            </a:r>
            <a:endParaRPr b="1" sz="21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4794"/>
              </a:buClr>
              <a:buSzPts val="2100"/>
              <a:buFont typeface="Calibri"/>
              <a:buChar char="➢"/>
            </a:pPr>
            <a:r>
              <a:rPr b="1" lang="en-US" sz="21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API integration for enterprises</a:t>
            </a:r>
            <a:endParaRPr sz="22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g3383993a027_1_98"/>
          <p:cNvSpPr/>
          <p:nvPr/>
        </p:nvSpPr>
        <p:spPr>
          <a:xfrm>
            <a:off x="813050" y="3669200"/>
            <a:ext cx="5903700" cy="1956000"/>
          </a:xfrm>
          <a:prstGeom prst="flowChartAlternateProcess">
            <a:avLst/>
          </a:prstGeom>
          <a:solidFill>
            <a:schemeClr val="lt1"/>
          </a:solidFill>
          <a:ln cap="flat" cmpd="sng" w="9525">
            <a:solidFill>
              <a:srgbClr val="1C47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F96E20"/>
                </a:solidFill>
                <a:latin typeface="Calibri"/>
                <a:ea typeface="Calibri"/>
                <a:cs typeface="Calibri"/>
                <a:sym typeface="Calibri"/>
              </a:rPr>
              <a:t>Scalability:</a:t>
            </a:r>
            <a:endParaRPr b="1" sz="2000">
              <a:solidFill>
                <a:srgbClr val="F96E2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1C4794"/>
              </a:buClr>
              <a:buSzPts val="2000"/>
              <a:buFont typeface="Calibri"/>
              <a:buChar char="➢"/>
            </a:pP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Multi-chain expansion (Ethereum, Polygon, BSC)</a:t>
            </a:r>
            <a:endParaRPr b="1" sz="20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4794"/>
              </a:buClr>
              <a:buSzPts val="2000"/>
              <a:buFont typeface="Calibri"/>
              <a:buChar char="➢"/>
            </a:pP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Institutional partnerships for large-scale adoption</a:t>
            </a:r>
            <a:endParaRPr b="1" sz="21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g3383993a027_1_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7150" y="1431900"/>
            <a:ext cx="5126675" cy="419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383993a027_1_132"/>
          <p:cNvSpPr txBox="1"/>
          <p:nvPr/>
        </p:nvSpPr>
        <p:spPr>
          <a:xfrm>
            <a:off x="614225" y="116250"/>
            <a:ext cx="111927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lang="en-US" sz="4300">
                <a:latin typeface="Calibri"/>
                <a:ea typeface="Calibri"/>
                <a:cs typeface="Calibri"/>
                <a:sym typeface="Calibri"/>
              </a:rPr>
              <a:t>Competitive Landscape</a:t>
            </a:r>
            <a:endParaRPr b="1" i="0" sz="4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2" name="Google Shape;282;g3383993a027_1_132"/>
          <p:cNvGraphicFramePr/>
          <p:nvPr/>
        </p:nvGraphicFramePr>
        <p:xfrm>
          <a:off x="952500" y="11819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{0D936784-D278-4FC6-A942-3862531B065A}</a:tableStyleId>
              </a:tblPr>
              <a:tblGrid>
                <a:gridCol w="2957675"/>
                <a:gridCol w="3900325"/>
                <a:gridCol w="3429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accent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Company Name</a:t>
                      </a:r>
                      <a:endParaRPr sz="1600">
                        <a:solidFill>
                          <a:schemeClr val="accent2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accent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Features</a:t>
                      </a:r>
                      <a:endParaRPr sz="1600">
                        <a:solidFill>
                          <a:schemeClr val="accent2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accent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Notable Works</a:t>
                      </a:r>
                      <a:endParaRPr sz="1600">
                        <a:solidFill>
                          <a:schemeClr val="accent2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Brickken(https://www.brickken.com/en)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Specializes in tokenizing real estate and other physical assets. User-friendly platform.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Tokenized over $250M in assets; expanding globally. (</a:t>
                      </a:r>
                      <a:r>
                        <a:rPr b="1" lang="en-US" sz="16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Source</a:t>
                      </a: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Blockcsquare(https://blocksquare.io/)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​Blocksquare is a leading provider of real estate tokenization infrastructure, offering a comprehensive suite of tools designed to digitize property assets efficiently.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>
                          <a:solidFill>
                            <a:srgbClr val="333333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Blocksquare partnered with FractioneX o explore new ways of making homeownership more accessible for first-time buyers. </a:t>
                      </a: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b="1" lang="en-US" sz="16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Source)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Janus Henderson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Tokenizing short-term U.S. Treasury bills and integrating blockchain into asset management.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Managing $11M Anemoy Liquid Treasury Fund. (</a:t>
                      </a:r>
                      <a:r>
                        <a:rPr b="1" lang="en-US" sz="16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Source</a:t>
                      </a: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Lofty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Fractional ownership in real estate via tokenization.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Tokenized over 181 properties for fractional investors. (</a:t>
                      </a:r>
                      <a:r>
                        <a:rPr b="1" lang="en-US" sz="1600" u="sng">
                          <a:solidFill>
                            <a:srgbClr val="1155C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>
                            <a:extLst>
                              <a:ext uri="{A12FA001-AC4F-418D-AE19-62706E023703}">
                                <ahyp:hlinkClr val="tx"/>
                              </a:ext>
                            </a:extLst>
                          </a:hlinkClick>
                        </a:rPr>
                        <a:t>Source</a:t>
                      </a:r>
                      <a:r>
                        <a:rPr b="1" lang="en-US" sz="16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C479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83" name="Google Shape;283;g3383993a027_1_132"/>
          <p:cNvSpPr txBox="1"/>
          <p:nvPr/>
        </p:nvSpPr>
        <p:spPr>
          <a:xfrm>
            <a:off x="952500" y="5208275"/>
            <a:ext cx="102870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9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6"/>
          <p:cNvSpPr txBox="1"/>
          <p:nvPr/>
        </p:nvSpPr>
        <p:spPr>
          <a:xfrm>
            <a:off x="680544" y="-85568"/>
            <a:ext cx="105156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Economics</a:t>
            </a:r>
            <a:endParaRPr b="1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6"/>
          <p:cNvSpPr/>
          <p:nvPr/>
        </p:nvSpPr>
        <p:spPr>
          <a:xfrm>
            <a:off x="743975" y="1072325"/>
            <a:ext cx="4737000" cy="5126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38100">
            <a:solidFill>
              <a:srgbClr val="1C479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6"/>
          <p:cNvSpPr txBox="1"/>
          <p:nvPr/>
        </p:nvSpPr>
        <p:spPr>
          <a:xfrm>
            <a:off x="1029325" y="1286475"/>
            <a:ext cx="4126200" cy="452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25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Utility: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936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3587"/>
              <a:buFont typeface="Calibri"/>
              <a:buChar char="●"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Governance: Token holders can vote on key platform decisions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93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3587"/>
              <a:buFont typeface="Calibri"/>
              <a:buChar char="●"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Staking: Earn rewards for staking tokens to secure the platform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93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3587"/>
              <a:buFont typeface="Calibri"/>
              <a:buChar char="●"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Platform Fees: Reduced fees for payments made using native tokens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93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3587"/>
              <a:buFont typeface="Calibri"/>
              <a:buChar char="●"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Incentives: Rewards for early adopters, liquidity providers, and active users.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Deflationary Mechanics: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936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3587"/>
              <a:buFont typeface="Calibri"/>
              <a:buChar char="●"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Buyback &amp; Burn: A portion of platform fees is used to buy back and burn tokens</a:t>
            </a:r>
            <a:endParaRPr b="1" sz="60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936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3587"/>
              <a:buFont typeface="Calibri"/>
              <a:buChar char="●"/>
            </a:pPr>
            <a:r>
              <a:rPr b="1" lang="en-US" sz="605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Staking Penalties: Penalties for early unstaking.</a:t>
            </a:r>
            <a:endParaRPr b="1" sz="555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26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6"/>
          <p:cNvSpPr/>
          <p:nvPr/>
        </p:nvSpPr>
        <p:spPr>
          <a:xfrm>
            <a:off x="6399275" y="1072325"/>
            <a:ext cx="4653600" cy="2156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38100">
            <a:solidFill>
              <a:srgbClr val="1C479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6"/>
          <p:cNvSpPr txBox="1"/>
          <p:nvPr/>
        </p:nvSpPr>
        <p:spPr>
          <a:xfrm>
            <a:off x="6634125" y="1461175"/>
            <a:ext cx="4737000" cy="114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 Distribution: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Seed Round: 15%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Public Sale: 20%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Team &amp; Advisors: 15% (vesting over 3 years)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Ecosystem &amp; Rewards: 30%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Liquidity &amp; Reserves: 20%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3" name="Google Shape;29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20425" y="3340468"/>
            <a:ext cx="4211325" cy="30504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g3383993a027_1_140"/>
          <p:cNvCxnSpPr/>
          <p:nvPr/>
        </p:nvCxnSpPr>
        <p:spPr>
          <a:xfrm flipH="1">
            <a:off x="824938" y="1280452"/>
            <a:ext cx="32400" cy="4599600"/>
          </a:xfrm>
          <a:prstGeom prst="straightConnector1">
            <a:avLst/>
          </a:prstGeom>
          <a:noFill/>
          <a:ln cap="flat" cmpd="sng" w="38100">
            <a:solidFill>
              <a:srgbClr val="26479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99" name="Google Shape;299;g3383993a027_1_140"/>
          <p:cNvSpPr txBox="1"/>
          <p:nvPr/>
        </p:nvSpPr>
        <p:spPr>
          <a:xfrm>
            <a:off x="680544" y="-85568"/>
            <a:ext cx="105156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Go-To Market Strategy</a:t>
            </a:r>
            <a:endParaRPr b="1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g3383993a027_1_140"/>
          <p:cNvSpPr/>
          <p:nvPr/>
        </p:nvSpPr>
        <p:spPr>
          <a:xfrm>
            <a:off x="680550" y="1617075"/>
            <a:ext cx="1616100" cy="786900"/>
          </a:xfrm>
          <a:prstGeom prst="roundRect">
            <a:avLst>
              <a:gd fmla="val 16667" name="adj"/>
            </a:avLst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PHASE 1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g3383993a027_1_140"/>
          <p:cNvSpPr txBox="1"/>
          <p:nvPr/>
        </p:nvSpPr>
        <p:spPr>
          <a:xfrm>
            <a:off x="2991200" y="3611650"/>
            <a:ext cx="2864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g3383993a027_1_140"/>
          <p:cNvSpPr/>
          <p:nvPr/>
        </p:nvSpPr>
        <p:spPr>
          <a:xfrm>
            <a:off x="680550" y="3159925"/>
            <a:ext cx="1616100" cy="786900"/>
          </a:xfrm>
          <a:prstGeom prst="roundRect">
            <a:avLst>
              <a:gd fmla="val 16667" name="adj"/>
            </a:avLst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PHASE 2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g3383993a027_1_140"/>
          <p:cNvSpPr/>
          <p:nvPr/>
        </p:nvSpPr>
        <p:spPr>
          <a:xfrm>
            <a:off x="680550" y="4702775"/>
            <a:ext cx="1616100" cy="786900"/>
          </a:xfrm>
          <a:prstGeom prst="roundRect">
            <a:avLst>
              <a:gd fmla="val 16667" name="adj"/>
            </a:avLst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PHASE 3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g3383993a027_1_140"/>
          <p:cNvSpPr/>
          <p:nvPr/>
        </p:nvSpPr>
        <p:spPr>
          <a:xfrm>
            <a:off x="2704050" y="1660875"/>
            <a:ext cx="6475200" cy="754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Launch Beta with Real Estate/Art/Machinery Tokenization</a:t>
            </a:r>
            <a:endParaRPr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g3383993a027_1_140"/>
          <p:cNvSpPr/>
          <p:nvPr/>
        </p:nvSpPr>
        <p:spPr>
          <a:xfrm>
            <a:off x="2704050" y="4691675"/>
            <a:ext cx="6475200" cy="754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C4794"/>
                </a:solidFill>
              </a:rPr>
              <a:t> </a:t>
            </a: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Expand to other sectors &amp; Ensure Regulatory Compliance</a:t>
            </a:r>
            <a:endParaRPr b="1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g3383993a027_1_140"/>
          <p:cNvSpPr/>
          <p:nvPr/>
        </p:nvSpPr>
        <p:spPr>
          <a:xfrm>
            <a:off x="2704050" y="3109450"/>
            <a:ext cx="6475200" cy="754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Secure Strategic Partnerships (Banks, Real Estate Firms,Art Galleries)</a:t>
            </a:r>
            <a:endParaRPr sz="20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g3383993a027_1_140"/>
          <p:cNvSpPr/>
          <p:nvPr/>
        </p:nvSpPr>
        <p:spPr>
          <a:xfrm>
            <a:off x="2704050" y="2505275"/>
            <a:ext cx="6475200" cy="265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Website→Social Media →Private Sale→Public Sale →IDO</a:t>
            </a:r>
            <a:endParaRPr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g3383993a027_1_140"/>
          <p:cNvSpPr/>
          <p:nvPr/>
        </p:nvSpPr>
        <p:spPr>
          <a:xfrm>
            <a:off x="2700750" y="3946825"/>
            <a:ext cx="6475200" cy="265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MeetsUps/Events→Protocol Partnerships→Service Partnership</a:t>
            </a:r>
            <a:endParaRPr sz="1200"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g3383993a027_1_140"/>
          <p:cNvSpPr/>
          <p:nvPr/>
        </p:nvSpPr>
        <p:spPr>
          <a:xfrm>
            <a:off x="2700750" y="5547475"/>
            <a:ext cx="6475200" cy="265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ealthcare</a:t>
            </a:r>
            <a:r>
              <a:rPr b="1" lang="en-US" sz="2000">
                <a:solidFill>
                  <a:srgbClr val="1C4794"/>
                </a:solidFill>
                <a:latin typeface="Calibri"/>
                <a:ea typeface="Calibri"/>
                <a:cs typeface="Calibri"/>
                <a:sym typeface="Calibri"/>
              </a:rPr>
              <a:t> Equipments, Bonds, Cruise etc.</a:t>
            </a:r>
            <a:endParaRPr>
              <a:solidFill>
                <a:srgbClr val="1C47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383993a027_1_182"/>
          <p:cNvSpPr txBox="1"/>
          <p:nvPr/>
        </p:nvSpPr>
        <p:spPr>
          <a:xfrm>
            <a:off x="680544" y="-85568"/>
            <a:ext cx="10515600" cy="855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</a:pPr>
            <a:r>
              <a:rPr b="1" lang="en-US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Challenges</a:t>
            </a:r>
            <a:endParaRPr b="1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383993a027_1_182"/>
          <p:cNvSpPr txBox="1"/>
          <p:nvPr/>
        </p:nvSpPr>
        <p:spPr>
          <a:xfrm>
            <a:off x="754626" y="1052550"/>
            <a:ext cx="6834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g3383993a027_1_182"/>
          <p:cNvSpPr txBox="1"/>
          <p:nvPr/>
        </p:nvSpPr>
        <p:spPr>
          <a:xfrm>
            <a:off x="754625" y="1431575"/>
            <a:ext cx="8957100" cy="38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⚖️ </a:t>
            </a:r>
            <a:r>
              <a:rPr b="1" lang="en-US" sz="1600">
                <a:solidFill>
                  <a:schemeClr val="dk1"/>
                </a:solidFill>
              </a:rPr>
              <a:t>Regulatory Uncertainty</a:t>
            </a:r>
            <a:r>
              <a:rPr lang="en-US" sz="1600">
                <a:solidFill>
                  <a:schemeClr val="dk1"/>
                </a:solidFill>
              </a:rPr>
              <a:t> – No clear legal framework for RWA tokenization or crypto assets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      </a:t>
            </a:r>
            <a:r>
              <a:rPr b="1" lang="en-US" sz="1600">
                <a:solidFill>
                  <a:schemeClr val="dk1"/>
                </a:solidFill>
              </a:rPr>
              <a:t>and Taxes</a:t>
            </a:r>
            <a:r>
              <a:rPr lang="en-US" sz="1600">
                <a:solidFill>
                  <a:schemeClr val="dk1"/>
                </a:solidFill>
              </a:rPr>
              <a:t>                          in India. Need to set up entities in crypto </a:t>
            </a:r>
            <a:r>
              <a:rPr lang="en-US" sz="1600">
                <a:solidFill>
                  <a:schemeClr val="dk1"/>
                </a:solidFill>
              </a:rPr>
              <a:t>friendly</a:t>
            </a:r>
            <a:r>
              <a:rPr lang="en-US" sz="1600">
                <a:solidFill>
                  <a:schemeClr val="dk1"/>
                </a:solidFill>
              </a:rPr>
              <a:t> locations like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                                                 Dubai,Estonia,British Virgin Islands , Malta , Portugal, Puerto Rico.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🧷 </a:t>
            </a:r>
            <a:r>
              <a:rPr b="1" lang="en-US" sz="1600">
                <a:solidFill>
                  <a:schemeClr val="dk1"/>
                </a:solidFill>
              </a:rPr>
              <a:t>Trust Building</a:t>
            </a:r>
            <a:r>
              <a:rPr lang="en-US" sz="1600">
                <a:solidFill>
                  <a:schemeClr val="dk1"/>
                </a:solidFill>
              </a:rPr>
              <a:t> –                Need heavy focus on audits, legal backing, and transparent                  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                                                 </a:t>
            </a:r>
            <a:r>
              <a:rPr lang="en-US" sz="1600">
                <a:solidFill>
                  <a:schemeClr val="dk1"/>
                </a:solidFill>
              </a:rPr>
              <a:t>documentation to gain user trust.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📲 </a:t>
            </a:r>
            <a:r>
              <a:rPr b="1" lang="en-US" sz="1500">
                <a:solidFill>
                  <a:schemeClr val="dk1"/>
                </a:solidFill>
              </a:rPr>
              <a:t>Community Building </a:t>
            </a:r>
            <a:r>
              <a:rPr lang="en-US" sz="1500">
                <a:solidFill>
                  <a:schemeClr val="dk1"/>
                </a:solidFill>
              </a:rPr>
              <a:t>–       Need to set up Telegram,Twitter, Discord, Reddit, Medium, WhatsApp,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  </a:t>
            </a:r>
            <a:r>
              <a:rPr lang="en-US" sz="1500">
                <a:solidFill>
                  <a:schemeClr val="dk1"/>
                </a:solidFill>
              </a:rPr>
              <a:t>                                                 Linkedin.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🧑‍🏫 </a:t>
            </a:r>
            <a:r>
              <a:rPr b="1" lang="en-US" sz="1500">
                <a:solidFill>
                  <a:schemeClr val="dk1"/>
                </a:solidFill>
              </a:rPr>
              <a:t>Investor Education Gap</a:t>
            </a:r>
            <a:r>
              <a:rPr lang="en-US" sz="1500">
                <a:solidFill>
                  <a:schemeClr val="dk1"/>
                </a:solidFill>
              </a:rPr>
              <a:t> –  Low familiarity with blockchain, tokens, or asset digitization among retail 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                                                   investors.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493977c559_0_37"/>
          <p:cNvSpPr txBox="1"/>
          <p:nvPr>
            <p:ph idx="1" type="body"/>
          </p:nvPr>
        </p:nvSpPr>
        <p:spPr>
          <a:xfrm>
            <a:off x="838200" y="1673433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RWA Asset Tokenization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NFT Marketplace,Meme Coins development,planning and launch.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Decentralized Application Development on EVM Compatible Blockchains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Application Specific Blockchain on Cosmos and Polkadot ecosystem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Smart Contract Audits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Decentralized Exchanges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Lending and Borrowing Protocols (ex- Aave)</a:t>
            </a:r>
            <a:endParaRPr/>
          </a:p>
        </p:txBody>
      </p:sp>
      <p:sp>
        <p:nvSpPr>
          <p:cNvPr id="323" name="Google Shape;323;g3493977c559_0_3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g3493977c559_0_37"/>
          <p:cNvSpPr txBox="1"/>
          <p:nvPr>
            <p:ph type="title"/>
          </p:nvPr>
        </p:nvSpPr>
        <p:spPr>
          <a:xfrm>
            <a:off x="838200" y="60326"/>
            <a:ext cx="10515600" cy="8553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Public Blockchain Services Vara can provide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9"/>
          <p:cNvSpPr/>
          <p:nvPr/>
        </p:nvSpPr>
        <p:spPr>
          <a:xfrm>
            <a:off x="0" y="-30900"/>
            <a:ext cx="12192000" cy="6858000"/>
          </a:xfrm>
          <a:prstGeom prst="rect">
            <a:avLst/>
          </a:prstGeom>
          <a:gradFill>
            <a:gsLst>
              <a:gs pos="0">
                <a:srgbClr val="476ED1"/>
              </a:gs>
              <a:gs pos="88000">
                <a:srgbClr val="264796"/>
              </a:gs>
              <a:gs pos="100000">
                <a:srgbClr val="264796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9"/>
          <p:cNvSpPr/>
          <p:nvPr/>
        </p:nvSpPr>
        <p:spPr>
          <a:xfrm>
            <a:off x="330859" y="190355"/>
            <a:ext cx="11591925" cy="6236494"/>
          </a:xfrm>
          <a:prstGeom prst="rect">
            <a:avLst/>
          </a:prstGeom>
          <a:gradFill>
            <a:gsLst>
              <a:gs pos="0">
                <a:srgbClr val="476ED1">
                  <a:alpha val="0"/>
                </a:srgbClr>
              </a:gs>
              <a:gs pos="100000">
                <a:srgbClr val="476ED1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9"/>
          <p:cNvSpPr/>
          <p:nvPr/>
        </p:nvSpPr>
        <p:spPr>
          <a:xfrm rot="10800000">
            <a:off x="156247" y="6002681"/>
            <a:ext cx="471837" cy="855319"/>
          </a:xfrm>
          <a:prstGeom prst="flowChartOffpageConnector">
            <a:avLst/>
          </a:prstGeom>
          <a:solidFill>
            <a:srgbClr val="F682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9"/>
          <p:cNvSpPr txBox="1"/>
          <p:nvPr/>
        </p:nvSpPr>
        <p:spPr>
          <a:xfrm>
            <a:off x="3897607" y="6354931"/>
            <a:ext cx="4396787" cy="4224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825" lIns="18825" spcFirstLastPara="1" rIns="18825" wrap="square" tIns="188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www.varatechnology.com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9"/>
          <p:cNvSpPr txBox="1"/>
          <p:nvPr/>
        </p:nvSpPr>
        <p:spPr>
          <a:xfrm>
            <a:off x="4888601" y="5165663"/>
            <a:ext cx="2414799" cy="51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Follow us</a:t>
            </a:r>
            <a:endParaRPr b="0" i="0" sz="2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4" name="Google Shape;334;p19"/>
          <p:cNvGrpSpPr/>
          <p:nvPr/>
        </p:nvGrpSpPr>
        <p:grpSpPr>
          <a:xfrm>
            <a:off x="5153949" y="5720104"/>
            <a:ext cx="1884103" cy="537839"/>
            <a:chOff x="839820" y="5692898"/>
            <a:chExt cx="1884103" cy="537839"/>
          </a:xfrm>
        </p:grpSpPr>
        <p:grpSp>
          <p:nvGrpSpPr>
            <p:cNvPr id="335" name="Google Shape;335;p19"/>
            <p:cNvGrpSpPr/>
            <p:nvPr/>
          </p:nvGrpSpPr>
          <p:grpSpPr>
            <a:xfrm>
              <a:off x="1523558" y="5692902"/>
              <a:ext cx="515822" cy="515891"/>
              <a:chOff x="1327518" y="8517177"/>
              <a:chExt cx="714280" cy="714375"/>
            </a:xfrm>
          </p:grpSpPr>
          <p:sp>
            <p:nvSpPr>
              <p:cNvPr id="336" name="Google Shape;336;p19"/>
              <p:cNvSpPr/>
              <p:nvPr/>
            </p:nvSpPr>
            <p:spPr>
              <a:xfrm>
                <a:off x="1327518" y="8517177"/>
                <a:ext cx="714280" cy="714375"/>
              </a:xfrm>
              <a:custGeom>
                <a:rect b="b" l="l" r="r" t="t"/>
                <a:pathLst>
                  <a:path extrusionOk="0" h="952500" w="952373">
                    <a:moveTo>
                      <a:pt x="476250" y="952500"/>
                    </a:moveTo>
                    <a:lnTo>
                      <a:pt x="417957" y="948944"/>
                    </a:lnTo>
                    <a:lnTo>
                      <a:pt x="360553" y="938276"/>
                    </a:lnTo>
                    <a:lnTo>
                      <a:pt x="304800" y="920623"/>
                    </a:lnTo>
                    <a:lnTo>
                      <a:pt x="251714" y="896239"/>
                    </a:lnTo>
                    <a:lnTo>
                      <a:pt x="201930" y="865632"/>
                    </a:lnTo>
                    <a:lnTo>
                      <a:pt x="156337" y="829183"/>
                    </a:lnTo>
                    <a:lnTo>
                      <a:pt x="115570" y="787273"/>
                    </a:lnTo>
                    <a:lnTo>
                      <a:pt x="80264" y="740791"/>
                    </a:lnTo>
                    <a:lnTo>
                      <a:pt x="50800" y="690372"/>
                    </a:lnTo>
                    <a:lnTo>
                      <a:pt x="27813" y="636651"/>
                    </a:lnTo>
                    <a:lnTo>
                      <a:pt x="11557" y="580644"/>
                    </a:lnTo>
                    <a:lnTo>
                      <a:pt x="2286" y="522986"/>
                    </a:lnTo>
                    <a:lnTo>
                      <a:pt x="0" y="476250"/>
                    </a:lnTo>
                    <a:lnTo>
                      <a:pt x="127" y="464566"/>
                    </a:lnTo>
                    <a:lnTo>
                      <a:pt x="5207" y="406400"/>
                    </a:lnTo>
                    <a:lnTo>
                      <a:pt x="17272" y="349250"/>
                    </a:lnTo>
                    <a:lnTo>
                      <a:pt x="36322" y="294005"/>
                    </a:lnTo>
                    <a:lnTo>
                      <a:pt x="61976" y="241554"/>
                    </a:lnTo>
                    <a:lnTo>
                      <a:pt x="93853" y="192659"/>
                    </a:lnTo>
                    <a:lnTo>
                      <a:pt x="131445" y="147955"/>
                    </a:lnTo>
                    <a:lnTo>
                      <a:pt x="174244" y="108204"/>
                    </a:lnTo>
                    <a:lnTo>
                      <a:pt x="221615" y="74041"/>
                    </a:lnTo>
                    <a:lnTo>
                      <a:pt x="272669" y="45720"/>
                    </a:lnTo>
                    <a:lnTo>
                      <a:pt x="326898" y="24003"/>
                    </a:lnTo>
                    <a:lnTo>
                      <a:pt x="383286" y="9144"/>
                    </a:lnTo>
                    <a:lnTo>
                      <a:pt x="441198" y="1270"/>
                    </a:lnTo>
                    <a:lnTo>
                      <a:pt x="476250" y="0"/>
                    </a:lnTo>
                    <a:lnTo>
                      <a:pt x="487934" y="127"/>
                    </a:lnTo>
                    <a:lnTo>
                      <a:pt x="546100" y="5207"/>
                    </a:lnTo>
                    <a:lnTo>
                      <a:pt x="603250" y="17272"/>
                    </a:lnTo>
                    <a:lnTo>
                      <a:pt x="658495" y="36322"/>
                    </a:lnTo>
                    <a:lnTo>
                      <a:pt x="710946" y="61976"/>
                    </a:lnTo>
                    <a:lnTo>
                      <a:pt x="759841" y="93853"/>
                    </a:lnTo>
                    <a:lnTo>
                      <a:pt x="804545" y="131445"/>
                    </a:lnTo>
                    <a:lnTo>
                      <a:pt x="844296" y="174244"/>
                    </a:lnTo>
                    <a:lnTo>
                      <a:pt x="878459" y="221615"/>
                    </a:lnTo>
                    <a:lnTo>
                      <a:pt x="906653" y="272796"/>
                    </a:lnTo>
                    <a:lnTo>
                      <a:pt x="928370" y="327025"/>
                    </a:lnTo>
                    <a:lnTo>
                      <a:pt x="943229" y="383540"/>
                    </a:lnTo>
                    <a:lnTo>
                      <a:pt x="951103" y="441452"/>
                    </a:lnTo>
                    <a:lnTo>
                      <a:pt x="952373" y="476504"/>
                    </a:lnTo>
                    <a:lnTo>
                      <a:pt x="952246" y="488188"/>
                    </a:lnTo>
                    <a:lnTo>
                      <a:pt x="947293" y="546100"/>
                    </a:lnTo>
                    <a:lnTo>
                      <a:pt x="935228" y="603250"/>
                    </a:lnTo>
                    <a:lnTo>
                      <a:pt x="916178" y="658495"/>
                    </a:lnTo>
                    <a:lnTo>
                      <a:pt x="890524" y="710946"/>
                    </a:lnTo>
                    <a:lnTo>
                      <a:pt x="858647" y="759841"/>
                    </a:lnTo>
                    <a:lnTo>
                      <a:pt x="821055" y="804545"/>
                    </a:lnTo>
                    <a:lnTo>
                      <a:pt x="778256" y="844296"/>
                    </a:lnTo>
                    <a:lnTo>
                      <a:pt x="730885" y="878459"/>
                    </a:lnTo>
                    <a:lnTo>
                      <a:pt x="679704" y="906653"/>
                    </a:lnTo>
                    <a:lnTo>
                      <a:pt x="625475" y="928370"/>
                    </a:lnTo>
                    <a:lnTo>
                      <a:pt x="568960" y="943229"/>
                    </a:lnTo>
                    <a:lnTo>
                      <a:pt x="511048" y="951103"/>
                    </a:lnTo>
                    <a:lnTo>
                      <a:pt x="475996" y="95237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9"/>
              <p:cNvSpPr/>
              <p:nvPr/>
            </p:nvSpPr>
            <p:spPr>
              <a:xfrm>
                <a:off x="1558451" y="8653173"/>
                <a:ext cx="228600" cy="440532"/>
              </a:xfrm>
              <a:custGeom>
                <a:rect b="b" l="l" r="r" t="t"/>
                <a:pathLst>
                  <a:path extrusionOk="0" h="587375" w="304800">
                    <a:moveTo>
                      <a:pt x="197993" y="587375"/>
                    </a:moveTo>
                    <a:lnTo>
                      <a:pt x="90170" y="587375"/>
                    </a:lnTo>
                    <a:lnTo>
                      <a:pt x="90170" y="319405"/>
                    </a:lnTo>
                    <a:lnTo>
                      <a:pt x="0" y="319405"/>
                    </a:lnTo>
                    <a:lnTo>
                      <a:pt x="0" y="215011"/>
                    </a:lnTo>
                    <a:lnTo>
                      <a:pt x="90170" y="215011"/>
                    </a:lnTo>
                    <a:lnTo>
                      <a:pt x="90170" y="138049"/>
                    </a:lnTo>
                    <a:lnTo>
                      <a:pt x="99949" y="78740"/>
                    </a:lnTo>
                    <a:lnTo>
                      <a:pt x="127381" y="35560"/>
                    </a:lnTo>
                    <a:lnTo>
                      <a:pt x="169799" y="9017"/>
                    </a:lnTo>
                    <a:lnTo>
                      <a:pt x="224409" y="0"/>
                    </a:lnTo>
                    <a:lnTo>
                      <a:pt x="251714" y="508"/>
                    </a:lnTo>
                    <a:lnTo>
                      <a:pt x="275336" y="1651"/>
                    </a:lnTo>
                    <a:lnTo>
                      <a:pt x="293624" y="3048"/>
                    </a:lnTo>
                    <a:lnTo>
                      <a:pt x="304800" y="4191"/>
                    </a:lnTo>
                    <a:lnTo>
                      <a:pt x="304800" y="97536"/>
                    </a:lnTo>
                    <a:lnTo>
                      <a:pt x="249555" y="97536"/>
                    </a:lnTo>
                    <a:lnTo>
                      <a:pt x="223139" y="101219"/>
                    </a:lnTo>
                    <a:lnTo>
                      <a:pt x="207391" y="111633"/>
                    </a:lnTo>
                    <a:lnTo>
                      <a:pt x="199771" y="127635"/>
                    </a:lnTo>
                    <a:lnTo>
                      <a:pt x="197739" y="148336"/>
                    </a:lnTo>
                    <a:lnTo>
                      <a:pt x="197739" y="215011"/>
                    </a:lnTo>
                    <a:lnTo>
                      <a:pt x="301117" y="215011"/>
                    </a:lnTo>
                    <a:lnTo>
                      <a:pt x="287655" y="319405"/>
                    </a:lnTo>
                    <a:lnTo>
                      <a:pt x="197993" y="319405"/>
                    </a:lnTo>
                    <a:lnTo>
                      <a:pt x="197993" y="587375"/>
                    </a:lnTo>
                    <a:close/>
                  </a:path>
                </a:pathLst>
              </a:custGeom>
              <a:solidFill>
                <a:srgbClr val="F96E20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8" name="Google Shape;338;p19"/>
            <p:cNvGrpSpPr/>
            <p:nvPr/>
          </p:nvGrpSpPr>
          <p:grpSpPr>
            <a:xfrm>
              <a:off x="839820" y="5692903"/>
              <a:ext cx="537834" cy="537834"/>
              <a:chOff x="380718" y="8517178"/>
              <a:chExt cx="744760" cy="744760"/>
            </a:xfrm>
          </p:grpSpPr>
          <p:sp>
            <p:nvSpPr>
              <p:cNvPr id="339" name="Google Shape;339;p19"/>
              <p:cNvSpPr/>
              <p:nvPr/>
            </p:nvSpPr>
            <p:spPr>
              <a:xfrm>
                <a:off x="380718" y="8517178"/>
                <a:ext cx="744760" cy="744760"/>
              </a:xfrm>
              <a:custGeom>
                <a:rect b="b" l="l" r="r" t="t"/>
                <a:pathLst>
                  <a:path extrusionOk="0" h="993013" w="993013">
                    <a:moveTo>
                      <a:pt x="993013" y="496443"/>
                    </a:moveTo>
                    <a:lnTo>
                      <a:pt x="992124" y="481711"/>
                    </a:lnTo>
                    <a:lnTo>
                      <a:pt x="992124" y="467233"/>
                    </a:lnTo>
                    <a:lnTo>
                      <a:pt x="990219" y="450977"/>
                    </a:lnTo>
                    <a:lnTo>
                      <a:pt x="989203" y="434213"/>
                    </a:lnTo>
                    <a:lnTo>
                      <a:pt x="986663" y="421005"/>
                    </a:lnTo>
                    <a:lnTo>
                      <a:pt x="985266" y="409067"/>
                    </a:lnTo>
                    <a:lnTo>
                      <a:pt x="981329" y="392938"/>
                    </a:lnTo>
                    <a:lnTo>
                      <a:pt x="977900" y="374269"/>
                    </a:lnTo>
                    <a:lnTo>
                      <a:pt x="973963" y="361950"/>
                    </a:lnTo>
                    <a:lnTo>
                      <a:pt x="971550" y="351663"/>
                    </a:lnTo>
                    <a:lnTo>
                      <a:pt x="965708" y="336042"/>
                    </a:lnTo>
                    <a:lnTo>
                      <a:pt x="959612" y="316992"/>
                    </a:lnTo>
                    <a:lnTo>
                      <a:pt x="954532" y="305816"/>
                    </a:lnTo>
                    <a:lnTo>
                      <a:pt x="950849" y="295910"/>
                    </a:lnTo>
                    <a:lnTo>
                      <a:pt x="942975" y="280670"/>
                    </a:lnTo>
                    <a:lnTo>
                      <a:pt x="934847" y="263017"/>
                    </a:lnTo>
                    <a:lnTo>
                      <a:pt x="928370" y="252603"/>
                    </a:lnTo>
                    <a:lnTo>
                      <a:pt x="923163" y="242570"/>
                    </a:lnTo>
                    <a:lnTo>
                      <a:pt x="913892" y="228981"/>
                    </a:lnTo>
                    <a:lnTo>
                      <a:pt x="903986" y="212852"/>
                    </a:lnTo>
                    <a:lnTo>
                      <a:pt x="895477" y="202057"/>
                    </a:lnTo>
                    <a:lnTo>
                      <a:pt x="888746" y="192278"/>
                    </a:lnTo>
                    <a:lnTo>
                      <a:pt x="879094" y="181356"/>
                    </a:lnTo>
                    <a:lnTo>
                      <a:pt x="867664" y="166751"/>
                    </a:lnTo>
                    <a:lnTo>
                      <a:pt x="855980" y="155067"/>
                    </a:lnTo>
                    <a:lnTo>
                      <a:pt x="847471" y="145415"/>
                    </a:lnTo>
                    <a:lnTo>
                      <a:pt x="846836" y="146050"/>
                    </a:lnTo>
                    <a:lnTo>
                      <a:pt x="780034" y="89027"/>
                    </a:lnTo>
                    <a:lnTo>
                      <a:pt x="729742" y="58293"/>
                    </a:lnTo>
                    <a:lnTo>
                      <a:pt x="675767" y="33528"/>
                    </a:lnTo>
                    <a:lnTo>
                      <a:pt x="618617" y="15240"/>
                    </a:lnTo>
                    <a:lnTo>
                      <a:pt x="558800" y="3810"/>
                    </a:lnTo>
                    <a:lnTo>
                      <a:pt x="496443" y="0"/>
                    </a:lnTo>
                    <a:lnTo>
                      <a:pt x="434213" y="3810"/>
                    </a:lnTo>
                    <a:lnTo>
                      <a:pt x="374269" y="15113"/>
                    </a:lnTo>
                    <a:lnTo>
                      <a:pt x="317119" y="33401"/>
                    </a:lnTo>
                    <a:lnTo>
                      <a:pt x="263144" y="58166"/>
                    </a:lnTo>
                    <a:lnTo>
                      <a:pt x="212852" y="88900"/>
                    </a:lnTo>
                    <a:lnTo>
                      <a:pt x="166751" y="125222"/>
                    </a:lnTo>
                    <a:lnTo>
                      <a:pt x="125349" y="166624"/>
                    </a:lnTo>
                    <a:lnTo>
                      <a:pt x="89027" y="212725"/>
                    </a:lnTo>
                    <a:lnTo>
                      <a:pt x="58293" y="263017"/>
                    </a:lnTo>
                    <a:lnTo>
                      <a:pt x="33528" y="316992"/>
                    </a:lnTo>
                    <a:lnTo>
                      <a:pt x="15240" y="374142"/>
                    </a:lnTo>
                    <a:lnTo>
                      <a:pt x="3810" y="434213"/>
                    </a:lnTo>
                    <a:lnTo>
                      <a:pt x="0" y="496443"/>
                    </a:lnTo>
                    <a:lnTo>
                      <a:pt x="3810" y="558800"/>
                    </a:lnTo>
                    <a:lnTo>
                      <a:pt x="15113" y="618744"/>
                    </a:lnTo>
                    <a:lnTo>
                      <a:pt x="33401" y="675894"/>
                    </a:lnTo>
                    <a:lnTo>
                      <a:pt x="58166" y="729869"/>
                    </a:lnTo>
                    <a:lnTo>
                      <a:pt x="88900" y="780161"/>
                    </a:lnTo>
                    <a:lnTo>
                      <a:pt x="125222" y="826262"/>
                    </a:lnTo>
                    <a:lnTo>
                      <a:pt x="145923" y="846963"/>
                    </a:lnTo>
                    <a:lnTo>
                      <a:pt x="145415" y="847471"/>
                    </a:lnTo>
                    <a:lnTo>
                      <a:pt x="154940" y="855980"/>
                    </a:lnTo>
                    <a:lnTo>
                      <a:pt x="166624" y="867664"/>
                    </a:lnTo>
                    <a:lnTo>
                      <a:pt x="180721" y="878840"/>
                    </a:lnTo>
                    <a:lnTo>
                      <a:pt x="192024" y="888873"/>
                    </a:lnTo>
                    <a:lnTo>
                      <a:pt x="202184" y="895858"/>
                    </a:lnTo>
                    <a:lnTo>
                      <a:pt x="212598" y="904113"/>
                    </a:lnTo>
                    <a:lnTo>
                      <a:pt x="227965" y="913511"/>
                    </a:lnTo>
                    <a:lnTo>
                      <a:pt x="242316" y="923290"/>
                    </a:lnTo>
                    <a:lnTo>
                      <a:pt x="252857" y="928751"/>
                    </a:lnTo>
                    <a:lnTo>
                      <a:pt x="262890" y="934847"/>
                    </a:lnTo>
                    <a:lnTo>
                      <a:pt x="279654" y="942594"/>
                    </a:lnTo>
                    <a:lnTo>
                      <a:pt x="295656" y="950849"/>
                    </a:lnTo>
                    <a:lnTo>
                      <a:pt x="306070" y="954786"/>
                    </a:lnTo>
                    <a:lnTo>
                      <a:pt x="316738" y="959739"/>
                    </a:lnTo>
                    <a:lnTo>
                      <a:pt x="334645" y="965454"/>
                    </a:lnTo>
                    <a:lnTo>
                      <a:pt x="351282" y="971550"/>
                    </a:lnTo>
                    <a:lnTo>
                      <a:pt x="362204" y="974217"/>
                    </a:lnTo>
                    <a:lnTo>
                      <a:pt x="374015" y="977900"/>
                    </a:lnTo>
                    <a:lnTo>
                      <a:pt x="391922" y="981329"/>
                    </a:lnTo>
                    <a:lnTo>
                      <a:pt x="408559" y="985266"/>
                    </a:lnTo>
                    <a:lnTo>
                      <a:pt x="420751" y="986663"/>
                    </a:lnTo>
                    <a:lnTo>
                      <a:pt x="433959" y="989203"/>
                    </a:lnTo>
                    <a:lnTo>
                      <a:pt x="450596" y="990219"/>
                    </a:lnTo>
                    <a:lnTo>
                      <a:pt x="466852" y="992124"/>
                    </a:lnTo>
                    <a:lnTo>
                      <a:pt x="481457" y="992124"/>
                    </a:lnTo>
                    <a:lnTo>
                      <a:pt x="496189" y="993013"/>
                    </a:lnTo>
                    <a:lnTo>
                      <a:pt x="510921" y="992124"/>
                    </a:lnTo>
                    <a:lnTo>
                      <a:pt x="525399" y="992124"/>
                    </a:lnTo>
                    <a:lnTo>
                      <a:pt x="541401" y="990219"/>
                    </a:lnTo>
                    <a:lnTo>
                      <a:pt x="558800" y="989076"/>
                    </a:lnTo>
                    <a:lnTo>
                      <a:pt x="572262" y="986536"/>
                    </a:lnTo>
                    <a:lnTo>
                      <a:pt x="579374" y="985647"/>
                    </a:lnTo>
                    <a:lnTo>
                      <a:pt x="579755" y="985647"/>
                    </a:lnTo>
                    <a:lnTo>
                      <a:pt x="584200" y="985139"/>
                    </a:lnTo>
                    <a:lnTo>
                      <a:pt x="600329" y="981202"/>
                    </a:lnTo>
                    <a:lnTo>
                      <a:pt x="618871" y="977646"/>
                    </a:lnTo>
                    <a:lnTo>
                      <a:pt x="630936" y="973836"/>
                    </a:lnTo>
                    <a:lnTo>
                      <a:pt x="641350" y="971296"/>
                    </a:lnTo>
                    <a:lnTo>
                      <a:pt x="646049" y="969518"/>
                    </a:lnTo>
                    <a:lnTo>
                      <a:pt x="646811" y="969391"/>
                    </a:lnTo>
                    <a:lnTo>
                      <a:pt x="650748" y="967867"/>
                    </a:lnTo>
                    <a:lnTo>
                      <a:pt x="657225" y="965454"/>
                    </a:lnTo>
                    <a:lnTo>
                      <a:pt x="676021" y="959485"/>
                    </a:lnTo>
                    <a:lnTo>
                      <a:pt x="687197" y="954405"/>
                    </a:lnTo>
                    <a:lnTo>
                      <a:pt x="697103" y="950722"/>
                    </a:lnTo>
                    <a:lnTo>
                      <a:pt x="706120" y="946023"/>
                    </a:lnTo>
                    <a:lnTo>
                      <a:pt x="710311" y="944372"/>
                    </a:lnTo>
                    <a:lnTo>
                      <a:pt x="716153" y="941070"/>
                    </a:lnTo>
                    <a:lnTo>
                      <a:pt x="729996" y="934720"/>
                    </a:lnTo>
                    <a:lnTo>
                      <a:pt x="740410" y="928370"/>
                    </a:lnTo>
                    <a:lnTo>
                      <a:pt x="750443" y="923163"/>
                    </a:lnTo>
                    <a:lnTo>
                      <a:pt x="762508" y="914908"/>
                    </a:lnTo>
                    <a:lnTo>
                      <a:pt x="769112" y="911225"/>
                    </a:lnTo>
                    <a:lnTo>
                      <a:pt x="772033" y="908939"/>
                    </a:lnTo>
                    <a:lnTo>
                      <a:pt x="780161" y="903986"/>
                    </a:lnTo>
                    <a:lnTo>
                      <a:pt x="790956" y="895477"/>
                    </a:lnTo>
                    <a:lnTo>
                      <a:pt x="800735" y="888746"/>
                    </a:lnTo>
                    <a:lnTo>
                      <a:pt x="811784" y="878967"/>
                    </a:lnTo>
                    <a:lnTo>
                      <a:pt x="819404" y="872998"/>
                    </a:lnTo>
                    <a:lnTo>
                      <a:pt x="822579" y="870585"/>
                    </a:lnTo>
                    <a:lnTo>
                      <a:pt x="823087" y="870077"/>
                    </a:lnTo>
                    <a:lnTo>
                      <a:pt x="826262" y="867537"/>
                    </a:lnTo>
                    <a:lnTo>
                      <a:pt x="837946" y="855853"/>
                    </a:lnTo>
                    <a:lnTo>
                      <a:pt x="847471" y="847471"/>
                    </a:lnTo>
                    <a:lnTo>
                      <a:pt x="855980" y="837946"/>
                    </a:lnTo>
                    <a:lnTo>
                      <a:pt x="867664" y="826262"/>
                    </a:lnTo>
                    <a:lnTo>
                      <a:pt x="869569" y="823722"/>
                    </a:lnTo>
                    <a:lnTo>
                      <a:pt x="869950" y="823341"/>
                    </a:lnTo>
                    <a:lnTo>
                      <a:pt x="872490" y="819912"/>
                    </a:lnTo>
                    <a:lnTo>
                      <a:pt x="878713" y="812038"/>
                    </a:lnTo>
                    <a:lnTo>
                      <a:pt x="888619" y="800735"/>
                    </a:lnTo>
                    <a:lnTo>
                      <a:pt x="895604" y="790575"/>
                    </a:lnTo>
                    <a:lnTo>
                      <a:pt x="903859" y="780161"/>
                    </a:lnTo>
                    <a:lnTo>
                      <a:pt x="907923" y="773557"/>
                    </a:lnTo>
                    <a:lnTo>
                      <a:pt x="910590" y="770001"/>
                    </a:lnTo>
                    <a:lnTo>
                      <a:pt x="915035" y="762127"/>
                    </a:lnTo>
                    <a:lnTo>
                      <a:pt x="923036" y="750443"/>
                    </a:lnTo>
                    <a:lnTo>
                      <a:pt x="928370" y="740029"/>
                    </a:lnTo>
                    <a:lnTo>
                      <a:pt x="934593" y="729996"/>
                    </a:lnTo>
                    <a:lnTo>
                      <a:pt x="939927" y="718312"/>
                    </a:lnTo>
                    <a:lnTo>
                      <a:pt x="943864" y="711327"/>
                    </a:lnTo>
                    <a:lnTo>
                      <a:pt x="946023" y="705866"/>
                    </a:lnTo>
                    <a:lnTo>
                      <a:pt x="950468" y="697230"/>
                    </a:lnTo>
                    <a:lnTo>
                      <a:pt x="954278" y="686816"/>
                    </a:lnTo>
                    <a:lnTo>
                      <a:pt x="959231" y="676148"/>
                    </a:lnTo>
                    <a:lnTo>
                      <a:pt x="964946" y="658495"/>
                    </a:lnTo>
                    <a:lnTo>
                      <a:pt x="969137" y="648081"/>
                    </a:lnTo>
                    <a:lnTo>
                      <a:pt x="970915" y="642620"/>
                    </a:lnTo>
                    <a:lnTo>
                      <a:pt x="974090" y="631063"/>
                    </a:lnTo>
                    <a:lnTo>
                      <a:pt x="973709" y="630809"/>
                    </a:lnTo>
                    <a:lnTo>
                      <a:pt x="977519" y="618998"/>
                    </a:lnTo>
                    <a:lnTo>
                      <a:pt x="980821" y="601091"/>
                    </a:lnTo>
                    <a:lnTo>
                      <a:pt x="984885" y="584327"/>
                    </a:lnTo>
                    <a:lnTo>
                      <a:pt x="986282" y="571881"/>
                    </a:lnTo>
                    <a:lnTo>
                      <a:pt x="988695" y="558927"/>
                    </a:lnTo>
                    <a:lnTo>
                      <a:pt x="989711" y="542544"/>
                    </a:lnTo>
                    <a:lnTo>
                      <a:pt x="991616" y="526161"/>
                    </a:lnTo>
                    <a:lnTo>
                      <a:pt x="991616" y="511175"/>
                    </a:lnTo>
                    <a:lnTo>
                      <a:pt x="992505" y="49644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40" name="Google Shape;340;p19"/>
              <p:cNvGrpSpPr/>
              <p:nvPr/>
            </p:nvGrpSpPr>
            <p:grpSpPr>
              <a:xfrm>
                <a:off x="570731" y="8660503"/>
                <a:ext cx="373380" cy="356902"/>
                <a:chOff x="0" y="0"/>
                <a:chExt cx="497840" cy="475869"/>
              </a:xfrm>
            </p:grpSpPr>
            <p:sp>
              <p:nvSpPr>
                <p:cNvPr id="341" name="Google Shape;341;p19"/>
                <p:cNvSpPr/>
                <p:nvPr/>
              </p:nvSpPr>
              <p:spPr>
                <a:xfrm>
                  <a:off x="278765" y="147320"/>
                  <a:ext cx="194818" cy="54102"/>
                </a:xfrm>
                <a:custGeom>
                  <a:rect b="b" l="l" r="r" t="t"/>
                  <a:pathLst>
                    <a:path extrusionOk="0" h="54102" w="194818">
                      <a:moveTo>
                        <a:pt x="194818" y="53975"/>
                      </a:moveTo>
                      <a:lnTo>
                        <a:pt x="0" y="53975"/>
                      </a:lnTo>
                      <a:lnTo>
                        <a:pt x="0" y="52959"/>
                      </a:lnTo>
                      <a:lnTo>
                        <a:pt x="13081" y="35433"/>
                      </a:lnTo>
                      <a:lnTo>
                        <a:pt x="32131" y="18288"/>
                      </a:lnTo>
                      <a:lnTo>
                        <a:pt x="59182" y="5207"/>
                      </a:lnTo>
                      <a:lnTo>
                        <a:pt x="96139" y="0"/>
                      </a:lnTo>
                      <a:lnTo>
                        <a:pt x="144907" y="8763"/>
                      </a:lnTo>
                      <a:lnTo>
                        <a:pt x="183896" y="35306"/>
                      </a:lnTo>
                      <a:lnTo>
                        <a:pt x="194691" y="54102"/>
                      </a:lnTo>
                      <a:close/>
                    </a:path>
                  </a:pathLst>
                </a:custGeom>
                <a:solidFill>
                  <a:srgbClr val="FA6D1D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" name="Google Shape;342;p19"/>
                <p:cNvSpPr/>
                <p:nvPr/>
              </p:nvSpPr>
              <p:spPr>
                <a:xfrm>
                  <a:off x="172085" y="154813"/>
                  <a:ext cx="317119" cy="321056"/>
                </a:xfrm>
                <a:custGeom>
                  <a:rect b="b" l="l" r="r" t="t"/>
                  <a:pathLst>
                    <a:path extrusionOk="0" h="321056" w="317119">
                      <a:moveTo>
                        <a:pt x="106680" y="321056"/>
                      </a:moveTo>
                      <a:lnTo>
                        <a:pt x="0" y="321056"/>
                      </a:lnTo>
                      <a:lnTo>
                        <a:pt x="254" y="275082"/>
                      </a:lnTo>
                      <a:lnTo>
                        <a:pt x="635" y="171831"/>
                      </a:lnTo>
                      <a:lnTo>
                        <a:pt x="508" y="45466"/>
                      </a:lnTo>
                      <a:lnTo>
                        <a:pt x="127" y="0"/>
                      </a:lnTo>
                      <a:lnTo>
                        <a:pt x="106807" y="0"/>
                      </a:lnTo>
                      <a:lnTo>
                        <a:pt x="106807" y="45466"/>
                      </a:lnTo>
                      <a:lnTo>
                        <a:pt x="106426" y="46228"/>
                      </a:lnTo>
                      <a:lnTo>
                        <a:pt x="106172" y="46482"/>
                      </a:lnTo>
                      <a:lnTo>
                        <a:pt x="301498" y="46482"/>
                      </a:lnTo>
                      <a:lnTo>
                        <a:pt x="316484" y="72771"/>
                      </a:lnTo>
                      <a:lnTo>
                        <a:pt x="317119" y="76708"/>
                      </a:lnTo>
                      <a:lnTo>
                        <a:pt x="165100" y="76708"/>
                      </a:lnTo>
                      <a:lnTo>
                        <a:pt x="145161" y="80137"/>
                      </a:lnTo>
                      <a:lnTo>
                        <a:pt x="107442" y="122555"/>
                      </a:lnTo>
                      <a:lnTo>
                        <a:pt x="106680" y="132207"/>
                      </a:lnTo>
                      <a:lnTo>
                        <a:pt x="106680" y="321056"/>
                      </a:lnTo>
                      <a:close/>
                    </a:path>
                  </a:pathLst>
                </a:custGeom>
                <a:solidFill>
                  <a:srgbClr val="FA6D1D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" name="Google Shape;343;p19"/>
                <p:cNvSpPr/>
                <p:nvPr/>
              </p:nvSpPr>
              <p:spPr>
                <a:xfrm>
                  <a:off x="337058" y="231394"/>
                  <a:ext cx="160782" cy="244475"/>
                </a:xfrm>
                <a:custGeom>
                  <a:rect b="b" l="l" r="r" t="t"/>
                  <a:pathLst>
                    <a:path extrusionOk="0" h="244475" w="160782">
                      <a:moveTo>
                        <a:pt x="160782" y="244475"/>
                      </a:moveTo>
                      <a:lnTo>
                        <a:pt x="54102" y="244475"/>
                      </a:lnTo>
                      <a:lnTo>
                        <a:pt x="54102" y="72771"/>
                      </a:lnTo>
                      <a:lnTo>
                        <a:pt x="51054" y="43180"/>
                      </a:lnTo>
                      <a:lnTo>
                        <a:pt x="41529" y="20193"/>
                      </a:lnTo>
                      <a:lnTo>
                        <a:pt x="24765" y="5334"/>
                      </a:lnTo>
                      <a:lnTo>
                        <a:pt x="0" y="0"/>
                      </a:lnTo>
                      <a:lnTo>
                        <a:pt x="152019" y="0"/>
                      </a:lnTo>
                      <a:lnTo>
                        <a:pt x="160782" y="60198"/>
                      </a:lnTo>
                      <a:lnTo>
                        <a:pt x="160782" y="244348"/>
                      </a:lnTo>
                      <a:close/>
                    </a:path>
                  </a:pathLst>
                </a:custGeom>
                <a:solidFill>
                  <a:srgbClr val="FA6D1D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" name="Google Shape;344;p19"/>
                <p:cNvSpPr/>
                <p:nvPr/>
              </p:nvSpPr>
              <p:spPr>
                <a:xfrm>
                  <a:off x="0" y="0"/>
                  <a:ext cx="120269" cy="110871"/>
                </a:xfrm>
                <a:custGeom>
                  <a:rect b="b" l="l" r="r" t="t"/>
                  <a:pathLst>
                    <a:path extrusionOk="0" h="110871" w="120269">
                      <a:moveTo>
                        <a:pt x="59817" y="110871"/>
                      </a:moveTo>
                      <a:lnTo>
                        <a:pt x="59055" y="110871"/>
                      </a:lnTo>
                      <a:lnTo>
                        <a:pt x="34671" y="106553"/>
                      </a:lnTo>
                      <a:lnTo>
                        <a:pt x="16129" y="94742"/>
                      </a:lnTo>
                      <a:lnTo>
                        <a:pt x="4191" y="77089"/>
                      </a:lnTo>
                      <a:lnTo>
                        <a:pt x="0" y="55372"/>
                      </a:lnTo>
                      <a:lnTo>
                        <a:pt x="4318" y="33528"/>
                      </a:lnTo>
                      <a:lnTo>
                        <a:pt x="16510" y="15875"/>
                      </a:lnTo>
                      <a:lnTo>
                        <a:pt x="35687" y="4191"/>
                      </a:lnTo>
                      <a:lnTo>
                        <a:pt x="60452" y="0"/>
                      </a:lnTo>
                      <a:lnTo>
                        <a:pt x="84963" y="4191"/>
                      </a:lnTo>
                      <a:lnTo>
                        <a:pt x="103632" y="15875"/>
                      </a:lnTo>
                      <a:lnTo>
                        <a:pt x="115570" y="33401"/>
                      </a:lnTo>
                      <a:lnTo>
                        <a:pt x="120269" y="55372"/>
                      </a:lnTo>
                      <a:lnTo>
                        <a:pt x="116078" y="77089"/>
                      </a:lnTo>
                      <a:lnTo>
                        <a:pt x="104013" y="94742"/>
                      </a:lnTo>
                      <a:lnTo>
                        <a:pt x="84963" y="106553"/>
                      </a:lnTo>
                      <a:lnTo>
                        <a:pt x="59817" y="110871"/>
                      </a:lnTo>
                      <a:close/>
                    </a:path>
                  </a:pathLst>
                </a:custGeom>
                <a:solidFill>
                  <a:srgbClr val="FA6D1D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5" name="Google Shape;345;p19"/>
                <p:cNvSpPr/>
                <p:nvPr/>
              </p:nvSpPr>
              <p:spPr>
                <a:xfrm>
                  <a:off x="6350" y="154940"/>
                  <a:ext cx="106680" cy="320929"/>
                </a:xfrm>
                <a:custGeom>
                  <a:rect b="b" l="l" r="r" t="t"/>
                  <a:pathLst>
                    <a:path extrusionOk="0" h="320929" w="106680">
                      <a:moveTo>
                        <a:pt x="106680" y="320929"/>
                      </a:moveTo>
                      <a:lnTo>
                        <a:pt x="0" y="320929"/>
                      </a:lnTo>
                      <a:lnTo>
                        <a:pt x="0" y="0"/>
                      </a:lnTo>
                      <a:lnTo>
                        <a:pt x="106680" y="0"/>
                      </a:lnTo>
                      <a:lnTo>
                        <a:pt x="106680" y="320929"/>
                      </a:lnTo>
                      <a:close/>
                    </a:path>
                  </a:pathLst>
                </a:custGeom>
                <a:solidFill>
                  <a:srgbClr val="FA6D1D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346" name="Google Shape;346;p19"/>
            <p:cNvGrpSpPr/>
            <p:nvPr/>
          </p:nvGrpSpPr>
          <p:grpSpPr>
            <a:xfrm>
              <a:off x="2208101" y="5692898"/>
              <a:ext cx="515822" cy="515891"/>
              <a:chOff x="2275431" y="8517171"/>
              <a:chExt cx="714280" cy="714375"/>
            </a:xfrm>
          </p:grpSpPr>
          <p:sp>
            <p:nvSpPr>
              <p:cNvPr id="347" name="Google Shape;347;p19"/>
              <p:cNvSpPr/>
              <p:nvPr/>
            </p:nvSpPr>
            <p:spPr>
              <a:xfrm>
                <a:off x="2275431" y="8517171"/>
                <a:ext cx="714280" cy="714375"/>
              </a:xfrm>
              <a:custGeom>
                <a:rect b="b" l="l" r="r" t="t"/>
                <a:pathLst>
                  <a:path extrusionOk="0" h="952500" w="952373">
                    <a:moveTo>
                      <a:pt x="476250" y="952500"/>
                    </a:moveTo>
                    <a:lnTo>
                      <a:pt x="417957" y="948944"/>
                    </a:lnTo>
                    <a:lnTo>
                      <a:pt x="360553" y="938276"/>
                    </a:lnTo>
                    <a:lnTo>
                      <a:pt x="304800" y="920623"/>
                    </a:lnTo>
                    <a:lnTo>
                      <a:pt x="251714" y="896239"/>
                    </a:lnTo>
                    <a:lnTo>
                      <a:pt x="201930" y="865632"/>
                    </a:lnTo>
                    <a:lnTo>
                      <a:pt x="156337" y="829183"/>
                    </a:lnTo>
                    <a:lnTo>
                      <a:pt x="115570" y="787273"/>
                    </a:lnTo>
                    <a:lnTo>
                      <a:pt x="80264" y="740791"/>
                    </a:lnTo>
                    <a:lnTo>
                      <a:pt x="50800" y="690372"/>
                    </a:lnTo>
                    <a:lnTo>
                      <a:pt x="27813" y="636651"/>
                    </a:lnTo>
                    <a:lnTo>
                      <a:pt x="11557" y="580644"/>
                    </a:lnTo>
                    <a:lnTo>
                      <a:pt x="2286" y="522986"/>
                    </a:lnTo>
                    <a:lnTo>
                      <a:pt x="0" y="476250"/>
                    </a:lnTo>
                    <a:lnTo>
                      <a:pt x="127" y="464566"/>
                    </a:lnTo>
                    <a:lnTo>
                      <a:pt x="5207" y="406400"/>
                    </a:lnTo>
                    <a:lnTo>
                      <a:pt x="17272" y="349250"/>
                    </a:lnTo>
                    <a:lnTo>
                      <a:pt x="36322" y="294005"/>
                    </a:lnTo>
                    <a:lnTo>
                      <a:pt x="61976" y="241554"/>
                    </a:lnTo>
                    <a:lnTo>
                      <a:pt x="93853" y="192659"/>
                    </a:lnTo>
                    <a:lnTo>
                      <a:pt x="131445" y="147955"/>
                    </a:lnTo>
                    <a:lnTo>
                      <a:pt x="174244" y="108204"/>
                    </a:lnTo>
                    <a:lnTo>
                      <a:pt x="221615" y="74041"/>
                    </a:lnTo>
                    <a:lnTo>
                      <a:pt x="272669" y="45720"/>
                    </a:lnTo>
                    <a:lnTo>
                      <a:pt x="326898" y="24003"/>
                    </a:lnTo>
                    <a:lnTo>
                      <a:pt x="383286" y="9144"/>
                    </a:lnTo>
                    <a:lnTo>
                      <a:pt x="441198" y="1270"/>
                    </a:lnTo>
                    <a:lnTo>
                      <a:pt x="476250" y="0"/>
                    </a:lnTo>
                    <a:lnTo>
                      <a:pt x="487934" y="127"/>
                    </a:lnTo>
                    <a:lnTo>
                      <a:pt x="546100" y="5207"/>
                    </a:lnTo>
                    <a:lnTo>
                      <a:pt x="603250" y="17272"/>
                    </a:lnTo>
                    <a:lnTo>
                      <a:pt x="658495" y="36322"/>
                    </a:lnTo>
                    <a:lnTo>
                      <a:pt x="710946" y="61976"/>
                    </a:lnTo>
                    <a:lnTo>
                      <a:pt x="759841" y="93853"/>
                    </a:lnTo>
                    <a:lnTo>
                      <a:pt x="804545" y="131445"/>
                    </a:lnTo>
                    <a:lnTo>
                      <a:pt x="844296" y="174244"/>
                    </a:lnTo>
                    <a:lnTo>
                      <a:pt x="878459" y="221615"/>
                    </a:lnTo>
                    <a:lnTo>
                      <a:pt x="906653" y="272796"/>
                    </a:lnTo>
                    <a:lnTo>
                      <a:pt x="928370" y="327025"/>
                    </a:lnTo>
                    <a:lnTo>
                      <a:pt x="943229" y="383540"/>
                    </a:lnTo>
                    <a:lnTo>
                      <a:pt x="951103" y="441452"/>
                    </a:lnTo>
                    <a:lnTo>
                      <a:pt x="952373" y="476504"/>
                    </a:lnTo>
                    <a:lnTo>
                      <a:pt x="952246" y="488188"/>
                    </a:lnTo>
                    <a:lnTo>
                      <a:pt x="947293" y="546100"/>
                    </a:lnTo>
                    <a:lnTo>
                      <a:pt x="935228" y="603250"/>
                    </a:lnTo>
                    <a:lnTo>
                      <a:pt x="916178" y="658495"/>
                    </a:lnTo>
                    <a:lnTo>
                      <a:pt x="890524" y="710946"/>
                    </a:lnTo>
                    <a:lnTo>
                      <a:pt x="858647" y="759841"/>
                    </a:lnTo>
                    <a:lnTo>
                      <a:pt x="821055" y="804545"/>
                    </a:lnTo>
                    <a:lnTo>
                      <a:pt x="778256" y="844296"/>
                    </a:lnTo>
                    <a:lnTo>
                      <a:pt x="730885" y="878459"/>
                    </a:lnTo>
                    <a:lnTo>
                      <a:pt x="679704" y="906653"/>
                    </a:lnTo>
                    <a:lnTo>
                      <a:pt x="625475" y="928370"/>
                    </a:lnTo>
                    <a:lnTo>
                      <a:pt x="568960" y="943229"/>
                    </a:lnTo>
                    <a:lnTo>
                      <a:pt x="511048" y="951103"/>
                    </a:lnTo>
                    <a:lnTo>
                      <a:pt x="475996" y="95237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48" name="Google Shape;348;p19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2376304" y="8620172"/>
                <a:ext cx="512536" cy="51253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349" name="Google Shape;349;p19"/>
          <p:cNvSpPr txBox="1"/>
          <p:nvPr/>
        </p:nvSpPr>
        <p:spPr>
          <a:xfrm>
            <a:off x="1516001" y="2980050"/>
            <a:ext cx="9485700" cy="8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Calibri"/>
              <a:buNone/>
            </a:pPr>
            <a:r>
              <a:rPr b="1" lang="en-US" sz="3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Join Us in Revolutionizing Asset Ownership</a:t>
            </a:r>
            <a:r>
              <a:rPr b="1" lang="en-US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i="0" sz="3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4038608" y="4496352"/>
            <a:ext cx="4261868" cy="422424"/>
          </a:xfrm>
          <a:prstGeom prst="rect">
            <a:avLst/>
          </a:prstGeom>
          <a:noFill/>
          <a:ln>
            <a:noFill/>
          </a:ln>
        </p:spPr>
        <p:txBody>
          <a:bodyPr anchorCtr="0" anchor="ctr" bIns="18825" lIns="18825" spcFirstLastPara="1" rIns="18825" wrap="square" tIns="188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MUMBAI | GURUGRAM | KOLKATA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p19"/>
          <p:cNvCxnSpPr/>
          <p:nvPr/>
        </p:nvCxnSpPr>
        <p:spPr>
          <a:xfrm>
            <a:off x="4223323" y="4947711"/>
            <a:ext cx="4071071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id="352" name="Google Shape;352;p19"/>
          <p:cNvPicPr preferRelativeResize="0"/>
          <p:nvPr/>
        </p:nvPicPr>
        <p:blipFill rotWithShape="1">
          <a:blip r:embed="rId4">
            <a:alphaModFix/>
          </a:blip>
          <a:srcRect b="0" l="18556" r="18556" t="0"/>
          <a:stretch/>
        </p:blipFill>
        <p:spPr>
          <a:xfrm>
            <a:off x="5314310" y="1343926"/>
            <a:ext cx="1563380" cy="137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2024-07-11T08:45:02Z</dcterms:created>
  <dc:creator>Nitish Bhushan</dc:creator>
</cp:coreProperties>
</file>