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8" roundtripDataSignature="AMtx7mgF8d6n+oiTH95VP8INd4nkGxE6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Change logo</a:t>
            </a:r>
            <a:endParaRPr/>
          </a:p>
        </p:txBody>
      </p:sp>
      <p:sp>
        <p:nvSpPr>
          <p:cNvPr id="125" name="Google Shape;125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6919a7ef16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6919a7ef16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658ebfc36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658ebfc36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6919a7ef16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6919a7ef16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5" name="Google Shape;37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7" name="Google Shape;17;p12"/>
          <p:cNvSpPr txBox="1"/>
          <p:nvPr>
            <p:ph idx="10" type="dt"/>
          </p:nvPr>
        </p:nvSpPr>
        <p:spPr>
          <a:xfrm>
            <a:off x="628650" y="486413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2" type="sldNum"/>
          </p:nvPr>
        </p:nvSpPr>
        <p:spPr>
          <a:xfrm>
            <a:off x="6457950" y="48696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 txBox="1"/>
          <p:nvPr>
            <p:ph type="title"/>
          </p:nvPr>
        </p:nvSpPr>
        <p:spPr>
          <a:xfrm>
            <a:off x="221633" y="205910"/>
            <a:ext cx="78882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4796"/>
              </a:buClr>
              <a:buSzPts val="2100"/>
              <a:buFont typeface="Calibri"/>
              <a:buNone/>
              <a:defRPr b="1" sz="2100">
                <a:solidFill>
                  <a:srgbClr val="26479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1"/>
          <p:cNvSpPr txBox="1"/>
          <p:nvPr>
            <p:ph type="title"/>
          </p:nvPr>
        </p:nvSpPr>
        <p:spPr>
          <a:xfrm>
            <a:off x="628650" y="115598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" type="body"/>
          </p:nvPr>
        </p:nvSpPr>
        <p:spPr>
          <a:xfrm>
            <a:off x="657223" y="1247965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"/>
          <p:cNvSpPr txBox="1"/>
          <p:nvPr>
            <p:ph type="title"/>
          </p:nvPr>
        </p:nvSpPr>
        <p:spPr>
          <a:xfrm>
            <a:off x="628650" y="115598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24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24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9" name="Google Shape;49;p24"/>
          <p:cNvSpPr txBox="1"/>
          <p:nvPr>
            <p:ph type="title"/>
          </p:nvPr>
        </p:nvSpPr>
        <p:spPr>
          <a:xfrm>
            <a:off x="628650" y="45245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4" name="Google Shape;54;p25"/>
          <p:cNvSpPr txBox="1"/>
          <p:nvPr>
            <p:ph type="title"/>
          </p:nvPr>
        </p:nvSpPr>
        <p:spPr>
          <a:xfrm>
            <a:off x="628650" y="45245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7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27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2" name="Google Shape;62;p27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3" name="Google Shape;63;p2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8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28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8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70" name="Google Shape;70;p2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4"/>
          <p:cNvSpPr txBox="1"/>
          <p:nvPr>
            <p:ph type="title"/>
          </p:nvPr>
        </p:nvSpPr>
        <p:spPr>
          <a:xfrm>
            <a:off x="628650" y="45245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>
            <p:ph idx="1" type="body"/>
          </p:nvPr>
        </p:nvSpPr>
        <p:spPr>
          <a:xfrm>
            <a:off x="628650" y="1255075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5"/>
          <p:cNvSpPr txBox="1"/>
          <p:nvPr>
            <p:ph type="title"/>
          </p:nvPr>
        </p:nvSpPr>
        <p:spPr>
          <a:xfrm>
            <a:off x="628650" y="45245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6" name="Google Shape;96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1" name="Google Shape;101;p18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2" name="Google Shape;102;p18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3" name="Google Shape;103;p18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4" name="Google Shape;104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7" name="Google Shape;107;p18"/>
          <p:cNvSpPr txBox="1"/>
          <p:nvPr>
            <p:ph type="title"/>
          </p:nvPr>
        </p:nvSpPr>
        <p:spPr>
          <a:xfrm>
            <a:off x="628650" y="45245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11" name="Google Shape;111;p19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2" name="Google Shape;112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0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9" name="Google Shape;119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628650" y="115598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657223" y="1247965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/>
          <p:nvPr/>
        </p:nvSpPr>
        <p:spPr>
          <a:xfrm>
            <a:off x="0" y="4817638"/>
            <a:ext cx="4600500" cy="325800"/>
          </a:xfrm>
          <a:prstGeom prst="rect">
            <a:avLst/>
          </a:prstGeom>
          <a:solidFill>
            <a:srgbClr val="F6821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;p11"/>
          <p:cNvSpPr/>
          <p:nvPr/>
        </p:nvSpPr>
        <p:spPr>
          <a:xfrm>
            <a:off x="4600573" y="4817638"/>
            <a:ext cx="4543500" cy="325800"/>
          </a:xfrm>
          <a:prstGeom prst="rect">
            <a:avLst/>
          </a:prstGeom>
          <a:solidFill>
            <a:srgbClr val="F6821C">
              <a:alpha val="37647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1"/>
          <p:cNvSpPr/>
          <p:nvPr/>
        </p:nvSpPr>
        <p:spPr>
          <a:xfrm>
            <a:off x="117185" y="-2184"/>
            <a:ext cx="353878" cy="641489"/>
          </a:xfrm>
          <a:prstGeom prst="flowChartOffpageConnector">
            <a:avLst/>
          </a:prstGeom>
          <a:solidFill>
            <a:srgbClr val="213D8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1"/>
          <p:cNvSpPr txBox="1"/>
          <p:nvPr>
            <p:ph idx="10" type="dt"/>
          </p:nvPr>
        </p:nvSpPr>
        <p:spPr>
          <a:xfrm>
            <a:off x="628650" y="484584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1" type="ftr"/>
          </p:nvPr>
        </p:nvSpPr>
        <p:spPr>
          <a:xfrm>
            <a:off x="3028950" y="484584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2" type="sldNum"/>
          </p:nvPr>
        </p:nvSpPr>
        <p:spPr>
          <a:xfrm>
            <a:off x="6457950" y="484584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idx="1" type="body"/>
          </p:nvPr>
        </p:nvSpPr>
        <p:spPr>
          <a:xfrm>
            <a:off x="628650" y="1255075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3"/>
          <p:cNvSpPr/>
          <p:nvPr/>
        </p:nvSpPr>
        <p:spPr>
          <a:xfrm>
            <a:off x="0" y="4817638"/>
            <a:ext cx="4600500" cy="325800"/>
          </a:xfrm>
          <a:prstGeom prst="rect">
            <a:avLst/>
          </a:prstGeom>
          <a:solidFill>
            <a:srgbClr val="26479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3"/>
          <p:cNvSpPr/>
          <p:nvPr/>
        </p:nvSpPr>
        <p:spPr>
          <a:xfrm>
            <a:off x="4600573" y="4817638"/>
            <a:ext cx="4543500" cy="325800"/>
          </a:xfrm>
          <a:prstGeom prst="rect">
            <a:avLst/>
          </a:prstGeom>
          <a:solidFill>
            <a:srgbClr val="264796">
              <a:alpha val="37647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3"/>
          <p:cNvSpPr/>
          <p:nvPr/>
        </p:nvSpPr>
        <p:spPr>
          <a:xfrm>
            <a:off x="117185" y="-2184"/>
            <a:ext cx="353878" cy="641489"/>
          </a:xfrm>
          <a:prstGeom prst="flowChartOffpageConnector">
            <a:avLst/>
          </a:prstGeom>
          <a:solidFill>
            <a:srgbClr val="F6821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3"/>
          <p:cNvSpPr txBox="1"/>
          <p:nvPr>
            <p:ph idx="10" type="dt"/>
          </p:nvPr>
        </p:nvSpPr>
        <p:spPr>
          <a:xfrm>
            <a:off x="628650" y="484584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3"/>
          <p:cNvSpPr txBox="1"/>
          <p:nvPr>
            <p:ph idx="11" type="ftr"/>
          </p:nvPr>
        </p:nvSpPr>
        <p:spPr>
          <a:xfrm>
            <a:off x="3028950" y="484584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13"/>
          <p:cNvSpPr txBox="1"/>
          <p:nvPr>
            <p:ph idx="12" type="sldNum"/>
          </p:nvPr>
        </p:nvSpPr>
        <p:spPr>
          <a:xfrm>
            <a:off x="6457950" y="484584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3"/>
          <p:cNvSpPr txBox="1"/>
          <p:nvPr>
            <p:ph type="title"/>
          </p:nvPr>
        </p:nvSpPr>
        <p:spPr>
          <a:xfrm>
            <a:off x="628650" y="104777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7.png"/><Relationship Id="rId7" Type="http://schemas.openxmlformats.org/officeDocument/2006/relationships/image" Target="../media/image21.png"/><Relationship Id="rId8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6.png"/><Relationship Id="rId7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10" Type="http://schemas.openxmlformats.org/officeDocument/2006/relationships/image" Target="../media/image28.png"/><Relationship Id="rId9" Type="http://schemas.openxmlformats.org/officeDocument/2006/relationships/image" Target="../media/image19.png"/><Relationship Id="rId5" Type="http://schemas.openxmlformats.org/officeDocument/2006/relationships/image" Target="../media/image13.png"/><Relationship Id="rId6" Type="http://schemas.openxmlformats.org/officeDocument/2006/relationships/image" Target="../media/image22.png"/><Relationship Id="rId7" Type="http://schemas.openxmlformats.org/officeDocument/2006/relationships/image" Target="../media/image24.png"/><Relationship Id="rId8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5.png"/><Relationship Id="rId9" Type="http://schemas.openxmlformats.org/officeDocument/2006/relationships/image" Target="../media/image26.png"/><Relationship Id="rId5" Type="http://schemas.openxmlformats.org/officeDocument/2006/relationships/image" Target="../media/image23.png"/><Relationship Id="rId6" Type="http://schemas.openxmlformats.org/officeDocument/2006/relationships/image" Target="../media/image29.png"/><Relationship Id="rId7" Type="http://schemas.openxmlformats.org/officeDocument/2006/relationships/image" Target="../media/image18.png"/><Relationship Id="rId8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7.png"/><Relationship Id="rId9" Type="http://schemas.openxmlformats.org/officeDocument/2006/relationships/image" Target="../media/image39.png"/><Relationship Id="rId5" Type="http://schemas.openxmlformats.org/officeDocument/2006/relationships/image" Target="../media/image36.png"/><Relationship Id="rId6" Type="http://schemas.openxmlformats.org/officeDocument/2006/relationships/image" Target="../media/image33.png"/><Relationship Id="rId7" Type="http://schemas.openxmlformats.org/officeDocument/2006/relationships/image" Target="../media/image40.png"/><Relationship Id="rId8" Type="http://schemas.openxmlformats.org/officeDocument/2006/relationships/image" Target="../media/image3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Relationship Id="rId5" Type="http://schemas.openxmlformats.org/officeDocument/2006/relationships/image" Target="../media/image31.png"/><Relationship Id="rId6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5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eamless pattern of isometric pentagons and network hub icons" id="127" name="Google Shape;1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93431" y="0"/>
            <a:ext cx="457322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"/>
          <p:cNvPicPr preferRelativeResize="0"/>
          <p:nvPr/>
        </p:nvPicPr>
        <p:blipFill rotWithShape="1">
          <a:blip r:embed="rId4">
            <a:alphaModFix/>
          </a:blip>
          <a:srcRect b="6809" l="26028" r="24366" t="3704"/>
          <a:stretch/>
        </p:blipFill>
        <p:spPr>
          <a:xfrm>
            <a:off x="484175" y="875750"/>
            <a:ext cx="795600" cy="79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"/>
          <p:cNvSpPr txBox="1"/>
          <p:nvPr/>
        </p:nvSpPr>
        <p:spPr>
          <a:xfrm>
            <a:off x="552892" y="2685658"/>
            <a:ext cx="391976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0" spcFirstLastPara="1" rIns="0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464"/>
              </a:buClr>
              <a:buSzPts val="1100"/>
              <a:buFont typeface="Calibri"/>
              <a:buNone/>
            </a:pPr>
            <a:r>
              <a:rPr i="0" lang="en-GB" sz="2100" u="none" cap="none" strike="noStrike">
                <a:solidFill>
                  <a:srgbClr val="213D83"/>
                </a:solidFill>
                <a:latin typeface="Calibri"/>
                <a:ea typeface="Calibri"/>
                <a:cs typeface="Calibri"/>
                <a:sym typeface="Calibri"/>
              </a:rPr>
              <a:t>Fake Test Certificate Prevention Solution | Way Forward</a:t>
            </a:r>
            <a:endParaRPr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423172" y="1898361"/>
            <a:ext cx="4049480" cy="6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D83"/>
              </a:buClr>
              <a:buSzPts val="4500"/>
              <a:buFont typeface="Calibri"/>
              <a:buNone/>
            </a:pPr>
            <a:r>
              <a:rPr b="1" i="0" lang="en-GB" sz="4500" u="none" cap="none" strike="noStrike">
                <a:solidFill>
                  <a:srgbClr val="213D83"/>
                </a:solidFill>
                <a:latin typeface="Calibri"/>
                <a:ea typeface="Calibri"/>
                <a:cs typeface="Calibri"/>
                <a:sym typeface="Calibri"/>
              </a:rPr>
              <a:t>TubesNxt</a:t>
            </a:r>
            <a:endParaRPr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4200872" y="898364"/>
            <a:ext cx="795600" cy="685800"/>
          </a:xfrm>
          <a:prstGeom prst="triangle">
            <a:avLst>
              <a:gd fmla="val 50000" name="adj"/>
            </a:avLst>
          </a:prstGeom>
          <a:solidFill>
            <a:srgbClr val="213D8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 rot="10800000">
            <a:off x="3997400" y="-75"/>
            <a:ext cx="1131600" cy="986700"/>
          </a:xfrm>
          <a:prstGeom prst="triangle">
            <a:avLst>
              <a:gd fmla="val 48684" name="adj"/>
            </a:avLst>
          </a:prstGeom>
          <a:solidFill>
            <a:srgbClr val="F6821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 rot="-5400000">
            <a:off x="-1499138" y="2570193"/>
            <a:ext cx="3553778" cy="33115"/>
          </a:xfrm>
          <a:custGeom>
            <a:rect b="b" l="l" r="r" t="t"/>
            <a:pathLst>
              <a:path extrusionOk="0" h="88900" w="11557000">
                <a:moveTo>
                  <a:pt x="11557000" y="0"/>
                </a:moveTo>
                <a:lnTo>
                  <a:pt x="0" y="0"/>
                </a:lnTo>
                <a:lnTo>
                  <a:pt x="0" y="88900"/>
                </a:lnTo>
                <a:lnTo>
                  <a:pt x="11557000" y="88900"/>
                </a:lnTo>
                <a:lnTo>
                  <a:pt x="11557000" y="0"/>
                </a:lnTo>
                <a:close/>
              </a:path>
            </a:pathLst>
          </a:custGeom>
          <a:solidFill>
            <a:srgbClr val="F6821C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 rot="-5400000">
            <a:off x="-473453" y="2574519"/>
            <a:ext cx="1502410" cy="33115"/>
          </a:xfrm>
          <a:custGeom>
            <a:rect b="b" l="l" r="r" t="t"/>
            <a:pathLst>
              <a:path extrusionOk="0" h="88900" w="11557000">
                <a:moveTo>
                  <a:pt x="11557000" y="0"/>
                </a:moveTo>
                <a:lnTo>
                  <a:pt x="0" y="0"/>
                </a:lnTo>
                <a:lnTo>
                  <a:pt x="0" y="88900"/>
                </a:lnTo>
                <a:lnTo>
                  <a:pt x="11557000" y="88900"/>
                </a:lnTo>
                <a:lnTo>
                  <a:pt x="11557000" y="0"/>
                </a:lnTo>
                <a:close/>
              </a:path>
            </a:pathLst>
          </a:custGeom>
          <a:solidFill>
            <a:srgbClr val="213D8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4593431" y="4817638"/>
            <a:ext cx="4573200" cy="325800"/>
          </a:xfrm>
          <a:prstGeom prst="rect">
            <a:avLst/>
          </a:prstGeom>
          <a:solidFill>
            <a:srgbClr val="F6821C">
              <a:alpha val="37647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"/>
          <p:cNvSpPr txBox="1"/>
          <p:nvPr>
            <p:ph type="title"/>
          </p:nvPr>
        </p:nvSpPr>
        <p:spPr>
          <a:xfrm>
            <a:off x="628650" y="28577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0" lang="en-GB"/>
              <a:t>Agenda</a:t>
            </a:r>
            <a:endParaRPr/>
          </a:p>
        </p:txBody>
      </p:sp>
      <p:pic>
        <p:nvPicPr>
          <p:cNvPr id="141" name="Google Shape;141;p2"/>
          <p:cNvPicPr preferRelativeResize="0"/>
          <p:nvPr/>
        </p:nvPicPr>
        <p:blipFill rotWithShape="1">
          <a:blip r:embed="rId3">
            <a:alphaModFix/>
          </a:blip>
          <a:srcRect b="0" l="18556" r="18556" t="0"/>
          <a:stretch/>
        </p:blipFill>
        <p:spPr>
          <a:xfrm>
            <a:off x="8078992" y="26194"/>
            <a:ext cx="795405" cy="70405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"/>
          <p:cNvSpPr txBox="1"/>
          <p:nvPr>
            <p:ph idx="12" type="sldNum"/>
          </p:nvPr>
        </p:nvSpPr>
        <p:spPr>
          <a:xfrm>
            <a:off x="6457950" y="4831811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143" name="Google Shape;143;p2"/>
          <p:cNvGrpSpPr/>
          <p:nvPr/>
        </p:nvGrpSpPr>
        <p:grpSpPr>
          <a:xfrm>
            <a:off x="1191816" y="959268"/>
            <a:ext cx="6760377" cy="3224962"/>
            <a:chOff x="972869" y="956405"/>
            <a:chExt cx="6760377" cy="3224962"/>
          </a:xfrm>
        </p:grpSpPr>
        <p:sp>
          <p:nvSpPr>
            <p:cNvPr id="144" name="Google Shape;144;p2"/>
            <p:cNvSpPr/>
            <p:nvPr/>
          </p:nvSpPr>
          <p:spPr>
            <a:xfrm>
              <a:off x="972869" y="956405"/>
              <a:ext cx="705000" cy="705000"/>
            </a:xfrm>
            <a:prstGeom prst="ellipse">
              <a:avLst/>
            </a:prstGeom>
            <a:solidFill>
              <a:srgbClr val="CCD3E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onnected" id="145" name="Google Shape;145;p2"/>
            <p:cNvSpPr/>
            <p:nvPr/>
          </p:nvSpPr>
          <p:spPr>
            <a:xfrm>
              <a:off x="1120923" y="1104459"/>
              <a:ext cx="408900" cy="4089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1828962" y="956405"/>
              <a:ext cx="2160374" cy="705017"/>
            </a:xfrm>
            <a:custGeom>
              <a:rect b="b" l="l" r="r" t="t"/>
              <a:pathLst>
                <a:path extrusionOk="0" h="705017" w="1661826">
                  <a:moveTo>
                    <a:pt x="0" y="0"/>
                  </a:moveTo>
                  <a:lnTo>
                    <a:pt x="1661826" y="0"/>
                  </a:lnTo>
                  <a:lnTo>
                    <a:pt x="1661826" y="705017"/>
                  </a:lnTo>
                  <a:lnTo>
                    <a:pt x="0" y="705017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 </a:t>
              </a:r>
              <a:r>
                <a:rPr b="1" i="0" lang="en-GB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Problem Statement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Counterfeit</a:t>
              </a: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TCs</a:t>
              </a:r>
              <a:r>
                <a:rPr b="0" i="0" lang="en-GB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harm revenue, trust, and brand reputation.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4716780" y="956405"/>
              <a:ext cx="705000" cy="705000"/>
            </a:xfrm>
            <a:prstGeom prst="ellipse">
              <a:avLst/>
            </a:prstGeom>
            <a:solidFill>
              <a:srgbClr val="CCD3E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Factory" id="148" name="Google Shape;148;p2"/>
            <p:cNvSpPr/>
            <p:nvPr/>
          </p:nvSpPr>
          <p:spPr>
            <a:xfrm>
              <a:off x="4864833" y="1104459"/>
              <a:ext cx="408900" cy="4089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5572872" y="956405"/>
              <a:ext cx="2160374" cy="705017"/>
            </a:xfrm>
            <a:custGeom>
              <a:rect b="b" l="l" r="r" t="t"/>
              <a:pathLst>
                <a:path extrusionOk="0" h="705017" w="1661826">
                  <a:moveTo>
                    <a:pt x="0" y="0"/>
                  </a:moveTo>
                  <a:lnTo>
                    <a:pt x="1661826" y="0"/>
                  </a:lnTo>
                  <a:lnTo>
                    <a:pt x="1661826" y="705017"/>
                  </a:lnTo>
                  <a:lnTo>
                    <a:pt x="0" y="705017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2. </a:t>
              </a:r>
              <a:r>
                <a:rPr b="1" i="0" lang="en-GB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Implemented Process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Distributor orders, manufacturer delivers goods with Test Certificate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972869" y="2216372"/>
              <a:ext cx="705000" cy="705000"/>
            </a:xfrm>
            <a:prstGeom prst="ellipse">
              <a:avLst/>
            </a:prstGeom>
            <a:solidFill>
              <a:srgbClr val="CCD3E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Workflow" id="151" name="Google Shape;151;p2"/>
            <p:cNvSpPr/>
            <p:nvPr/>
          </p:nvSpPr>
          <p:spPr>
            <a:xfrm>
              <a:off x="1120923" y="2364425"/>
              <a:ext cx="408900" cy="4089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1828962" y="2216372"/>
              <a:ext cx="2160374" cy="705017"/>
            </a:xfrm>
            <a:custGeom>
              <a:rect b="b" l="l" r="r" t="t"/>
              <a:pathLst>
                <a:path extrusionOk="0" h="705017" w="1661826">
                  <a:moveTo>
                    <a:pt x="0" y="0"/>
                  </a:moveTo>
                  <a:lnTo>
                    <a:pt x="1661826" y="0"/>
                  </a:lnTo>
                  <a:lnTo>
                    <a:pt x="1661826" y="705017"/>
                  </a:lnTo>
                  <a:lnTo>
                    <a:pt x="0" y="705017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3. Process Flow Diagram</a:t>
              </a:r>
              <a:endParaRPr b="1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Illustration of how TCs are currently managed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4716780" y="2216372"/>
              <a:ext cx="705000" cy="705000"/>
            </a:xfrm>
            <a:prstGeom prst="ellipse">
              <a:avLst/>
            </a:prstGeom>
            <a:solidFill>
              <a:srgbClr val="CCD3E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Processor" id="154" name="Google Shape;154;p2"/>
            <p:cNvSpPr/>
            <p:nvPr/>
          </p:nvSpPr>
          <p:spPr>
            <a:xfrm>
              <a:off x="4864833" y="2364425"/>
              <a:ext cx="408900" cy="4089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5572865" y="2216375"/>
              <a:ext cx="2160374" cy="705017"/>
            </a:xfrm>
            <a:custGeom>
              <a:rect b="b" l="l" r="r" t="t"/>
              <a:pathLst>
                <a:path extrusionOk="0" h="705017" w="1661826">
                  <a:moveTo>
                    <a:pt x="0" y="0"/>
                  </a:moveTo>
                  <a:lnTo>
                    <a:pt x="1661826" y="0"/>
                  </a:lnTo>
                  <a:lnTo>
                    <a:pt x="1661826" y="705017"/>
                  </a:lnTo>
                  <a:lnTo>
                    <a:pt x="0" y="705017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4. Benefits of Implemented Process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Enhanced security &amp; transparency 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972869" y="3476338"/>
              <a:ext cx="705000" cy="705000"/>
            </a:xfrm>
            <a:prstGeom prst="ellipse">
              <a:avLst/>
            </a:prstGeom>
            <a:solidFill>
              <a:srgbClr val="CCD3E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Finger Print" id="157" name="Google Shape;157;p2"/>
            <p:cNvSpPr/>
            <p:nvPr/>
          </p:nvSpPr>
          <p:spPr>
            <a:xfrm>
              <a:off x="1120923" y="3624392"/>
              <a:ext cx="408900" cy="4089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1828965" y="3476350"/>
              <a:ext cx="2160374" cy="705017"/>
            </a:xfrm>
            <a:custGeom>
              <a:rect b="b" l="l" r="r" t="t"/>
              <a:pathLst>
                <a:path extrusionOk="0" h="705017" w="1661826">
                  <a:moveTo>
                    <a:pt x="0" y="0"/>
                  </a:moveTo>
                  <a:lnTo>
                    <a:pt x="1661826" y="0"/>
                  </a:lnTo>
                  <a:lnTo>
                    <a:pt x="1661826" y="705017"/>
                  </a:lnTo>
                  <a:lnTo>
                    <a:pt x="0" y="705017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5. Way Forward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AI/ML Integration, user friendly, scalable, and blockchain secured.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4716780" y="3476338"/>
              <a:ext cx="705000" cy="705000"/>
            </a:xfrm>
            <a:prstGeom prst="ellipse">
              <a:avLst/>
            </a:prstGeom>
            <a:solidFill>
              <a:srgbClr val="CCD3E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Judge" id="160" name="Google Shape;160;p2"/>
            <p:cNvSpPr/>
            <p:nvPr/>
          </p:nvSpPr>
          <p:spPr>
            <a:xfrm>
              <a:off x="4864833" y="3624392"/>
              <a:ext cx="408900" cy="40890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5572872" y="3476338"/>
              <a:ext cx="2160374" cy="705017"/>
            </a:xfrm>
            <a:custGeom>
              <a:rect b="b" l="l" r="r" t="t"/>
              <a:pathLst>
                <a:path extrusionOk="0" h="705017" w="1661826">
                  <a:moveTo>
                    <a:pt x="0" y="0"/>
                  </a:moveTo>
                  <a:lnTo>
                    <a:pt x="1661826" y="0"/>
                  </a:lnTo>
                  <a:lnTo>
                    <a:pt x="1661826" y="705017"/>
                  </a:lnTo>
                  <a:lnTo>
                    <a:pt x="0" y="705017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6. </a:t>
              </a:r>
              <a:r>
                <a:rPr b="1" i="0" lang="en-GB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Conclusion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Trusted, scalable platform securing products, boosting efficiency,  brand value, and convenience.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"/>
          <p:cNvSpPr txBox="1"/>
          <p:nvPr>
            <p:ph idx="12" type="sldNum"/>
          </p:nvPr>
        </p:nvSpPr>
        <p:spPr>
          <a:xfrm>
            <a:off x="6457950" y="4831811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167" name="Google Shape;167;p3"/>
          <p:cNvGrpSpPr/>
          <p:nvPr/>
        </p:nvGrpSpPr>
        <p:grpSpPr>
          <a:xfrm>
            <a:off x="628632" y="1507999"/>
            <a:ext cx="7886718" cy="2485791"/>
            <a:chOff x="628632" y="1347636"/>
            <a:chExt cx="7886718" cy="2485791"/>
          </a:xfrm>
        </p:grpSpPr>
        <p:grpSp>
          <p:nvGrpSpPr>
            <p:cNvPr id="168" name="Google Shape;168;p3"/>
            <p:cNvGrpSpPr/>
            <p:nvPr/>
          </p:nvGrpSpPr>
          <p:grpSpPr>
            <a:xfrm>
              <a:off x="4701605" y="1347636"/>
              <a:ext cx="1777259" cy="2316499"/>
              <a:chOff x="6635259" y="1343075"/>
              <a:chExt cx="1880100" cy="2623145"/>
            </a:xfrm>
          </p:grpSpPr>
          <p:pic>
            <p:nvPicPr>
              <p:cNvPr descr="12,400+ Business Threats Stock Illustrations, Royalty-Free Vector Graphics  &amp; Clip Art - iStock | Swot, Opportunities, Diagnosis" id="169" name="Google Shape;169;p3"/>
              <p:cNvPicPr preferRelativeResize="0"/>
              <p:nvPr/>
            </p:nvPicPr>
            <p:blipFill rotWithShape="1">
              <a:blip r:embed="rId3">
                <a:alphaModFix/>
              </a:blip>
              <a:srcRect b="0" l="22432" r="25210" t="21464"/>
              <a:stretch/>
            </p:blipFill>
            <p:spPr>
              <a:xfrm>
                <a:off x="6834240" y="1343075"/>
                <a:ext cx="1482004" cy="14568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0" name="Google Shape;170;p3"/>
              <p:cNvSpPr txBox="1"/>
              <p:nvPr/>
            </p:nvSpPr>
            <p:spPr>
              <a:xfrm>
                <a:off x="6832208" y="2844453"/>
                <a:ext cx="1486200" cy="19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GB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Threat to Brand Image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3"/>
              <p:cNvSpPr txBox="1"/>
              <p:nvPr/>
            </p:nvSpPr>
            <p:spPr>
              <a:xfrm>
                <a:off x="6635259" y="3286420"/>
                <a:ext cx="1880100" cy="67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GB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Forged certificates damage </a:t>
                </a:r>
                <a:r>
                  <a:rPr lang="en-GB" sz="1100">
                    <a:latin typeface="Calibri"/>
                    <a:ea typeface="Calibri"/>
                    <a:cs typeface="Calibri"/>
                    <a:sym typeface="Calibri"/>
                  </a:rPr>
                  <a:t>TSL’s </a:t>
                </a:r>
                <a:r>
                  <a:rPr i="0" lang="en-GB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reputation and consumer trust.</a:t>
                </a:r>
                <a:endParaRPr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" name="Google Shape;172;p3"/>
            <p:cNvGrpSpPr/>
            <p:nvPr/>
          </p:nvGrpSpPr>
          <p:grpSpPr>
            <a:xfrm flipH="1">
              <a:off x="628632" y="1347637"/>
              <a:ext cx="1777259" cy="2316499"/>
              <a:chOff x="4548664" y="1370875"/>
              <a:chExt cx="1880100" cy="2623145"/>
            </a:xfrm>
          </p:grpSpPr>
          <p:pic>
            <p:nvPicPr>
              <p:cNvPr descr="2,630 Bad Reputation Stock Vectors and Vector Art | Shutterstock" id="173" name="Google Shape;173;p3"/>
              <p:cNvPicPr preferRelativeResize="0"/>
              <p:nvPr/>
            </p:nvPicPr>
            <p:blipFill rotWithShape="1">
              <a:blip r:embed="rId4">
                <a:alphaModFix/>
              </a:blip>
              <a:srcRect b="5400" l="11446" r="12182" t="18228"/>
              <a:stretch/>
            </p:blipFill>
            <p:spPr>
              <a:xfrm flipH="1">
                <a:off x="4747645" y="1370875"/>
                <a:ext cx="1482003" cy="14568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4" name="Google Shape;174;p3"/>
              <p:cNvSpPr txBox="1"/>
              <p:nvPr/>
            </p:nvSpPr>
            <p:spPr>
              <a:xfrm>
                <a:off x="4745612" y="2872253"/>
                <a:ext cx="1486200" cy="38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GB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Proliferation of Counterfeit Products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3"/>
              <p:cNvSpPr txBox="1"/>
              <p:nvPr/>
            </p:nvSpPr>
            <p:spPr>
              <a:xfrm>
                <a:off x="4548664" y="3314220"/>
                <a:ext cx="1880100" cy="67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GB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Lack of secure verification allows fake products to enter the market.</a:t>
                </a:r>
                <a:endParaRPr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6" name="Google Shape;176;p3"/>
            <p:cNvGrpSpPr/>
            <p:nvPr/>
          </p:nvGrpSpPr>
          <p:grpSpPr>
            <a:xfrm flipH="1">
              <a:off x="2665119" y="1347637"/>
              <a:ext cx="1777259" cy="2485790"/>
              <a:chOff x="2546419" y="1370875"/>
              <a:chExt cx="1880100" cy="2814845"/>
            </a:xfrm>
          </p:grpSpPr>
          <p:pic>
            <p:nvPicPr>
              <p:cNvPr descr="Businessman Hand Holding Big Money Bag Of Revenue Being Slitted With Dollar  Coin Loss With The Word Tax Illustration - Free Download Business  Illustrations | IconScout" id="177" name="Google Shape;177;p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>
                <a:off x="2745401" y="1370875"/>
                <a:ext cx="1482004" cy="145682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8" name="Google Shape;178;p3"/>
              <p:cNvSpPr txBox="1"/>
              <p:nvPr/>
            </p:nvSpPr>
            <p:spPr>
              <a:xfrm>
                <a:off x="2743368" y="2872253"/>
                <a:ext cx="1486200" cy="38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GB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Misuse of Brand Reputation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3"/>
              <p:cNvSpPr txBox="1"/>
              <p:nvPr/>
            </p:nvSpPr>
            <p:spPr>
              <a:xfrm>
                <a:off x="2546419" y="3314220"/>
                <a:ext cx="1880100" cy="8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GB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Counterfeiters leverage TSL’s brand by selling unauthorised, low-quality products.</a:t>
                </a:r>
                <a:endParaRPr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" name="Google Shape;180;p3"/>
            <p:cNvGrpSpPr/>
            <p:nvPr/>
          </p:nvGrpSpPr>
          <p:grpSpPr>
            <a:xfrm flipH="1">
              <a:off x="6738091" y="1347637"/>
              <a:ext cx="1777259" cy="2316499"/>
              <a:chOff x="544175" y="1370875"/>
              <a:chExt cx="1880100" cy="2623145"/>
            </a:xfrm>
          </p:grpSpPr>
          <p:pic>
            <p:nvPicPr>
              <p:cNvPr descr="30+ Counterfeit Products Online Stock Illustrations, Royalty-Free Vector  Graphics &amp; Clip Art - iStock" id="181" name="Google Shape;181;p3"/>
              <p:cNvPicPr preferRelativeResize="0"/>
              <p:nvPr/>
            </p:nvPicPr>
            <p:blipFill rotWithShape="1">
              <a:blip r:embed="rId6">
                <a:alphaModFix/>
              </a:blip>
              <a:srcRect b="18596" l="18397" r="18846" t="18648"/>
              <a:stretch/>
            </p:blipFill>
            <p:spPr>
              <a:xfrm flipH="1">
                <a:off x="743156" y="1370875"/>
                <a:ext cx="1482004" cy="145682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2" name="Google Shape;182;p3"/>
              <p:cNvSpPr txBox="1"/>
              <p:nvPr/>
            </p:nvSpPr>
            <p:spPr>
              <a:xfrm>
                <a:off x="741124" y="2872253"/>
                <a:ext cx="1486200" cy="19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GB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Revenue Loss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3"/>
              <p:cNvSpPr txBox="1"/>
              <p:nvPr/>
            </p:nvSpPr>
            <p:spPr>
              <a:xfrm>
                <a:off x="544175" y="3314220"/>
                <a:ext cx="1880100" cy="67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latin typeface="Calibri"/>
                    <a:ea typeface="Calibri"/>
                    <a:cs typeface="Calibri"/>
                    <a:sym typeface="Calibri"/>
                  </a:rPr>
                  <a:t>Demand &amp; supply have been </a:t>
                </a:r>
                <a:r>
                  <a:rPr lang="en-GB" sz="1100">
                    <a:latin typeface="Calibri"/>
                    <a:ea typeface="Calibri"/>
                    <a:cs typeface="Calibri"/>
                    <a:sym typeface="Calibri"/>
                  </a:rPr>
                  <a:t>fulfilled</a:t>
                </a:r>
                <a:r>
                  <a:rPr lang="en-GB" sz="1100">
                    <a:latin typeface="Calibri"/>
                    <a:ea typeface="Calibri"/>
                    <a:cs typeface="Calibri"/>
                    <a:sym typeface="Calibri"/>
                  </a:rPr>
                  <a:t> by counterfeit products.</a:t>
                </a:r>
                <a:endParaRPr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84" name="Google Shape;184;p3"/>
          <p:cNvSpPr txBox="1"/>
          <p:nvPr>
            <p:ph type="title"/>
          </p:nvPr>
        </p:nvSpPr>
        <p:spPr>
          <a:xfrm>
            <a:off x="628650" y="28577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0" lang="en-GB"/>
              <a:t>Problem Statement</a:t>
            </a:r>
            <a:endParaRPr/>
          </a:p>
        </p:txBody>
      </p:sp>
      <p:pic>
        <p:nvPicPr>
          <p:cNvPr id="185" name="Google Shape;185;p3"/>
          <p:cNvPicPr preferRelativeResize="0"/>
          <p:nvPr/>
        </p:nvPicPr>
        <p:blipFill rotWithShape="1">
          <a:blip r:embed="rId7">
            <a:alphaModFix/>
          </a:blip>
          <a:srcRect b="0" l="18558" r="18552" t="0"/>
          <a:stretch/>
        </p:blipFill>
        <p:spPr>
          <a:xfrm>
            <a:off x="8078992" y="26194"/>
            <a:ext cx="795405" cy="704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"/>
          <p:cNvSpPr txBox="1"/>
          <p:nvPr>
            <p:ph idx="12" type="sldNum"/>
          </p:nvPr>
        </p:nvSpPr>
        <p:spPr>
          <a:xfrm>
            <a:off x="6457950" y="4831811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1" name="Google Shape;191;p4"/>
          <p:cNvSpPr txBox="1"/>
          <p:nvPr>
            <p:ph type="title"/>
          </p:nvPr>
        </p:nvSpPr>
        <p:spPr>
          <a:xfrm>
            <a:off x="628650" y="28577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0" lang="en-GB"/>
              <a:t>Implemented Solution</a:t>
            </a:r>
            <a:endParaRPr/>
          </a:p>
        </p:txBody>
      </p:sp>
      <p:pic>
        <p:nvPicPr>
          <p:cNvPr id="192" name="Google Shape;192;p4"/>
          <p:cNvPicPr preferRelativeResize="0"/>
          <p:nvPr/>
        </p:nvPicPr>
        <p:blipFill rotWithShape="1">
          <a:blip r:embed="rId3">
            <a:alphaModFix/>
          </a:blip>
          <a:srcRect b="0" l="18558" r="18552" t="0"/>
          <a:stretch/>
        </p:blipFill>
        <p:spPr>
          <a:xfrm>
            <a:off x="8078992" y="26194"/>
            <a:ext cx="795405" cy="7040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p4"/>
          <p:cNvGrpSpPr/>
          <p:nvPr/>
        </p:nvGrpSpPr>
        <p:grpSpPr>
          <a:xfrm>
            <a:off x="691200" y="857524"/>
            <a:ext cx="2232000" cy="1705513"/>
            <a:chOff x="691200" y="857525"/>
            <a:chExt cx="2232000" cy="1705513"/>
          </a:xfrm>
        </p:grpSpPr>
        <p:sp>
          <p:nvSpPr>
            <p:cNvPr id="194" name="Google Shape;194;p4"/>
            <p:cNvSpPr txBox="1"/>
            <p:nvPr/>
          </p:nvSpPr>
          <p:spPr>
            <a:xfrm>
              <a:off x="691200" y="1670238"/>
              <a:ext cx="2232000" cy="89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46800" spcFirstLastPara="1" rIns="468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n-GB" sz="1300">
                  <a:latin typeface="Calibri"/>
                  <a:ea typeface="Calibri"/>
                  <a:cs typeface="Calibri"/>
                  <a:sym typeface="Calibri"/>
                </a:rPr>
                <a:t>Hyperledger Fabric Framework</a:t>
              </a:r>
              <a:endParaRPr sz="1300"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GB" sz="1300">
                  <a:latin typeface="Calibri"/>
                  <a:ea typeface="Calibri"/>
                  <a:cs typeface="Calibri"/>
                  <a:sym typeface="Calibri"/>
                </a:rPr>
                <a:t>Permissioned blockchain allowing access only to authorized entities.</a:t>
              </a:r>
              <a:endParaRPr sz="1300"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 blue screen with white text&#10;&#10;AI-generated content may be incorrect." id="195" name="Google Shape;195;p4"/>
            <p:cNvPicPr preferRelativeResize="0"/>
            <p:nvPr/>
          </p:nvPicPr>
          <p:blipFill rotWithShape="1">
            <a:blip r:embed="rId4">
              <a:alphaModFix/>
            </a:blip>
            <a:srcRect b="65595" l="7869" r="83160" t="20840"/>
            <a:stretch/>
          </p:blipFill>
          <p:spPr>
            <a:xfrm>
              <a:off x="1444350" y="857525"/>
              <a:ext cx="725700" cy="731400"/>
            </a:xfrm>
            <a:prstGeom prst="ellipse">
              <a:avLst/>
            </a:prstGeom>
            <a:noFill/>
            <a:ln>
              <a:noFill/>
            </a:ln>
          </p:spPr>
        </p:pic>
      </p:grpSp>
      <p:grpSp>
        <p:nvGrpSpPr>
          <p:cNvPr id="196" name="Google Shape;196;p4"/>
          <p:cNvGrpSpPr/>
          <p:nvPr/>
        </p:nvGrpSpPr>
        <p:grpSpPr>
          <a:xfrm>
            <a:off x="3487275" y="2826799"/>
            <a:ext cx="2232000" cy="1505413"/>
            <a:chOff x="3169138" y="2877100"/>
            <a:chExt cx="2232000" cy="1505413"/>
          </a:xfrm>
        </p:grpSpPr>
        <p:sp>
          <p:nvSpPr>
            <p:cNvPr id="197" name="Google Shape;197;p4"/>
            <p:cNvSpPr txBox="1"/>
            <p:nvPr/>
          </p:nvSpPr>
          <p:spPr>
            <a:xfrm>
              <a:off x="3169138" y="3689813"/>
              <a:ext cx="22320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46800" spcFirstLastPara="1" rIns="468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n-GB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Digitally Signed TCs</a:t>
              </a:r>
              <a:endParaRPr sz="1300"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GB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Embeds digital signatures to guarantee authenticity.</a:t>
              </a:r>
              <a:endParaRPr sz="1300"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98" name="Google Shape;198;p4"/>
            <p:cNvPicPr preferRelativeResize="0"/>
            <p:nvPr/>
          </p:nvPicPr>
          <p:blipFill rotWithShape="1">
            <a:blip r:embed="rId4">
              <a:alphaModFix/>
            </a:blip>
            <a:srcRect b="47314" l="7807" r="83056" t="38935"/>
            <a:stretch/>
          </p:blipFill>
          <p:spPr>
            <a:xfrm>
              <a:off x="3920638" y="2877100"/>
              <a:ext cx="729000" cy="731400"/>
            </a:xfrm>
            <a:prstGeom prst="ellipse">
              <a:avLst/>
            </a:prstGeom>
            <a:noFill/>
            <a:ln>
              <a:noFill/>
            </a:ln>
          </p:spPr>
        </p:pic>
      </p:grpSp>
      <p:grpSp>
        <p:nvGrpSpPr>
          <p:cNvPr id="199" name="Google Shape;199;p4"/>
          <p:cNvGrpSpPr/>
          <p:nvPr/>
        </p:nvGrpSpPr>
        <p:grpSpPr>
          <a:xfrm>
            <a:off x="6283350" y="857524"/>
            <a:ext cx="2232000" cy="1905613"/>
            <a:chOff x="6283350" y="857525"/>
            <a:chExt cx="2232000" cy="1905613"/>
          </a:xfrm>
        </p:grpSpPr>
        <p:sp>
          <p:nvSpPr>
            <p:cNvPr id="200" name="Google Shape;200;p4"/>
            <p:cNvSpPr txBox="1"/>
            <p:nvPr/>
          </p:nvSpPr>
          <p:spPr>
            <a:xfrm>
              <a:off x="6283350" y="1670238"/>
              <a:ext cx="2232000" cy="109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46800" spcFirstLastPara="1" rIns="468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n-GB" sz="1300">
                  <a:latin typeface="Calibri"/>
                  <a:ea typeface="Calibri"/>
                  <a:cs typeface="Calibri"/>
                  <a:sym typeface="Calibri"/>
                </a:rPr>
                <a:t>Immutable Audit Trail</a:t>
              </a:r>
              <a:endParaRPr sz="1300"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GB" sz="1300">
                  <a:latin typeface="Calibri"/>
                  <a:ea typeface="Calibri"/>
                  <a:cs typeface="Calibri"/>
                  <a:sym typeface="Calibri"/>
                </a:rPr>
                <a:t>Every TC action—issuance, linking, and verification—is permanently recorded for full traceability</a:t>
              </a:r>
              <a:r>
                <a:rPr i="0" lang="en-GB" sz="13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300"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 blue screen with white text&#10;&#10;AI-generated content may be incorrect." id="201" name="Google Shape;201;p4"/>
            <p:cNvPicPr preferRelativeResize="0"/>
            <p:nvPr/>
          </p:nvPicPr>
          <p:blipFill rotWithShape="1">
            <a:blip r:embed="rId4">
              <a:alphaModFix/>
            </a:blip>
            <a:srcRect b="65595" l="7869" r="83159" t="20839"/>
            <a:stretch/>
          </p:blipFill>
          <p:spPr>
            <a:xfrm>
              <a:off x="7036500" y="857525"/>
              <a:ext cx="725700" cy="731400"/>
            </a:xfrm>
            <a:prstGeom prst="ellipse">
              <a:avLst/>
            </a:prstGeom>
            <a:noFill/>
            <a:ln>
              <a:noFill/>
            </a:ln>
          </p:spPr>
        </p:pic>
      </p:grpSp>
      <p:grpSp>
        <p:nvGrpSpPr>
          <p:cNvPr id="202" name="Google Shape;202;p4"/>
          <p:cNvGrpSpPr/>
          <p:nvPr/>
        </p:nvGrpSpPr>
        <p:grpSpPr>
          <a:xfrm>
            <a:off x="691200" y="2826800"/>
            <a:ext cx="2232000" cy="1705513"/>
            <a:chOff x="3169138" y="857525"/>
            <a:chExt cx="2232000" cy="1705513"/>
          </a:xfrm>
        </p:grpSpPr>
        <p:sp>
          <p:nvSpPr>
            <p:cNvPr id="203" name="Google Shape;203;p4"/>
            <p:cNvSpPr txBox="1"/>
            <p:nvPr/>
          </p:nvSpPr>
          <p:spPr>
            <a:xfrm>
              <a:off x="3169138" y="1670238"/>
              <a:ext cx="2232000" cy="89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46800" spcFirstLastPara="1" rIns="46800" wrap="square" tIns="457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lang="en-GB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Ownership Tracking</a:t>
              </a:r>
              <a:endParaRPr sz="1300"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Tracks TC ownership history to ensure accountability and legitimacy.</a:t>
              </a:r>
              <a:endParaRPr sz="1300"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 blue circle with a pen and a computer screen&#10;&#10;AI-generated content may be incorrect." id="204" name="Google Shape;204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919377" y="857524"/>
              <a:ext cx="731520" cy="7315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5" name="Google Shape;205;p4"/>
          <p:cNvGrpSpPr/>
          <p:nvPr/>
        </p:nvGrpSpPr>
        <p:grpSpPr>
          <a:xfrm>
            <a:off x="6283350" y="2826799"/>
            <a:ext cx="2232000" cy="1505413"/>
            <a:chOff x="6283350" y="2877100"/>
            <a:chExt cx="2232000" cy="1505413"/>
          </a:xfrm>
        </p:grpSpPr>
        <p:sp>
          <p:nvSpPr>
            <p:cNvPr id="206" name="Google Shape;206;p4"/>
            <p:cNvSpPr txBox="1"/>
            <p:nvPr/>
          </p:nvSpPr>
          <p:spPr>
            <a:xfrm>
              <a:off x="6283350" y="3689813"/>
              <a:ext cx="22320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46800" spcFirstLastPara="1" rIns="468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n-GB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Digitally Ecosystem</a:t>
              </a:r>
              <a:endParaRPr sz="1300"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GB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Unified platform connecting TSL, distributors, &amp; buyers.</a:t>
              </a:r>
              <a:endParaRPr sz="1300"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07" name="Google Shape;207;p4"/>
            <p:cNvPicPr preferRelativeResize="0"/>
            <p:nvPr/>
          </p:nvPicPr>
          <p:blipFill rotWithShape="1">
            <a:blip r:embed="rId4">
              <a:alphaModFix/>
            </a:blip>
            <a:srcRect b="47314" l="7807" r="83056" t="38934"/>
            <a:stretch/>
          </p:blipFill>
          <p:spPr>
            <a:xfrm>
              <a:off x="7034850" y="2877100"/>
              <a:ext cx="729000" cy="731400"/>
            </a:xfrm>
            <a:prstGeom prst="ellipse">
              <a:avLst/>
            </a:prstGeom>
            <a:noFill/>
            <a:ln>
              <a:noFill/>
            </a:ln>
          </p:spPr>
        </p:pic>
      </p:grpSp>
      <p:grpSp>
        <p:nvGrpSpPr>
          <p:cNvPr id="208" name="Google Shape;208;p4"/>
          <p:cNvGrpSpPr/>
          <p:nvPr/>
        </p:nvGrpSpPr>
        <p:grpSpPr>
          <a:xfrm>
            <a:off x="3487275" y="857524"/>
            <a:ext cx="2232000" cy="1705526"/>
            <a:chOff x="628650" y="2877100"/>
            <a:chExt cx="2232000" cy="1705526"/>
          </a:xfrm>
        </p:grpSpPr>
        <p:sp>
          <p:nvSpPr>
            <p:cNvPr id="209" name="Google Shape;209;p4"/>
            <p:cNvSpPr txBox="1"/>
            <p:nvPr/>
          </p:nvSpPr>
          <p:spPr>
            <a:xfrm>
              <a:off x="628650" y="3689825"/>
              <a:ext cx="2232000" cy="89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46800" spcFirstLastPara="1" rIns="468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n-GB" sz="1300">
                  <a:latin typeface="Calibri"/>
                  <a:ea typeface="Calibri"/>
                  <a:cs typeface="Calibri"/>
                  <a:sym typeface="Calibri"/>
                </a:rPr>
                <a:t>Inventory Insights for Distributors</a:t>
              </a:r>
              <a:endParaRPr sz="1300"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GB" sz="1300">
                  <a:latin typeface="Calibri"/>
                  <a:ea typeface="Calibri"/>
                  <a:cs typeface="Calibri"/>
                  <a:sym typeface="Calibri"/>
                </a:rPr>
                <a:t>TC-linked data helps plan, track, and reorder efficiently.</a:t>
              </a:r>
              <a:endParaRPr sz="1300"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 blue screen with white text&#10;&#10;AI-generated content may be incorrect." id="210" name="Google Shape;210;p4"/>
            <p:cNvPicPr preferRelativeResize="0"/>
            <p:nvPr/>
          </p:nvPicPr>
          <p:blipFill rotWithShape="1">
            <a:blip r:embed="rId4">
              <a:alphaModFix/>
            </a:blip>
            <a:srcRect b="65595" l="7869" r="83159" t="20839"/>
            <a:stretch/>
          </p:blipFill>
          <p:spPr>
            <a:xfrm>
              <a:off x="1444350" y="2877100"/>
              <a:ext cx="725700" cy="73140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6919a7ef16_0_42"/>
          <p:cNvSpPr txBox="1"/>
          <p:nvPr>
            <p:ph idx="12" type="sldNum"/>
          </p:nvPr>
        </p:nvSpPr>
        <p:spPr>
          <a:xfrm>
            <a:off x="6457950" y="4831811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6" name="Google Shape;216;g36919a7ef16_0_42"/>
          <p:cNvSpPr txBox="1"/>
          <p:nvPr>
            <p:ph type="title"/>
          </p:nvPr>
        </p:nvSpPr>
        <p:spPr>
          <a:xfrm>
            <a:off x="628650" y="28577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0" lang="en-GB"/>
              <a:t>Process Flow Diagram</a:t>
            </a:r>
            <a:endParaRPr/>
          </a:p>
        </p:txBody>
      </p:sp>
      <p:pic>
        <p:nvPicPr>
          <p:cNvPr id="217" name="Google Shape;217;g36919a7ef16_0_42"/>
          <p:cNvPicPr preferRelativeResize="0"/>
          <p:nvPr/>
        </p:nvPicPr>
        <p:blipFill rotWithShape="1">
          <a:blip r:embed="rId3">
            <a:alphaModFix/>
          </a:blip>
          <a:srcRect b="0" l="18558" r="18552" t="0"/>
          <a:stretch/>
        </p:blipFill>
        <p:spPr>
          <a:xfrm>
            <a:off x="8078992" y="26194"/>
            <a:ext cx="795405" cy="7040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8" name="Google Shape;218;g36919a7ef16_0_42"/>
          <p:cNvGrpSpPr/>
          <p:nvPr/>
        </p:nvGrpSpPr>
        <p:grpSpPr>
          <a:xfrm>
            <a:off x="628650" y="981114"/>
            <a:ext cx="7886748" cy="3556348"/>
            <a:chOff x="628650" y="981114"/>
            <a:chExt cx="7886748" cy="3556348"/>
          </a:xfrm>
        </p:grpSpPr>
        <p:sp>
          <p:nvSpPr>
            <p:cNvPr id="219" name="Google Shape;219;g36919a7ef16_0_42"/>
            <p:cNvSpPr/>
            <p:nvPr/>
          </p:nvSpPr>
          <p:spPr>
            <a:xfrm>
              <a:off x="628650" y="981114"/>
              <a:ext cx="1134000" cy="10974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GB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Distributor Internal System</a:t>
              </a:r>
              <a:endParaRPr sz="12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g36919a7ef16_0_42"/>
            <p:cNvSpPr/>
            <p:nvPr/>
          </p:nvSpPr>
          <p:spPr>
            <a:xfrm>
              <a:off x="628650" y="2210589"/>
              <a:ext cx="1134000" cy="10974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Tata Steel’s SAP system</a:t>
              </a:r>
              <a:endParaRPr sz="12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g36919a7ef16_0_42"/>
            <p:cNvSpPr/>
            <p:nvPr/>
          </p:nvSpPr>
          <p:spPr>
            <a:xfrm>
              <a:off x="628650" y="3440062"/>
              <a:ext cx="1134000" cy="1097400"/>
            </a:xfrm>
            <a:prstGeom prst="rect">
              <a:avLst/>
            </a:prstGeom>
            <a:solidFill>
              <a:srgbClr val="6190BA"/>
            </a:solidFill>
            <a:ln cap="flat" cmpd="sng" w="9525">
              <a:solidFill>
                <a:srgbClr val="175975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Vara’s </a:t>
              </a:r>
              <a:r>
                <a:rPr b="1" lang="en-GB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TubesNxt </a:t>
              </a:r>
              <a:r>
                <a:rPr lang="en-GB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Platform</a:t>
              </a:r>
              <a:endParaRPr/>
            </a:p>
          </p:txBody>
        </p:sp>
        <p:sp>
          <p:nvSpPr>
            <p:cNvPr id="222" name="Google Shape;222;g36919a7ef16_0_42"/>
            <p:cNvSpPr/>
            <p:nvPr/>
          </p:nvSpPr>
          <p:spPr>
            <a:xfrm>
              <a:off x="1762698" y="981114"/>
              <a:ext cx="6752700" cy="1097400"/>
            </a:xfrm>
            <a:prstGeom prst="rect">
              <a:avLst/>
            </a:prstGeom>
            <a:solidFill>
              <a:srgbClr val="F9FAFD"/>
            </a:solidFill>
            <a:ln cap="flat" cmpd="sng" w="9525">
              <a:solidFill>
                <a:srgbClr val="DCE2F4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6190BA">
                  <a:alpha val="7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g36919a7ef16_0_42"/>
            <p:cNvSpPr/>
            <p:nvPr/>
          </p:nvSpPr>
          <p:spPr>
            <a:xfrm>
              <a:off x="1762698" y="2210589"/>
              <a:ext cx="6752700" cy="1097400"/>
            </a:xfrm>
            <a:prstGeom prst="rect">
              <a:avLst/>
            </a:prstGeom>
            <a:solidFill>
              <a:srgbClr val="F9FAFD"/>
            </a:solidFill>
            <a:ln cap="flat" cmpd="sng" w="9525">
              <a:solidFill>
                <a:srgbClr val="DCE2F4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6190BA">
                  <a:alpha val="7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4" name="Google Shape;224;g36919a7ef16_0_42"/>
            <p:cNvGrpSpPr/>
            <p:nvPr/>
          </p:nvGrpSpPr>
          <p:grpSpPr>
            <a:xfrm>
              <a:off x="1909036" y="1068668"/>
              <a:ext cx="936300" cy="995097"/>
              <a:chOff x="1762698" y="1009954"/>
              <a:chExt cx="936300" cy="995097"/>
            </a:xfrm>
          </p:grpSpPr>
          <p:pic>
            <p:nvPicPr>
              <p:cNvPr id="225" name="Google Shape;225;g36919a7ef16_0_42"/>
              <p:cNvPicPr preferRelativeResize="0"/>
              <p:nvPr/>
            </p:nvPicPr>
            <p:blipFill rotWithShape="1">
              <a:blip r:embed="rId4">
                <a:alphaModFix/>
              </a:blip>
              <a:srcRect b="66211" l="13912" r="66738" t="9595"/>
              <a:stretch/>
            </p:blipFill>
            <p:spPr>
              <a:xfrm>
                <a:off x="1913018" y="1009954"/>
                <a:ext cx="635794" cy="65449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6" name="Google Shape;226;g36919a7ef16_0_42"/>
              <p:cNvSpPr txBox="1"/>
              <p:nvPr/>
            </p:nvSpPr>
            <p:spPr>
              <a:xfrm>
                <a:off x="1762698" y="1641751"/>
                <a:ext cx="936300" cy="36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0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Distributor places PO</a:t>
                </a:r>
                <a:endParaRPr/>
              </a:p>
            </p:txBody>
          </p:sp>
        </p:grpSp>
        <p:grpSp>
          <p:nvGrpSpPr>
            <p:cNvPr id="227" name="Google Shape;227;g36919a7ef16_0_42"/>
            <p:cNvGrpSpPr/>
            <p:nvPr/>
          </p:nvGrpSpPr>
          <p:grpSpPr>
            <a:xfrm>
              <a:off x="2964779" y="2300586"/>
              <a:ext cx="936300" cy="990212"/>
              <a:chOff x="1762698" y="2246952"/>
              <a:chExt cx="936300" cy="990212"/>
            </a:xfrm>
          </p:grpSpPr>
          <p:pic>
            <p:nvPicPr>
              <p:cNvPr id="228" name="Google Shape;228;g36919a7ef16_0_4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910875" y="2246952"/>
                <a:ext cx="640080" cy="64008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9" name="Google Shape;229;g36919a7ef16_0_42"/>
              <p:cNvSpPr txBox="1"/>
              <p:nvPr/>
            </p:nvSpPr>
            <p:spPr>
              <a:xfrm>
                <a:off x="1762698" y="2873864"/>
                <a:ext cx="936300" cy="36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0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latin typeface="Calibri"/>
                    <a:ea typeface="Calibri"/>
                    <a:cs typeface="Calibri"/>
                    <a:sym typeface="Calibri"/>
                  </a:rPr>
                  <a:t>Receives PO information</a:t>
                </a:r>
                <a:endParaRPr/>
              </a:p>
            </p:txBody>
          </p:sp>
        </p:grpSp>
        <p:grpSp>
          <p:nvGrpSpPr>
            <p:cNvPr id="230" name="Google Shape;230;g36919a7ef16_0_42"/>
            <p:cNvGrpSpPr/>
            <p:nvPr/>
          </p:nvGrpSpPr>
          <p:grpSpPr>
            <a:xfrm>
              <a:off x="4670807" y="2300586"/>
              <a:ext cx="936300" cy="990212"/>
              <a:chOff x="3216786" y="2246952"/>
              <a:chExt cx="936300" cy="990212"/>
            </a:xfrm>
          </p:grpSpPr>
          <p:pic>
            <p:nvPicPr>
              <p:cNvPr id="231" name="Google Shape;231;g36919a7ef16_0_42"/>
              <p:cNvPicPr preferRelativeResize="0"/>
              <p:nvPr/>
            </p:nvPicPr>
            <p:blipFill rotWithShape="1">
              <a:blip r:embed="rId6">
                <a:alphaModFix/>
              </a:blip>
              <a:srcRect b="12756" l="11974" r="13698" t="12860"/>
              <a:stretch/>
            </p:blipFill>
            <p:spPr>
              <a:xfrm>
                <a:off x="3365191" y="2246952"/>
                <a:ext cx="639625" cy="64008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2" name="Google Shape;232;g36919a7ef16_0_42"/>
              <p:cNvSpPr txBox="1"/>
              <p:nvPr/>
            </p:nvSpPr>
            <p:spPr>
              <a:xfrm>
                <a:off x="3216786" y="2873864"/>
                <a:ext cx="936300" cy="36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0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Generates Invoice</a:t>
                </a:r>
                <a:endParaRPr/>
              </a:p>
            </p:txBody>
          </p:sp>
        </p:grpSp>
        <p:grpSp>
          <p:nvGrpSpPr>
            <p:cNvPr id="233" name="Google Shape;233;g36919a7ef16_0_42"/>
            <p:cNvGrpSpPr/>
            <p:nvPr/>
          </p:nvGrpSpPr>
          <p:grpSpPr>
            <a:xfrm>
              <a:off x="6376834" y="2300586"/>
              <a:ext cx="936300" cy="990212"/>
              <a:chOff x="4163079" y="2246952"/>
              <a:chExt cx="936300" cy="990212"/>
            </a:xfrm>
          </p:grpSpPr>
          <p:pic>
            <p:nvPicPr>
              <p:cNvPr id="234" name="Google Shape;234;g36919a7ef16_0_42"/>
              <p:cNvPicPr preferRelativeResize="0"/>
              <p:nvPr/>
            </p:nvPicPr>
            <p:blipFill rotWithShape="1">
              <a:blip r:embed="rId7">
                <a:alphaModFix/>
              </a:blip>
              <a:srcRect b="13972" l="13767" r="14300" t="13929"/>
              <a:stretch/>
            </p:blipFill>
            <p:spPr>
              <a:xfrm>
                <a:off x="4312002" y="2246952"/>
                <a:ext cx="638588" cy="64008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5" name="Google Shape;235;g36919a7ef16_0_42"/>
              <p:cNvSpPr txBox="1"/>
              <p:nvPr/>
            </p:nvSpPr>
            <p:spPr>
              <a:xfrm>
                <a:off x="4163079" y="2873864"/>
                <a:ext cx="936300" cy="36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0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TC data is prepared</a:t>
                </a:r>
                <a:endParaRPr/>
              </a:p>
            </p:txBody>
          </p:sp>
        </p:grpSp>
        <p:cxnSp>
          <p:nvCxnSpPr>
            <p:cNvPr id="236" name="Google Shape;236;g36919a7ef16_0_42"/>
            <p:cNvCxnSpPr>
              <a:stCxn id="226" idx="2"/>
            </p:cNvCxnSpPr>
            <p:nvPr/>
          </p:nvCxnSpPr>
          <p:spPr>
            <a:xfrm flipH="1" rot="-5400000">
              <a:off x="2378836" y="2062115"/>
              <a:ext cx="686100" cy="689400"/>
            </a:xfrm>
            <a:prstGeom prst="bentConnector2">
              <a:avLst/>
            </a:prstGeom>
            <a:noFill/>
            <a:ln cap="flat" cmpd="sng" w="19050">
              <a:solidFill>
                <a:srgbClr val="3E6EC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7" name="Google Shape;237;g36919a7ef16_0_42"/>
            <p:cNvCxnSpPr/>
            <p:nvPr/>
          </p:nvCxnSpPr>
          <p:spPr>
            <a:xfrm>
              <a:off x="3799373" y="2753180"/>
              <a:ext cx="1019700" cy="12000"/>
            </a:xfrm>
            <a:prstGeom prst="straightConnector1">
              <a:avLst/>
            </a:prstGeom>
            <a:noFill/>
            <a:ln cap="flat" cmpd="sng" w="19050">
              <a:solidFill>
                <a:srgbClr val="3E6EC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8" name="Google Shape;238;g36919a7ef16_0_42"/>
            <p:cNvCxnSpPr/>
            <p:nvPr/>
          </p:nvCxnSpPr>
          <p:spPr>
            <a:xfrm>
              <a:off x="5505174" y="2753180"/>
              <a:ext cx="1019700" cy="12000"/>
            </a:xfrm>
            <a:prstGeom prst="straightConnector1">
              <a:avLst/>
            </a:prstGeom>
            <a:noFill/>
            <a:ln cap="flat" cmpd="sng" w="19050">
              <a:solidFill>
                <a:srgbClr val="3E6EC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39" name="Google Shape;239;g36919a7ef16_0_42"/>
            <p:cNvSpPr/>
            <p:nvPr/>
          </p:nvSpPr>
          <p:spPr>
            <a:xfrm flipH="1">
              <a:off x="1762649" y="3440062"/>
              <a:ext cx="6752700" cy="1097400"/>
            </a:xfrm>
            <a:prstGeom prst="rect">
              <a:avLst/>
            </a:prstGeom>
            <a:solidFill>
              <a:srgbClr val="F9FAFD"/>
            </a:solidFill>
            <a:ln cap="flat" cmpd="sng" w="9525">
              <a:solidFill>
                <a:srgbClr val="DCE2F4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6190BA">
                  <a:alpha val="7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0" name="Google Shape;240;g36919a7ef16_0_42"/>
            <p:cNvGrpSpPr/>
            <p:nvPr/>
          </p:nvGrpSpPr>
          <p:grpSpPr>
            <a:xfrm flipH="1">
              <a:off x="7255787" y="3525255"/>
              <a:ext cx="1141800" cy="990212"/>
              <a:chOff x="1762698" y="3469638"/>
              <a:chExt cx="1141800" cy="990212"/>
            </a:xfrm>
          </p:grpSpPr>
          <p:pic>
            <p:nvPicPr>
              <p:cNvPr id="241" name="Google Shape;241;g36919a7ef16_0_42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2013502" y="3469638"/>
                <a:ext cx="640080" cy="64008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2" name="Google Shape;242;g36919a7ef16_0_42"/>
              <p:cNvSpPr txBox="1"/>
              <p:nvPr/>
            </p:nvSpPr>
            <p:spPr>
              <a:xfrm>
                <a:off x="1762698" y="4096550"/>
                <a:ext cx="1141800" cy="363300"/>
              </a:xfrm>
              <a:prstGeom prst="rect">
                <a:avLst/>
              </a:prstGeom>
              <a:solidFill>
                <a:srgbClr val="F9FAFD"/>
              </a:solidFill>
              <a:ln>
                <a:noFill/>
              </a:ln>
            </p:spPr>
            <p:txBody>
              <a:bodyPr anchorCtr="0" anchor="t" bIns="45700" lIns="0" spcFirstLastPara="1" rIns="0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Data </a:t>
                </a:r>
                <a:r>
                  <a:rPr lang="en-GB" sz="1100">
                    <a:latin typeface="Calibri"/>
                    <a:ea typeface="Calibri"/>
                    <a:cs typeface="Calibri"/>
                    <a:sym typeface="Calibri"/>
                  </a:rPr>
                  <a:t>received        by</a:t>
                </a:r>
                <a:r>
                  <a:rPr b="0" i="0" lang="en-GB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platform</a:t>
                </a:r>
                <a:endParaRPr/>
              </a:p>
            </p:txBody>
          </p:sp>
        </p:grpSp>
        <p:grpSp>
          <p:nvGrpSpPr>
            <p:cNvPr id="243" name="Google Shape;243;g36919a7ef16_0_42"/>
            <p:cNvGrpSpPr/>
            <p:nvPr/>
          </p:nvGrpSpPr>
          <p:grpSpPr>
            <a:xfrm flipH="1">
              <a:off x="4551959" y="3525255"/>
              <a:ext cx="997500" cy="990211"/>
              <a:chOff x="4451813" y="3469638"/>
              <a:chExt cx="997500" cy="990211"/>
            </a:xfrm>
          </p:grpSpPr>
          <p:pic>
            <p:nvPicPr>
              <p:cNvPr id="244" name="Google Shape;244;g36919a7ef16_0_42"/>
              <p:cNvPicPr preferRelativeResize="0"/>
              <p:nvPr/>
            </p:nvPicPr>
            <p:blipFill rotWithShape="1">
              <a:blip r:embed="rId4">
                <a:alphaModFix/>
              </a:blip>
              <a:srcRect b="37885" l="66949" r="13618" t="38452"/>
              <a:stretch/>
            </p:blipFill>
            <p:spPr>
              <a:xfrm>
                <a:off x="4631295" y="3469638"/>
                <a:ext cx="638589" cy="64008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5" name="Google Shape;245;g36919a7ef16_0_42"/>
              <p:cNvSpPr txBox="1"/>
              <p:nvPr/>
            </p:nvSpPr>
            <p:spPr>
              <a:xfrm>
                <a:off x="4451813" y="4096549"/>
                <a:ext cx="997500" cy="363300"/>
              </a:xfrm>
              <a:prstGeom prst="rect">
                <a:avLst/>
              </a:prstGeom>
              <a:solidFill>
                <a:srgbClr val="F9FAF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Buyer is linked to TC</a:t>
                </a:r>
                <a:endParaRPr/>
              </a:p>
            </p:txBody>
          </p:sp>
        </p:grpSp>
        <p:grpSp>
          <p:nvGrpSpPr>
            <p:cNvPr id="246" name="Google Shape;246;g36919a7ef16_0_42"/>
            <p:cNvGrpSpPr/>
            <p:nvPr/>
          </p:nvGrpSpPr>
          <p:grpSpPr>
            <a:xfrm flipH="1">
              <a:off x="3199963" y="3525255"/>
              <a:ext cx="997500" cy="990211"/>
              <a:chOff x="4451813" y="3469638"/>
              <a:chExt cx="997500" cy="990211"/>
            </a:xfrm>
          </p:grpSpPr>
          <p:pic>
            <p:nvPicPr>
              <p:cNvPr id="247" name="Google Shape;247;g36919a7ef16_0_42"/>
              <p:cNvPicPr preferRelativeResize="0"/>
              <p:nvPr/>
            </p:nvPicPr>
            <p:blipFill rotWithShape="1">
              <a:blip r:embed="rId4">
                <a:alphaModFix/>
              </a:blip>
              <a:srcRect b="37885" l="66949" r="13618" t="38452"/>
              <a:stretch/>
            </p:blipFill>
            <p:spPr>
              <a:xfrm>
                <a:off x="4631295" y="3469638"/>
                <a:ext cx="638589" cy="64008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8" name="Google Shape;248;g36919a7ef16_0_42"/>
              <p:cNvSpPr txBox="1"/>
              <p:nvPr/>
            </p:nvSpPr>
            <p:spPr>
              <a:xfrm>
                <a:off x="4451813" y="4096549"/>
                <a:ext cx="997500" cy="363300"/>
              </a:xfrm>
              <a:prstGeom prst="rect">
                <a:avLst/>
              </a:prstGeom>
              <a:solidFill>
                <a:srgbClr val="F9FAF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latin typeface="Calibri"/>
                    <a:ea typeface="Calibri"/>
                    <a:cs typeface="Calibri"/>
                    <a:sym typeface="Calibri"/>
                  </a:rPr>
                  <a:t>Buyer can verify the TC</a:t>
                </a:r>
                <a:endParaRPr/>
              </a:p>
            </p:txBody>
          </p:sp>
        </p:grpSp>
        <p:grpSp>
          <p:nvGrpSpPr>
            <p:cNvPr id="249" name="Google Shape;249;g36919a7ef16_0_42"/>
            <p:cNvGrpSpPr/>
            <p:nvPr/>
          </p:nvGrpSpPr>
          <p:grpSpPr>
            <a:xfrm flipH="1">
              <a:off x="1909170" y="3525255"/>
              <a:ext cx="936300" cy="990212"/>
              <a:chOff x="1762698" y="2246952"/>
              <a:chExt cx="936300" cy="990212"/>
            </a:xfrm>
          </p:grpSpPr>
          <p:pic>
            <p:nvPicPr>
              <p:cNvPr id="250" name="Google Shape;250;g36919a7ef16_0_42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1910875" y="2246952"/>
                <a:ext cx="640080" cy="64008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1" name="Google Shape;251;g36919a7ef16_0_42"/>
              <p:cNvSpPr txBox="1"/>
              <p:nvPr/>
            </p:nvSpPr>
            <p:spPr>
              <a:xfrm>
                <a:off x="1762698" y="2873864"/>
                <a:ext cx="936300" cy="363300"/>
              </a:xfrm>
              <a:prstGeom prst="rect">
                <a:avLst/>
              </a:prstGeom>
              <a:solidFill>
                <a:srgbClr val="F9FAFD"/>
              </a:solidFill>
              <a:ln>
                <a:noFill/>
              </a:ln>
            </p:spPr>
            <p:txBody>
              <a:bodyPr anchorCtr="0" anchor="t" bIns="45700" lIns="0" spcFirstLastPara="1" rIns="0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Portal displays relevant details</a:t>
                </a:r>
                <a:endParaRPr/>
              </a:p>
            </p:txBody>
          </p:sp>
        </p:grpSp>
        <p:cxnSp>
          <p:nvCxnSpPr>
            <p:cNvPr id="252" name="Google Shape;252;g36919a7ef16_0_42"/>
            <p:cNvCxnSpPr/>
            <p:nvPr/>
          </p:nvCxnSpPr>
          <p:spPr>
            <a:xfrm rot="10800000">
              <a:off x="6774658" y="4010981"/>
              <a:ext cx="608100" cy="0"/>
            </a:xfrm>
            <a:prstGeom prst="straightConnector1">
              <a:avLst/>
            </a:prstGeom>
            <a:solidFill>
              <a:srgbClr val="F9FAFD"/>
            </a:solidFill>
            <a:ln cap="flat" cmpd="sng" w="19050">
              <a:solidFill>
                <a:srgbClr val="3E6EC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53" name="Google Shape;253;g36919a7ef16_0_42"/>
            <p:cNvCxnSpPr/>
            <p:nvPr/>
          </p:nvCxnSpPr>
          <p:spPr>
            <a:xfrm rot="10800000">
              <a:off x="5422662" y="4010981"/>
              <a:ext cx="608100" cy="0"/>
            </a:xfrm>
            <a:prstGeom prst="straightConnector1">
              <a:avLst/>
            </a:prstGeom>
            <a:solidFill>
              <a:srgbClr val="F9FAFD"/>
            </a:solidFill>
            <a:ln cap="flat" cmpd="sng" w="19050">
              <a:solidFill>
                <a:srgbClr val="3E6EC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54" name="Google Shape;254;g36919a7ef16_0_42"/>
            <p:cNvCxnSpPr/>
            <p:nvPr/>
          </p:nvCxnSpPr>
          <p:spPr>
            <a:xfrm rot="10800000">
              <a:off x="4070666" y="4010981"/>
              <a:ext cx="608100" cy="0"/>
            </a:xfrm>
            <a:prstGeom prst="straightConnector1">
              <a:avLst/>
            </a:prstGeom>
            <a:solidFill>
              <a:srgbClr val="F9FAFD"/>
            </a:solidFill>
            <a:ln cap="flat" cmpd="sng" w="19050">
              <a:solidFill>
                <a:srgbClr val="3E6EC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55" name="Google Shape;255;g36919a7ef16_0_42"/>
            <p:cNvCxnSpPr/>
            <p:nvPr/>
          </p:nvCxnSpPr>
          <p:spPr>
            <a:xfrm rot="10800000">
              <a:off x="2718670" y="4010981"/>
              <a:ext cx="608100" cy="0"/>
            </a:xfrm>
            <a:prstGeom prst="straightConnector1">
              <a:avLst/>
            </a:prstGeom>
            <a:solidFill>
              <a:srgbClr val="F9FAFD"/>
            </a:solidFill>
            <a:ln cap="flat" cmpd="sng" w="19050">
              <a:solidFill>
                <a:srgbClr val="3E6EC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56" name="Google Shape;256;g36919a7ef16_0_42"/>
            <p:cNvCxnSpPr>
              <a:endCxn id="241" idx="0"/>
            </p:cNvCxnSpPr>
            <p:nvPr/>
          </p:nvCxnSpPr>
          <p:spPr>
            <a:xfrm flipH="1" rot="-5400000">
              <a:off x="7078693" y="2777205"/>
              <a:ext cx="834600" cy="661500"/>
            </a:xfrm>
            <a:prstGeom prst="bentConnector3">
              <a:avLst>
                <a:gd fmla="val 53" name="adj1"/>
              </a:avLst>
            </a:prstGeom>
            <a:noFill/>
            <a:ln cap="flat" cmpd="sng" w="19050">
              <a:solidFill>
                <a:srgbClr val="3E6EC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257" name="Google Shape;257;g36919a7ef16_0_42"/>
            <p:cNvGrpSpPr/>
            <p:nvPr/>
          </p:nvGrpSpPr>
          <p:grpSpPr>
            <a:xfrm>
              <a:off x="5903902" y="3525255"/>
              <a:ext cx="997500" cy="990212"/>
              <a:chOff x="5903902" y="3525255"/>
              <a:chExt cx="997500" cy="990212"/>
            </a:xfrm>
          </p:grpSpPr>
          <p:sp>
            <p:nvSpPr>
              <p:cNvPr id="258" name="Google Shape;258;g36919a7ef16_0_42"/>
              <p:cNvSpPr txBox="1"/>
              <p:nvPr/>
            </p:nvSpPr>
            <p:spPr>
              <a:xfrm>
                <a:off x="5903902" y="4152167"/>
                <a:ext cx="997500" cy="363300"/>
              </a:xfrm>
              <a:prstGeom prst="rect">
                <a:avLst/>
              </a:prstGeom>
              <a:solidFill>
                <a:srgbClr val="F9FAFD"/>
              </a:solidFill>
              <a:ln>
                <a:noFill/>
              </a:ln>
            </p:spPr>
            <p:txBody>
              <a:bodyPr anchorCtr="0" anchor="t" bIns="45700" lIns="0" spcFirstLastPara="1" rIns="0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Test Certificate created</a:t>
                </a:r>
                <a:endParaRPr/>
              </a:p>
            </p:txBody>
          </p:sp>
          <p:pic>
            <p:nvPicPr>
              <p:cNvPr id="259" name="Google Shape;259;g36919a7ef16_0_42" title="Group 619.png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6081919" y="3525255"/>
                <a:ext cx="640799" cy="64079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6"/>
          <p:cNvSpPr txBox="1"/>
          <p:nvPr>
            <p:ph idx="12" type="sldNum"/>
          </p:nvPr>
        </p:nvSpPr>
        <p:spPr>
          <a:xfrm>
            <a:off x="6457950" y="4831811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5" name="Google Shape;265;p6"/>
          <p:cNvSpPr txBox="1"/>
          <p:nvPr>
            <p:ph type="title"/>
          </p:nvPr>
        </p:nvSpPr>
        <p:spPr>
          <a:xfrm>
            <a:off x="628650" y="28577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0" lang="en-GB"/>
              <a:t>Benefits of Implemented Solution</a:t>
            </a:r>
            <a:endParaRPr/>
          </a:p>
        </p:txBody>
      </p:sp>
      <p:pic>
        <p:nvPicPr>
          <p:cNvPr id="266" name="Google Shape;266;p6"/>
          <p:cNvPicPr preferRelativeResize="0"/>
          <p:nvPr/>
        </p:nvPicPr>
        <p:blipFill rotWithShape="1">
          <a:blip r:embed="rId3">
            <a:alphaModFix/>
          </a:blip>
          <a:srcRect b="0" l="18558" r="18552" t="0"/>
          <a:stretch/>
        </p:blipFill>
        <p:spPr>
          <a:xfrm>
            <a:off x="8078992" y="26194"/>
            <a:ext cx="795405" cy="7040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7" name="Google Shape;267;p6"/>
          <p:cNvGrpSpPr/>
          <p:nvPr/>
        </p:nvGrpSpPr>
        <p:grpSpPr>
          <a:xfrm>
            <a:off x="1009299" y="986019"/>
            <a:ext cx="7125369" cy="3224950"/>
            <a:chOff x="1009299" y="956405"/>
            <a:chExt cx="7125369" cy="3224950"/>
          </a:xfrm>
        </p:grpSpPr>
        <p:sp>
          <p:nvSpPr>
            <p:cNvPr id="268" name="Google Shape;268;p6"/>
            <p:cNvSpPr/>
            <p:nvPr/>
          </p:nvSpPr>
          <p:spPr>
            <a:xfrm>
              <a:off x="1009299" y="956405"/>
              <a:ext cx="705000" cy="705000"/>
            </a:xfrm>
            <a:prstGeom prst="ellipse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6"/>
            <p:cNvSpPr/>
            <p:nvPr/>
          </p:nvSpPr>
          <p:spPr>
            <a:xfrm>
              <a:off x="1865392" y="956405"/>
              <a:ext cx="2181147" cy="705017"/>
            </a:xfrm>
            <a:custGeom>
              <a:rect b="b" l="l" r="r" t="t"/>
              <a:pathLst>
                <a:path extrusionOk="0" h="705017" w="1661826">
                  <a:moveTo>
                    <a:pt x="0" y="0"/>
                  </a:moveTo>
                  <a:lnTo>
                    <a:pt x="1661826" y="0"/>
                  </a:lnTo>
                  <a:lnTo>
                    <a:pt x="1661826" y="705017"/>
                  </a:lnTo>
                  <a:lnTo>
                    <a:pt x="0" y="705017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GB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Enhanced Security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385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GB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Tamper-proof TCs via blockchain and digital signatures eliminate forgery risks.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6"/>
            <p:cNvSpPr/>
            <p:nvPr/>
          </p:nvSpPr>
          <p:spPr>
            <a:xfrm>
              <a:off x="5097429" y="956405"/>
              <a:ext cx="705000" cy="705000"/>
            </a:xfrm>
            <a:prstGeom prst="ellipse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6"/>
            <p:cNvSpPr/>
            <p:nvPr/>
          </p:nvSpPr>
          <p:spPr>
            <a:xfrm>
              <a:off x="5953521" y="956405"/>
              <a:ext cx="2181147" cy="705017"/>
            </a:xfrm>
            <a:custGeom>
              <a:rect b="b" l="l" r="r" t="t"/>
              <a:pathLst>
                <a:path extrusionOk="0" h="705017" w="1661826">
                  <a:moveTo>
                    <a:pt x="0" y="0"/>
                  </a:moveTo>
                  <a:lnTo>
                    <a:pt x="1661826" y="0"/>
                  </a:lnTo>
                  <a:lnTo>
                    <a:pt x="1661826" y="705017"/>
                  </a:lnTo>
                  <a:lnTo>
                    <a:pt x="0" y="705017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GB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Transparent Ownership Tracking</a:t>
              </a:r>
              <a:endParaRPr b="1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385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GB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Full audit trail of TC transfers ensures accountability across the supply chain.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6"/>
            <p:cNvSpPr/>
            <p:nvPr/>
          </p:nvSpPr>
          <p:spPr>
            <a:xfrm>
              <a:off x="1009299" y="2216372"/>
              <a:ext cx="705000" cy="705000"/>
            </a:xfrm>
            <a:prstGeom prst="ellipse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6"/>
            <p:cNvSpPr/>
            <p:nvPr/>
          </p:nvSpPr>
          <p:spPr>
            <a:xfrm>
              <a:off x="1865392" y="2216372"/>
              <a:ext cx="2181147" cy="705017"/>
            </a:xfrm>
            <a:custGeom>
              <a:rect b="b" l="l" r="r" t="t"/>
              <a:pathLst>
                <a:path extrusionOk="0" h="705017" w="1661826">
                  <a:moveTo>
                    <a:pt x="0" y="0"/>
                  </a:moveTo>
                  <a:lnTo>
                    <a:pt x="1661826" y="0"/>
                  </a:lnTo>
                  <a:lnTo>
                    <a:pt x="1661826" y="705017"/>
                  </a:lnTo>
                  <a:lnTo>
                    <a:pt x="0" y="705017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-GB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Seamless Integration with Existing Systems</a:t>
              </a:r>
              <a:endParaRPr b="1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385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Easy adoption without disrupting core operations.</a:t>
              </a:r>
              <a:endParaRPr/>
            </a:p>
          </p:txBody>
        </p:sp>
        <p:sp>
          <p:nvSpPr>
            <p:cNvPr id="274" name="Google Shape;274;p6"/>
            <p:cNvSpPr/>
            <p:nvPr/>
          </p:nvSpPr>
          <p:spPr>
            <a:xfrm>
              <a:off x="5097429" y="2216372"/>
              <a:ext cx="705000" cy="705000"/>
            </a:xfrm>
            <a:prstGeom prst="ellipse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6"/>
            <p:cNvSpPr/>
            <p:nvPr/>
          </p:nvSpPr>
          <p:spPr>
            <a:xfrm>
              <a:off x="5953521" y="2216372"/>
              <a:ext cx="2181147" cy="705017"/>
            </a:xfrm>
            <a:custGeom>
              <a:rect b="b" l="l" r="r" t="t"/>
              <a:pathLst>
                <a:path extrusionOk="0" h="705017" w="1661826">
                  <a:moveTo>
                    <a:pt x="0" y="0"/>
                  </a:moveTo>
                  <a:lnTo>
                    <a:pt x="1661826" y="0"/>
                  </a:lnTo>
                  <a:lnTo>
                    <a:pt x="1661826" y="705017"/>
                  </a:lnTo>
                  <a:lnTo>
                    <a:pt x="0" y="705017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GB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Brand Protection</a:t>
              </a:r>
              <a:endParaRPr b="1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385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GB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Prevents misuse of </a:t>
              </a:r>
              <a:r>
                <a:rPr lang="en-GB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TSL’s </a:t>
              </a:r>
              <a:r>
                <a:rPr b="0" i="0" lang="en-GB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reputation by blocking fake products.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6"/>
            <p:cNvSpPr/>
            <p:nvPr/>
          </p:nvSpPr>
          <p:spPr>
            <a:xfrm>
              <a:off x="1009299" y="3476338"/>
              <a:ext cx="705000" cy="705000"/>
            </a:xfrm>
            <a:prstGeom prst="ellipse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descr="Gears" id="277" name="Google Shape;277;p6"/>
            <p:cNvSpPr/>
            <p:nvPr/>
          </p:nvSpPr>
          <p:spPr>
            <a:xfrm>
              <a:off x="1157352" y="3624392"/>
              <a:ext cx="408900" cy="4089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6"/>
            <p:cNvSpPr/>
            <p:nvPr/>
          </p:nvSpPr>
          <p:spPr>
            <a:xfrm>
              <a:off x="1865392" y="3476338"/>
              <a:ext cx="2181147" cy="705017"/>
            </a:xfrm>
            <a:custGeom>
              <a:rect b="b" l="l" r="r" t="t"/>
              <a:pathLst>
                <a:path extrusionOk="0" h="705017" w="1661826">
                  <a:moveTo>
                    <a:pt x="0" y="0"/>
                  </a:moveTo>
                  <a:lnTo>
                    <a:pt x="1661826" y="0"/>
                  </a:lnTo>
                  <a:lnTo>
                    <a:pt x="1661826" y="705017"/>
                  </a:lnTo>
                  <a:lnTo>
                    <a:pt x="0" y="705017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GB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Operational Efficiency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385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GB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Automated smart contracts reduce manual errors and streamline TC issuance.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6"/>
            <p:cNvSpPr/>
            <p:nvPr/>
          </p:nvSpPr>
          <p:spPr>
            <a:xfrm>
              <a:off x="5097428" y="3476338"/>
              <a:ext cx="705000" cy="705000"/>
            </a:xfrm>
            <a:prstGeom prst="ellipse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descr="Customer Review" id="280" name="Google Shape;280;p6"/>
            <p:cNvSpPr/>
            <p:nvPr/>
          </p:nvSpPr>
          <p:spPr>
            <a:xfrm>
              <a:off x="5245481" y="3624392"/>
              <a:ext cx="408900" cy="4089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6"/>
            <p:cNvSpPr/>
            <p:nvPr/>
          </p:nvSpPr>
          <p:spPr>
            <a:xfrm>
              <a:off x="5953521" y="3476338"/>
              <a:ext cx="2181147" cy="705017"/>
            </a:xfrm>
            <a:custGeom>
              <a:rect b="b" l="l" r="r" t="t"/>
              <a:pathLst>
                <a:path extrusionOk="0" h="705017" w="1661826">
                  <a:moveTo>
                    <a:pt x="0" y="0"/>
                  </a:moveTo>
                  <a:lnTo>
                    <a:pt x="1661826" y="0"/>
                  </a:lnTo>
                  <a:lnTo>
                    <a:pt x="1661826" y="705017"/>
                  </a:lnTo>
                  <a:lnTo>
                    <a:pt x="0" y="705017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GB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Customer Trust</a:t>
              </a:r>
              <a:endParaRPr b="1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385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GB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Transparent verification fosters confidence in </a:t>
              </a:r>
              <a:r>
                <a:rPr lang="en-GB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TSL’s </a:t>
              </a:r>
              <a:r>
                <a:rPr b="0" i="0" lang="en-GB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products and brand.</a:t>
              </a:r>
              <a:endParaRPr/>
            </a:p>
          </p:txBody>
        </p:sp>
        <p:pic>
          <p:nvPicPr>
            <p:cNvPr id="282" name="Google Shape;282;p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156600" y="1102975"/>
              <a:ext cx="410400" cy="41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244738" y="2366538"/>
              <a:ext cx="410400" cy="41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4" name="Google Shape;284;p6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5244738" y="1102975"/>
              <a:ext cx="410400" cy="41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6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156613" y="2366550"/>
              <a:ext cx="410400" cy="4104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658ebfc36d_0_8"/>
          <p:cNvSpPr txBox="1"/>
          <p:nvPr>
            <p:ph idx="12" type="sldNum"/>
          </p:nvPr>
        </p:nvSpPr>
        <p:spPr>
          <a:xfrm>
            <a:off x="6457950" y="4831811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1" name="Google Shape;291;g3658ebfc36d_0_8"/>
          <p:cNvSpPr txBox="1"/>
          <p:nvPr>
            <p:ph type="title"/>
          </p:nvPr>
        </p:nvSpPr>
        <p:spPr>
          <a:xfrm>
            <a:off x="628650" y="28577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0" lang="en-GB"/>
              <a:t>Key Platform Enhancements since Dec’24</a:t>
            </a:r>
            <a:endParaRPr/>
          </a:p>
        </p:txBody>
      </p:sp>
      <p:pic>
        <p:nvPicPr>
          <p:cNvPr id="292" name="Google Shape;292;g3658ebfc36d_0_8"/>
          <p:cNvPicPr preferRelativeResize="0"/>
          <p:nvPr/>
        </p:nvPicPr>
        <p:blipFill rotWithShape="1">
          <a:blip r:embed="rId3">
            <a:alphaModFix/>
          </a:blip>
          <a:srcRect b="0" l="18558" r="18552" t="0"/>
          <a:stretch/>
        </p:blipFill>
        <p:spPr>
          <a:xfrm>
            <a:off x="8078992" y="26194"/>
            <a:ext cx="795405" cy="704058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3658ebfc36d_0_8"/>
          <p:cNvSpPr txBox="1"/>
          <p:nvPr/>
        </p:nvSpPr>
        <p:spPr>
          <a:xfrm>
            <a:off x="628673" y="1661329"/>
            <a:ext cx="234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 sz="1300">
                <a:latin typeface="Calibri"/>
                <a:ea typeface="Calibri"/>
                <a:cs typeface="Calibri"/>
                <a:sym typeface="Calibri"/>
              </a:rPr>
              <a:t>TC Data Validation Enhanced</a:t>
            </a:r>
            <a:endParaRPr b="1"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300">
                <a:latin typeface="Calibri"/>
                <a:ea typeface="Calibri"/>
                <a:cs typeface="Calibri"/>
                <a:sym typeface="Calibri"/>
              </a:rPr>
              <a:t>Resolved issues related to incorrect TC data from SAP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658ebfc36d_0_8"/>
          <p:cNvSpPr txBox="1"/>
          <p:nvPr/>
        </p:nvSpPr>
        <p:spPr>
          <a:xfrm>
            <a:off x="6175325" y="1672655"/>
            <a:ext cx="234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 sz="1300">
                <a:latin typeface="Calibri"/>
                <a:ea typeface="Calibri"/>
                <a:cs typeface="Calibri"/>
                <a:sym typeface="Calibri"/>
              </a:rPr>
              <a:t>Industry Segment Management</a:t>
            </a:r>
            <a:endParaRPr b="1"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300">
                <a:latin typeface="Calibri"/>
                <a:ea typeface="Calibri"/>
                <a:cs typeface="Calibri"/>
                <a:sym typeface="Calibri"/>
              </a:rPr>
              <a:t>Industry segmentation added to dashboards.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5" name="Google Shape;295;g3658ebfc36d_0_8"/>
          <p:cNvGrpSpPr/>
          <p:nvPr/>
        </p:nvGrpSpPr>
        <p:grpSpPr>
          <a:xfrm>
            <a:off x="1505263" y="1019375"/>
            <a:ext cx="586800" cy="586800"/>
            <a:chOff x="689963" y="1787650"/>
            <a:chExt cx="586800" cy="586800"/>
          </a:xfrm>
        </p:grpSpPr>
        <p:sp>
          <p:nvSpPr>
            <p:cNvPr id="296" name="Google Shape;296;g3658ebfc36d_0_8"/>
            <p:cNvSpPr/>
            <p:nvPr/>
          </p:nvSpPr>
          <p:spPr>
            <a:xfrm>
              <a:off x="689963" y="1787650"/>
              <a:ext cx="586800" cy="586800"/>
            </a:xfrm>
            <a:prstGeom prst="ellipse">
              <a:avLst/>
            </a:prstGeom>
            <a:solidFill>
              <a:srgbClr val="628EB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7" name="Google Shape;297;g3658ebfc36d_0_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3363" y="1901050"/>
              <a:ext cx="360000" cy="360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8" name="Google Shape;298;g3658ebfc36d_0_8"/>
          <p:cNvGrpSpPr/>
          <p:nvPr/>
        </p:nvGrpSpPr>
        <p:grpSpPr>
          <a:xfrm>
            <a:off x="7051913" y="1019375"/>
            <a:ext cx="586800" cy="586800"/>
            <a:chOff x="2354938" y="1787650"/>
            <a:chExt cx="586800" cy="586800"/>
          </a:xfrm>
        </p:grpSpPr>
        <p:sp>
          <p:nvSpPr>
            <p:cNvPr id="299" name="Google Shape;299;g3658ebfc36d_0_8"/>
            <p:cNvSpPr/>
            <p:nvPr/>
          </p:nvSpPr>
          <p:spPr>
            <a:xfrm>
              <a:off x="2354938" y="1787650"/>
              <a:ext cx="586800" cy="586800"/>
            </a:xfrm>
            <a:prstGeom prst="ellipse">
              <a:avLst/>
            </a:prstGeom>
            <a:solidFill>
              <a:srgbClr val="628EB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00" name="Google Shape;300;g3658ebfc36d_0_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468338" y="1901050"/>
              <a:ext cx="360000" cy="360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1" name="Google Shape;301;g3658ebfc36d_0_8"/>
          <p:cNvSpPr txBox="1"/>
          <p:nvPr/>
        </p:nvSpPr>
        <p:spPr>
          <a:xfrm>
            <a:off x="6175325" y="3415013"/>
            <a:ext cx="2340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 sz="1300">
                <a:latin typeface="Calibri"/>
                <a:ea typeface="Calibri"/>
                <a:cs typeface="Calibri"/>
                <a:sym typeface="Calibri"/>
              </a:rPr>
              <a:t>Dashboard Performance Optimized</a:t>
            </a:r>
            <a:endParaRPr b="1"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300">
                <a:latin typeface="Calibri"/>
                <a:ea typeface="Calibri"/>
                <a:cs typeface="Calibri"/>
                <a:sym typeface="Calibri"/>
              </a:rPr>
              <a:t>Manufacturer dashboard performance improved.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2" name="Google Shape;302;g3658ebfc36d_0_8"/>
          <p:cNvGrpSpPr/>
          <p:nvPr/>
        </p:nvGrpSpPr>
        <p:grpSpPr>
          <a:xfrm>
            <a:off x="7051913" y="2761650"/>
            <a:ext cx="586800" cy="586800"/>
            <a:chOff x="1505288" y="2538225"/>
            <a:chExt cx="586800" cy="586800"/>
          </a:xfrm>
        </p:grpSpPr>
        <p:sp>
          <p:nvSpPr>
            <p:cNvPr id="303" name="Google Shape;303;g3658ebfc36d_0_8"/>
            <p:cNvSpPr/>
            <p:nvPr/>
          </p:nvSpPr>
          <p:spPr>
            <a:xfrm>
              <a:off x="1505288" y="2538225"/>
              <a:ext cx="586800" cy="586800"/>
            </a:xfrm>
            <a:prstGeom prst="ellipse">
              <a:avLst/>
            </a:prstGeom>
            <a:solidFill>
              <a:srgbClr val="628EB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04" name="Google Shape;304;g3658ebfc36d_0_8"/>
            <p:cNvPicPr preferRelativeResize="0"/>
            <p:nvPr/>
          </p:nvPicPr>
          <p:blipFill rotWithShape="1">
            <a:blip r:embed="rId6">
              <a:alphaModFix/>
            </a:blip>
            <a:srcRect b="0" l="7618" r="7354" t="0"/>
            <a:stretch/>
          </p:blipFill>
          <p:spPr>
            <a:xfrm>
              <a:off x="1618688" y="2651625"/>
              <a:ext cx="360000" cy="360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5" name="Google Shape;305;g3658ebfc36d_0_8"/>
          <p:cNvSpPr txBox="1"/>
          <p:nvPr/>
        </p:nvSpPr>
        <p:spPr>
          <a:xfrm>
            <a:off x="3401999" y="1672655"/>
            <a:ext cx="2340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latin typeface="Calibri"/>
                <a:ea typeface="Calibri"/>
                <a:cs typeface="Calibri"/>
                <a:sym typeface="Calibri"/>
              </a:rPr>
              <a:t>Admin-based Approval Process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Calibri"/>
                <a:ea typeface="Calibri"/>
                <a:cs typeface="Calibri"/>
                <a:sym typeface="Calibri"/>
              </a:rPr>
              <a:t>Admin is now authorised to approve updates of the dealer profiles.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658ebfc36d_0_8"/>
          <p:cNvSpPr txBox="1"/>
          <p:nvPr/>
        </p:nvSpPr>
        <p:spPr>
          <a:xfrm>
            <a:off x="3401999" y="3414942"/>
            <a:ext cx="234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latin typeface="Calibri"/>
                <a:ea typeface="Calibri"/>
                <a:cs typeface="Calibri"/>
                <a:sym typeface="Calibri"/>
              </a:rPr>
              <a:t>TC Return Flow Fixed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Calibri"/>
                <a:ea typeface="Calibri"/>
                <a:cs typeface="Calibri"/>
                <a:sym typeface="Calibri"/>
              </a:rPr>
              <a:t>Resolved issues related to return of multiple TCs.</a:t>
            </a:r>
            <a:endParaRPr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3658ebfc36d_0_8"/>
          <p:cNvSpPr/>
          <p:nvPr/>
        </p:nvSpPr>
        <p:spPr>
          <a:xfrm>
            <a:off x="4278588" y="2761650"/>
            <a:ext cx="586800" cy="586800"/>
          </a:xfrm>
          <a:prstGeom prst="ellipse">
            <a:avLst/>
          </a:prstGeom>
          <a:solidFill>
            <a:srgbClr val="628EB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8" name="Google Shape;308;g3658ebfc36d_0_8"/>
          <p:cNvGrpSpPr/>
          <p:nvPr/>
        </p:nvGrpSpPr>
        <p:grpSpPr>
          <a:xfrm>
            <a:off x="4278588" y="1019375"/>
            <a:ext cx="586800" cy="586800"/>
            <a:chOff x="1432913" y="1810525"/>
            <a:chExt cx="586800" cy="586800"/>
          </a:xfrm>
        </p:grpSpPr>
        <p:sp>
          <p:nvSpPr>
            <p:cNvPr id="309" name="Google Shape;309;g3658ebfc36d_0_8"/>
            <p:cNvSpPr/>
            <p:nvPr/>
          </p:nvSpPr>
          <p:spPr>
            <a:xfrm>
              <a:off x="1432913" y="1810525"/>
              <a:ext cx="586800" cy="586800"/>
            </a:xfrm>
            <a:prstGeom prst="ellipse">
              <a:avLst/>
            </a:prstGeom>
            <a:solidFill>
              <a:srgbClr val="628EB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10" name="Google Shape;310;g3658ebfc36d_0_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546313" y="1923925"/>
              <a:ext cx="360000" cy="360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11" name="Google Shape;311;g3658ebfc36d_0_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91988" y="2875050"/>
            <a:ext cx="360000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g3658ebfc36d_0_8"/>
          <p:cNvSpPr txBox="1"/>
          <p:nvPr/>
        </p:nvSpPr>
        <p:spPr>
          <a:xfrm>
            <a:off x="628673" y="3414942"/>
            <a:ext cx="234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 sz="1300">
                <a:latin typeface="Calibri"/>
                <a:ea typeface="Calibri"/>
                <a:cs typeface="Calibri"/>
                <a:sym typeface="Calibri"/>
              </a:rPr>
              <a:t>Smart OTP Logic for Bulk Issuance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300">
                <a:latin typeface="Calibri"/>
                <a:ea typeface="Calibri"/>
                <a:cs typeface="Calibri"/>
                <a:sym typeface="Calibri"/>
              </a:rPr>
              <a:t>One OTP supports up to 3 TC generations.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3" name="Google Shape;313;g3658ebfc36d_0_8"/>
          <p:cNvGrpSpPr/>
          <p:nvPr/>
        </p:nvGrpSpPr>
        <p:grpSpPr>
          <a:xfrm>
            <a:off x="1505263" y="2761650"/>
            <a:ext cx="586800" cy="586800"/>
            <a:chOff x="655663" y="2538225"/>
            <a:chExt cx="586800" cy="586800"/>
          </a:xfrm>
        </p:grpSpPr>
        <p:sp>
          <p:nvSpPr>
            <p:cNvPr id="314" name="Google Shape;314;g3658ebfc36d_0_8"/>
            <p:cNvSpPr/>
            <p:nvPr/>
          </p:nvSpPr>
          <p:spPr>
            <a:xfrm>
              <a:off x="655663" y="2538225"/>
              <a:ext cx="586800" cy="586800"/>
            </a:xfrm>
            <a:prstGeom prst="ellipse">
              <a:avLst/>
            </a:prstGeom>
            <a:solidFill>
              <a:srgbClr val="628EB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15" name="Google Shape;315;g3658ebfc36d_0_8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751063" y="2633625"/>
              <a:ext cx="396000" cy="39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7"/>
          <p:cNvSpPr txBox="1"/>
          <p:nvPr>
            <p:ph type="title"/>
          </p:nvPr>
        </p:nvSpPr>
        <p:spPr>
          <a:xfrm>
            <a:off x="628650" y="45245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0" lang="en-GB"/>
              <a:t>Way Forward – TubesNxt V2</a:t>
            </a:r>
            <a:endParaRPr/>
          </a:p>
        </p:txBody>
      </p:sp>
      <p:sp>
        <p:nvSpPr>
          <p:cNvPr id="321" name="Google Shape;321;p7"/>
          <p:cNvSpPr txBox="1"/>
          <p:nvPr>
            <p:ph idx="12" type="sldNum"/>
          </p:nvPr>
        </p:nvSpPr>
        <p:spPr>
          <a:xfrm>
            <a:off x="6457950" y="4831811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322" name="Google Shape;322;p7"/>
          <p:cNvGrpSpPr/>
          <p:nvPr/>
        </p:nvGrpSpPr>
        <p:grpSpPr>
          <a:xfrm>
            <a:off x="4738876" y="818975"/>
            <a:ext cx="3776472" cy="1211321"/>
            <a:chOff x="628652" y="818975"/>
            <a:chExt cx="3776472" cy="1211321"/>
          </a:xfrm>
        </p:grpSpPr>
        <p:pic>
          <p:nvPicPr>
            <p:cNvPr descr="A black and blue border&#10;&#10;AI-generated content may be incorrect." id="323" name="Google Shape;323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28652" y="818975"/>
              <a:ext cx="3776472" cy="12113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4" name="Google Shape;324;p7"/>
            <p:cNvSpPr txBox="1"/>
            <p:nvPr/>
          </p:nvSpPr>
          <p:spPr>
            <a:xfrm>
              <a:off x="773905" y="922410"/>
              <a:ext cx="1005900" cy="94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User-Friendly Interface</a:t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7"/>
            <p:cNvSpPr txBox="1"/>
            <p:nvPr/>
          </p:nvSpPr>
          <p:spPr>
            <a:xfrm>
              <a:off x="2055020" y="922410"/>
              <a:ext cx="2194500" cy="94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156674" lvl="0" marL="179999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Calibri"/>
                <a:buChar char="●"/>
              </a:pPr>
              <a:r>
                <a:rPr lang="en-GB" sz="105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Redesigned interface for intuitive navigation</a:t>
              </a:r>
              <a:endParaRPr sz="10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56674" lvl="0" marL="179999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Calibri"/>
                <a:buChar char="●"/>
              </a:pPr>
              <a:r>
                <a:rPr lang="en-GB" sz="105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Role-based dashboards tailored for TSL, distributors, and buyers.</a:t>
              </a:r>
              <a:endParaRPr sz="10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56674" lvl="0" marL="179999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Calibri"/>
                <a:buChar char="●"/>
              </a:pPr>
              <a:r>
                <a:rPr lang="en-GB" sz="105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Simplify TC claiming and linking.</a:t>
              </a:r>
              <a:endParaRPr sz="10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6" name="Google Shape;326;p7"/>
          <p:cNvGrpSpPr/>
          <p:nvPr/>
        </p:nvGrpSpPr>
        <p:grpSpPr>
          <a:xfrm>
            <a:off x="4738874" y="2093664"/>
            <a:ext cx="3776472" cy="1211321"/>
            <a:chOff x="628650" y="2093664"/>
            <a:chExt cx="3776472" cy="1211321"/>
          </a:xfrm>
        </p:grpSpPr>
        <p:pic>
          <p:nvPicPr>
            <p:cNvPr descr="A black and blue border&#10;&#10;AI-generated content may be incorrect." id="327" name="Google Shape;327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8650" y="2093664"/>
              <a:ext cx="3776472" cy="12113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8" name="Google Shape;328;p7"/>
            <p:cNvSpPr txBox="1"/>
            <p:nvPr/>
          </p:nvSpPr>
          <p:spPr>
            <a:xfrm>
              <a:off x="773903" y="2197099"/>
              <a:ext cx="1005900" cy="94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Product Journey</a:t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7"/>
            <p:cNvSpPr txBox="1"/>
            <p:nvPr/>
          </p:nvSpPr>
          <p:spPr>
            <a:xfrm>
              <a:off x="2055020" y="2197099"/>
              <a:ext cx="2194500" cy="94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5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Enhanced visibility into product journeys for buyers through QR codes to access its entire history, including origin and production details. </a:t>
              </a:r>
              <a:endParaRPr b="0" i="0" sz="10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0" name="Google Shape;330;p7"/>
          <p:cNvGrpSpPr/>
          <p:nvPr/>
        </p:nvGrpSpPr>
        <p:grpSpPr>
          <a:xfrm>
            <a:off x="628652" y="818975"/>
            <a:ext cx="3776472" cy="1211321"/>
            <a:chOff x="4738876" y="818975"/>
            <a:chExt cx="3776472" cy="1211321"/>
          </a:xfrm>
        </p:grpSpPr>
        <p:pic>
          <p:nvPicPr>
            <p:cNvPr descr="A black and blue border&#10;&#10;AI-generated content may be incorrect." id="331" name="Google Shape;331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38876" y="818975"/>
              <a:ext cx="3776472" cy="12113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2" name="Google Shape;332;p7"/>
            <p:cNvSpPr txBox="1"/>
            <p:nvPr/>
          </p:nvSpPr>
          <p:spPr>
            <a:xfrm>
              <a:off x="4884129" y="922410"/>
              <a:ext cx="1005900" cy="94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Smart Sales Insights</a:t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7"/>
            <p:cNvSpPr txBox="1"/>
            <p:nvPr/>
          </p:nvSpPr>
          <p:spPr>
            <a:xfrm>
              <a:off x="6165244" y="922410"/>
              <a:ext cx="2194500" cy="94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5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By analyzing TC generation and buyer patterns, we will give TSL’s sales and marketing teams real-time dashboards to track product movement by region, distributor, or customer.</a:t>
              </a:r>
              <a:endParaRPr b="0" i="0" sz="10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4" name="Google Shape;334;p7"/>
          <p:cNvGrpSpPr/>
          <p:nvPr/>
        </p:nvGrpSpPr>
        <p:grpSpPr>
          <a:xfrm>
            <a:off x="628648" y="3368353"/>
            <a:ext cx="3776472" cy="1211321"/>
            <a:chOff x="628648" y="3368353"/>
            <a:chExt cx="3776472" cy="1211321"/>
          </a:xfrm>
        </p:grpSpPr>
        <p:pic>
          <p:nvPicPr>
            <p:cNvPr descr="A black and blue border&#10;&#10;AI-generated content may be incorrect." id="335" name="Google Shape;335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8648" y="3368353"/>
              <a:ext cx="3776472" cy="12113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6" name="Google Shape;336;p7"/>
            <p:cNvSpPr txBox="1"/>
            <p:nvPr/>
          </p:nvSpPr>
          <p:spPr>
            <a:xfrm>
              <a:off x="773843" y="3499412"/>
              <a:ext cx="1005900" cy="94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Intelligent Alerts</a:t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7"/>
            <p:cNvSpPr txBox="1"/>
            <p:nvPr/>
          </p:nvSpPr>
          <p:spPr>
            <a:xfrm>
              <a:off x="2055080" y="3499412"/>
              <a:ext cx="2194500" cy="94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5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r>
                <a:rPr b="0" i="0" lang="en-GB" sz="1050" u="none" cap="none" strike="noStrike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ulti-channel notifications for various reports </a:t>
              </a:r>
              <a:r>
                <a:rPr lang="en-GB" sz="105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of</a:t>
              </a:r>
              <a:r>
                <a:rPr b="0" i="0" lang="en-GB" sz="1050" u="none" cap="none" strike="noStrike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inventory, sales and certificate updates, with role-based customization.</a:t>
              </a:r>
              <a:endParaRPr b="0" i="0" sz="10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8" name="Google Shape;338;p7"/>
          <p:cNvGrpSpPr/>
          <p:nvPr/>
        </p:nvGrpSpPr>
        <p:grpSpPr>
          <a:xfrm>
            <a:off x="4738872" y="3368353"/>
            <a:ext cx="3776472" cy="1211321"/>
            <a:chOff x="4738872" y="3368353"/>
            <a:chExt cx="3776472" cy="1211321"/>
          </a:xfrm>
        </p:grpSpPr>
        <p:pic>
          <p:nvPicPr>
            <p:cNvPr descr="A black and blue border&#10;&#10;AI-generated content may be incorrect." id="339" name="Google Shape;339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38872" y="3368353"/>
              <a:ext cx="3776472" cy="12113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0" name="Google Shape;340;p7"/>
            <p:cNvSpPr txBox="1"/>
            <p:nvPr/>
          </p:nvSpPr>
          <p:spPr>
            <a:xfrm>
              <a:off x="4884125" y="3471788"/>
              <a:ext cx="1005900" cy="94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Support &amp; Onboard</a:t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7"/>
            <p:cNvSpPr txBox="1"/>
            <p:nvPr/>
          </p:nvSpPr>
          <p:spPr>
            <a:xfrm>
              <a:off x="6165244" y="3471788"/>
              <a:ext cx="2194500" cy="94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156674" lvl="0" marL="179999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050"/>
                <a:buFont typeface="Calibri"/>
                <a:buChar char="●"/>
              </a:pPr>
              <a:r>
                <a:rPr i="0" lang="en-GB" sz="1050" u="none" cap="none" strike="noStrike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AI chatbot for FAQs</a:t>
              </a:r>
              <a:endParaRPr sz="1050">
                <a:latin typeface="Calibri"/>
                <a:ea typeface="Calibri"/>
                <a:cs typeface="Calibri"/>
                <a:sym typeface="Calibri"/>
              </a:endParaRPr>
            </a:p>
            <a:p>
              <a:pPr indent="-156674" lvl="0" marL="179999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050"/>
                <a:buFont typeface="Calibri"/>
                <a:buChar char="●"/>
              </a:pPr>
              <a:r>
                <a:rPr i="0" lang="en-GB" sz="1050" u="none" cap="none" strike="noStrike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Ticketing for reissues/disputes</a:t>
              </a:r>
              <a:endParaRPr sz="1050">
                <a:latin typeface="Calibri"/>
                <a:ea typeface="Calibri"/>
                <a:cs typeface="Calibri"/>
                <a:sym typeface="Calibri"/>
              </a:endParaRPr>
            </a:p>
            <a:p>
              <a:pPr indent="-156674" lvl="0" marL="179999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050"/>
                <a:buFont typeface="Calibri"/>
                <a:buChar char="●"/>
              </a:pPr>
              <a:r>
                <a:rPr i="0" lang="en-GB" sz="1050" u="none" cap="none" strike="noStrike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Onboarding tools covering KYC and training.</a:t>
              </a:r>
              <a:endParaRPr i="0" sz="10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2" name="Google Shape;342;p7"/>
          <p:cNvGrpSpPr/>
          <p:nvPr/>
        </p:nvGrpSpPr>
        <p:grpSpPr>
          <a:xfrm>
            <a:off x="628650" y="2093664"/>
            <a:ext cx="3776472" cy="1211321"/>
            <a:chOff x="4738874" y="2093664"/>
            <a:chExt cx="3776472" cy="1211321"/>
          </a:xfrm>
        </p:grpSpPr>
        <p:pic>
          <p:nvPicPr>
            <p:cNvPr descr="A black and blue border&#10;&#10;AI-generated content may be incorrect." id="343" name="Google Shape;343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38874" y="2093664"/>
              <a:ext cx="3776472" cy="12113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4" name="Google Shape;344;p7"/>
            <p:cNvSpPr txBox="1"/>
            <p:nvPr/>
          </p:nvSpPr>
          <p:spPr>
            <a:xfrm>
              <a:off x="4889301" y="2202275"/>
              <a:ext cx="1005900" cy="94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Inventory Management</a:t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7"/>
            <p:cNvSpPr txBox="1"/>
            <p:nvPr/>
          </p:nvSpPr>
          <p:spPr>
            <a:xfrm>
              <a:off x="6170420" y="2202275"/>
              <a:ext cx="2194500" cy="94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161925" lvl="0" marL="179999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050"/>
                <a:buFont typeface="Calibri"/>
                <a:buChar char="●"/>
              </a:pPr>
              <a:r>
                <a:rPr lang="en-GB" sz="105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Predictive demand forecasting using TC trends. </a:t>
              </a:r>
              <a:endParaRPr sz="10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61925" lvl="0" marL="179999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050"/>
                <a:buFont typeface="Calibri"/>
                <a:buChar char="●"/>
              </a:pPr>
              <a:r>
                <a:rPr lang="en-GB" sz="105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Auto low-stock alerts &amp; anomaly detection for inventory–TC mismatches.</a:t>
              </a:r>
              <a:endParaRPr b="0" i="0" sz="10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46" name="Google Shape;346;p7"/>
          <p:cNvPicPr preferRelativeResize="0"/>
          <p:nvPr/>
        </p:nvPicPr>
        <p:blipFill rotWithShape="1">
          <a:blip r:embed="rId6">
            <a:alphaModFix/>
          </a:blip>
          <a:srcRect b="0" l="18558" r="18552" t="0"/>
          <a:stretch/>
        </p:blipFill>
        <p:spPr>
          <a:xfrm>
            <a:off x="8078992" y="26194"/>
            <a:ext cx="795405" cy="704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9"/>
          <p:cNvSpPr txBox="1"/>
          <p:nvPr>
            <p:ph type="title"/>
          </p:nvPr>
        </p:nvSpPr>
        <p:spPr>
          <a:xfrm>
            <a:off x="628650" y="45245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0" lang="en-GB"/>
              <a:t>Methodology for TubesNxt V2 Implementation</a:t>
            </a:r>
            <a:endParaRPr/>
          </a:p>
        </p:txBody>
      </p:sp>
      <p:sp>
        <p:nvSpPr>
          <p:cNvPr id="352" name="Google Shape;352;p9"/>
          <p:cNvSpPr txBox="1"/>
          <p:nvPr>
            <p:ph idx="12" type="sldNum"/>
          </p:nvPr>
        </p:nvSpPr>
        <p:spPr>
          <a:xfrm>
            <a:off x="6457950" y="4831811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53" name="Google Shape;353;p9"/>
          <p:cNvPicPr preferRelativeResize="0"/>
          <p:nvPr/>
        </p:nvPicPr>
        <p:blipFill rotWithShape="1">
          <a:blip r:embed="rId3">
            <a:alphaModFix/>
          </a:blip>
          <a:srcRect b="0" l="18558" r="18552" t="0"/>
          <a:stretch/>
        </p:blipFill>
        <p:spPr>
          <a:xfrm>
            <a:off x="8078992" y="26194"/>
            <a:ext cx="795405" cy="704058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9"/>
          <p:cNvSpPr txBox="1"/>
          <p:nvPr/>
        </p:nvSpPr>
        <p:spPr>
          <a:xfrm>
            <a:off x="586513" y="1391294"/>
            <a:ext cx="2305500" cy="738900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rgbClr val="628EB8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Microservices Architecture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 txBox="1"/>
          <p:nvPr/>
        </p:nvSpPr>
        <p:spPr>
          <a:xfrm>
            <a:off x="3461388" y="1391294"/>
            <a:ext cx="2305500" cy="738900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rgbClr val="628EB8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Blockchain Integration in TubesNxt V2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 txBox="1"/>
          <p:nvPr/>
        </p:nvSpPr>
        <p:spPr>
          <a:xfrm>
            <a:off x="6252000" y="1391304"/>
            <a:ext cx="2305500" cy="738900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rgbClr val="628EB8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                  Adapter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 txBox="1"/>
          <p:nvPr/>
        </p:nvSpPr>
        <p:spPr>
          <a:xfrm>
            <a:off x="586513" y="2937094"/>
            <a:ext cx="2305500" cy="738900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rgbClr val="628EB8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Dedicated Support Workflow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 txBox="1"/>
          <p:nvPr/>
        </p:nvSpPr>
        <p:spPr>
          <a:xfrm>
            <a:off x="3461388" y="2937104"/>
            <a:ext cx="2305500" cy="738900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rgbClr val="628EB8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AI/ML           Integration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 txBox="1"/>
          <p:nvPr/>
        </p:nvSpPr>
        <p:spPr>
          <a:xfrm>
            <a:off x="6251988" y="2937094"/>
            <a:ext cx="2305500" cy="738900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rgbClr val="628EB8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Weekly/Monthly Reports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6919a7ef16_0_219"/>
          <p:cNvSpPr txBox="1"/>
          <p:nvPr>
            <p:ph type="title"/>
          </p:nvPr>
        </p:nvSpPr>
        <p:spPr>
          <a:xfrm>
            <a:off x="628650" y="45245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0" lang="en-GB"/>
              <a:t>Conclusion</a:t>
            </a:r>
            <a:endParaRPr/>
          </a:p>
        </p:txBody>
      </p:sp>
      <p:sp>
        <p:nvSpPr>
          <p:cNvPr id="365" name="Google Shape;365;g36919a7ef16_0_219"/>
          <p:cNvSpPr/>
          <p:nvPr/>
        </p:nvSpPr>
        <p:spPr>
          <a:xfrm>
            <a:off x="628650" y="1467250"/>
            <a:ext cx="2182397" cy="834757"/>
          </a:xfrm>
          <a:custGeom>
            <a:rect b="b" l="l" r="r" t="t"/>
            <a:pathLst>
              <a:path extrusionOk="0" h="525831" w="1417141">
                <a:moveTo>
                  <a:pt x="0" y="0"/>
                </a:moveTo>
                <a:lnTo>
                  <a:pt x="1417141" y="0"/>
                </a:lnTo>
                <a:lnTo>
                  <a:pt x="1417141" y="525831"/>
                </a:lnTo>
                <a:lnTo>
                  <a:pt x="0" y="525831"/>
                </a:lnTo>
                <a:lnTo>
                  <a:pt x="0" y="0"/>
                </a:lnTo>
                <a:close/>
              </a:path>
            </a:pathLst>
          </a:custGeom>
          <a:solidFill>
            <a:srgbClr val="4372C3"/>
          </a:solidFill>
          <a:ln cap="flat" cmpd="sng" w="25400">
            <a:solidFill>
              <a:srgbClr val="4372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Scalable, Future-Ready Platform</a:t>
            </a:r>
            <a:endParaRPr i="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g36919a7ef16_0_219"/>
          <p:cNvSpPr/>
          <p:nvPr/>
        </p:nvSpPr>
        <p:spPr>
          <a:xfrm>
            <a:off x="628650" y="2324001"/>
            <a:ext cx="2182397" cy="1302376"/>
          </a:xfrm>
          <a:custGeom>
            <a:rect b="b" l="l" r="r" t="t"/>
            <a:pathLst>
              <a:path extrusionOk="0" h="1475780" w="1417141">
                <a:moveTo>
                  <a:pt x="0" y="0"/>
                </a:moveTo>
                <a:lnTo>
                  <a:pt x="1417141" y="0"/>
                </a:lnTo>
                <a:lnTo>
                  <a:pt x="1417141" y="1475780"/>
                </a:lnTo>
                <a:lnTo>
                  <a:pt x="0" y="1475780"/>
                </a:lnTo>
                <a:lnTo>
                  <a:pt x="0" y="0"/>
                </a:lnTo>
                <a:close/>
              </a:path>
            </a:pathLst>
          </a:custGeom>
          <a:solidFill>
            <a:srgbClr val="CCD3EA">
              <a:alpha val="89800"/>
            </a:srgbClr>
          </a:solidFill>
          <a:ln cap="flat" cmpd="sng" w="25400">
            <a:solidFill>
              <a:srgbClr val="CCD3EA">
                <a:alpha val="8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Adaptable architecture to support more product lines, AI features, and integrations.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6919a7ef16_0_219"/>
          <p:cNvSpPr/>
          <p:nvPr/>
        </p:nvSpPr>
        <p:spPr>
          <a:xfrm>
            <a:off x="3481667" y="1467250"/>
            <a:ext cx="2182397" cy="834757"/>
          </a:xfrm>
          <a:custGeom>
            <a:rect b="b" l="l" r="r" t="t"/>
            <a:pathLst>
              <a:path extrusionOk="0" h="525831" w="1417141">
                <a:moveTo>
                  <a:pt x="0" y="0"/>
                </a:moveTo>
                <a:lnTo>
                  <a:pt x="1417141" y="0"/>
                </a:lnTo>
                <a:lnTo>
                  <a:pt x="1417141" y="525831"/>
                </a:lnTo>
                <a:lnTo>
                  <a:pt x="0" y="525831"/>
                </a:lnTo>
                <a:lnTo>
                  <a:pt x="0" y="0"/>
                </a:lnTo>
                <a:close/>
              </a:path>
            </a:pathLst>
          </a:custGeom>
          <a:solidFill>
            <a:srgbClr val="4372C3"/>
          </a:solidFill>
          <a:ln cap="flat" cmpd="sng" w="25400">
            <a:solidFill>
              <a:srgbClr val="4372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Seamless Stakeholder Experience</a:t>
            </a:r>
            <a:endParaRPr i="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6919a7ef16_0_219"/>
          <p:cNvSpPr/>
          <p:nvPr/>
        </p:nvSpPr>
        <p:spPr>
          <a:xfrm>
            <a:off x="3481665" y="2324001"/>
            <a:ext cx="2182397" cy="1302376"/>
          </a:xfrm>
          <a:custGeom>
            <a:rect b="b" l="l" r="r" t="t"/>
            <a:pathLst>
              <a:path extrusionOk="0" h="1475780" w="1417141">
                <a:moveTo>
                  <a:pt x="0" y="0"/>
                </a:moveTo>
                <a:lnTo>
                  <a:pt x="1417141" y="0"/>
                </a:lnTo>
                <a:lnTo>
                  <a:pt x="1417141" y="1475780"/>
                </a:lnTo>
                <a:lnTo>
                  <a:pt x="0" y="1475780"/>
                </a:lnTo>
                <a:lnTo>
                  <a:pt x="0" y="0"/>
                </a:lnTo>
                <a:close/>
              </a:path>
            </a:pathLst>
          </a:custGeom>
          <a:solidFill>
            <a:srgbClr val="CCD3EA">
              <a:alpha val="89800"/>
            </a:srgbClr>
          </a:solidFill>
          <a:ln cap="flat" cmpd="sng" w="25400">
            <a:solidFill>
              <a:srgbClr val="CCD3EA">
                <a:alpha val="8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Enhanced dashboard, alerts, and verification tools improve usability for all users—manufacturers, dealers, and buyers.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6919a7ef16_0_219"/>
          <p:cNvSpPr/>
          <p:nvPr/>
        </p:nvSpPr>
        <p:spPr>
          <a:xfrm>
            <a:off x="6334684" y="1467250"/>
            <a:ext cx="2182397" cy="834757"/>
          </a:xfrm>
          <a:custGeom>
            <a:rect b="b" l="l" r="r" t="t"/>
            <a:pathLst>
              <a:path extrusionOk="0" h="525831" w="1417141">
                <a:moveTo>
                  <a:pt x="0" y="0"/>
                </a:moveTo>
                <a:lnTo>
                  <a:pt x="1417141" y="0"/>
                </a:lnTo>
                <a:lnTo>
                  <a:pt x="1417141" y="525831"/>
                </a:lnTo>
                <a:lnTo>
                  <a:pt x="0" y="525831"/>
                </a:lnTo>
                <a:lnTo>
                  <a:pt x="0" y="0"/>
                </a:lnTo>
                <a:close/>
              </a:path>
            </a:pathLst>
          </a:custGeom>
          <a:solidFill>
            <a:srgbClr val="4372C3"/>
          </a:solidFill>
          <a:ln cap="flat" cmpd="sng" w="25400">
            <a:solidFill>
              <a:srgbClr val="4372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Strategic Differentiator for Tata Steel</a:t>
            </a:r>
            <a:endParaRPr i="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g36919a7ef16_0_219"/>
          <p:cNvSpPr/>
          <p:nvPr/>
        </p:nvSpPr>
        <p:spPr>
          <a:xfrm>
            <a:off x="6334680" y="2324001"/>
            <a:ext cx="2182397" cy="1302376"/>
          </a:xfrm>
          <a:custGeom>
            <a:rect b="b" l="l" r="r" t="t"/>
            <a:pathLst>
              <a:path extrusionOk="0" h="1475780" w="1417141">
                <a:moveTo>
                  <a:pt x="0" y="0"/>
                </a:moveTo>
                <a:lnTo>
                  <a:pt x="1417141" y="0"/>
                </a:lnTo>
                <a:lnTo>
                  <a:pt x="1417141" y="1475780"/>
                </a:lnTo>
                <a:lnTo>
                  <a:pt x="0" y="1475780"/>
                </a:lnTo>
                <a:lnTo>
                  <a:pt x="0" y="0"/>
                </a:lnTo>
                <a:close/>
              </a:path>
            </a:pathLst>
          </a:custGeom>
          <a:solidFill>
            <a:srgbClr val="CCD3EA">
              <a:alpha val="89800"/>
            </a:srgbClr>
          </a:solidFill>
          <a:ln cap="flat" cmpd="sng" w="25400">
            <a:solidFill>
              <a:srgbClr val="CCD3EA">
                <a:alpha val="8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TubesNxt evolves into a universal, verifiable certification standard in the steel industry.</a:t>
            </a:r>
            <a:endParaRPr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g36919a7ef16_0_219"/>
          <p:cNvSpPr txBox="1"/>
          <p:nvPr>
            <p:ph idx="12" type="sldNum"/>
          </p:nvPr>
        </p:nvSpPr>
        <p:spPr>
          <a:xfrm>
            <a:off x="6457950" y="4831811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72" name="Google Shape;372;g36919a7ef16_0_219"/>
          <p:cNvPicPr preferRelativeResize="0"/>
          <p:nvPr/>
        </p:nvPicPr>
        <p:blipFill rotWithShape="1">
          <a:blip r:embed="rId3">
            <a:alphaModFix/>
          </a:blip>
          <a:srcRect b="0" l="18558" r="18552" t="0"/>
          <a:stretch/>
        </p:blipFill>
        <p:spPr>
          <a:xfrm>
            <a:off x="8078992" y="26194"/>
            <a:ext cx="795405" cy="704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0"/>
          <p:cNvSpPr/>
          <p:nvPr/>
        </p:nvSpPr>
        <p:spPr>
          <a:xfrm>
            <a:off x="0" y="-23175"/>
            <a:ext cx="9144000" cy="5143500"/>
          </a:xfrm>
          <a:prstGeom prst="rect">
            <a:avLst/>
          </a:prstGeom>
          <a:gradFill>
            <a:gsLst>
              <a:gs pos="0">
                <a:srgbClr val="476ED1"/>
              </a:gs>
              <a:gs pos="88000">
                <a:srgbClr val="264796"/>
              </a:gs>
              <a:gs pos="100000">
                <a:srgbClr val="264796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248144" y="142766"/>
            <a:ext cx="8694000" cy="4677300"/>
          </a:xfrm>
          <a:prstGeom prst="rect">
            <a:avLst/>
          </a:prstGeom>
          <a:gradFill>
            <a:gsLst>
              <a:gs pos="0">
                <a:srgbClr val="476ED1">
                  <a:alpha val="0"/>
                </a:srgbClr>
              </a:gs>
              <a:gs pos="100000">
                <a:srgbClr val="476ED1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 rot="10800000">
            <a:off x="117185" y="4502011"/>
            <a:ext cx="353878" cy="641489"/>
          </a:xfrm>
          <a:prstGeom prst="flowChartOffpageConnector">
            <a:avLst/>
          </a:prstGeom>
          <a:solidFill>
            <a:srgbClr val="F6821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 txBox="1"/>
          <p:nvPr/>
        </p:nvSpPr>
        <p:spPr>
          <a:xfrm>
            <a:off x="2923205" y="4766198"/>
            <a:ext cx="32976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125" lIns="14125" spcFirstLastPara="1" rIns="14125" wrap="square" tIns="141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www.varatechnology.com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0"/>
          <p:cNvSpPr txBox="1"/>
          <p:nvPr/>
        </p:nvSpPr>
        <p:spPr>
          <a:xfrm>
            <a:off x="3666451" y="3874247"/>
            <a:ext cx="181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GB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Follow us</a:t>
            </a:r>
            <a:endParaRPr b="0" i="0" sz="2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2" name="Google Shape;382;p10"/>
          <p:cNvGrpSpPr/>
          <p:nvPr/>
        </p:nvGrpSpPr>
        <p:grpSpPr>
          <a:xfrm>
            <a:off x="3865474" y="4290352"/>
            <a:ext cx="1413163" cy="403400"/>
            <a:chOff x="839836" y="5693263"/>
            <a:chExt cx="1884217" cy="537867"/>
          </a:xfrm>
        </p:grpSpPr>
        <p:grpSp>
          <p:nvGrpSpPr>
            <p:cNvPr id="383" name="Google Shape;383;p10"/>
            <p:cNvGrpSpPr/>
            <p:nvPr/>
          </p:nvGrpSpPr>
          <p:grpSpPr>
            <a:xfrm>
              <a:off x="1523616" y="5693267"/>
              <a:ext cx="515853" cy="515922"/>
              <a:chOff x="1327518" y="8517177"/>
              <a:chExt cx="714280" cy="714375"/>
            </a:xfrm>
          </p:grpSpPr>
          <p:sp>
            <p:nvSpPr>
              <p:cNvPr id="384" name="Google Shape;384;p10"/>
              <p:cNvSpPr/>
              <p:nvPr/>
            </p:nvSpPr>
            <p:spPr>
              <a:xfrm>
                <a:off x="1327518" y="8517177"/>
                <a:ext cx="714280" cy="714375"/>
              </a:xfrm>
              <a:custGeom>
                <a:rect b="b" l="l" r="r" t="t"/>
                <a:pathLst>
                  <a:path extrusionOk="0" h="952500" w="952373">
                    <a:moveTo>
                      <a:pt x="476250" y="952500"/>
                    </a:moveTo>
                    <a:lnTo>
                      <a:pt x="417957" y="948944"/>
                    </a:lnTo>
                    <a:lnTo>
                      <a:pt x="360553" y="938276"/>
                    </a:lnTo>
                    <a:lnTo>
                      <a:pt x="304800" y="920623"/>
                    </a:lnTo>
                    <a:lnTo>
                      <a:pt x="251714" y="896239"/>
                    </a:lnTo>
                    <a:lnTo>
                      <a:pt x="201930" y="865632"/>
                    </a:lnTo>
                    <a:lnTo>
                      <a:pt x="156337" y="829183"/>
                    </a:lnTo>
                    <a:lnTo>
                      <a:pt x="115570" y="787273"/>
                    </a:lnTo>
                    <a:lnTo>
                      <a:pt x="80264" y="740791"/>
                    </a:lnTo>
                    <a:lnTo>
                      <a:pt x="50800" y="690372"/>
                    </a:lnTo>
                    <a:lnTo>
                      <a:pt x="27813" y="636651"/>
                    </a:lnTo>
                    <a:lnTo>
                      <a:pt x="11557" y="580644"/>
                    </a:lnTo>
                    <a:lnTo>
                      <a:pt x="2286" y="522986"/>
                    </a:lnTo>
                    <a:lnTo>
                      <a:pt x="0" y="476250"/>
                    </a:lnTo>
                    <a:lnTo>
                      <a:pt x="127" y="464566"/>
                    </a:lnTo>
                    <a:lnTo>
                      <a:pt x="5207" y="406400"/>
                    </a:lnTo>
                    <a:lnTo>
                      <a:pt x="17272" y="349250"/>
                    </a:lnTo>
                    <a:lnTo>
                      <a:pt x="36322" y="294005"/>
                    </a:lnTo>
                    <a:lnTo>
                      <a:pt x="61976" y="241554"/>
                    </a:lnTo>
                    <a:lnTo>
                      <a:pt x="93853" y="192659"/>
                    </a:lnTo>
                    <a:lnTo>
                      <a:pt x="131445" y="147955"/>
                    </a:lnTo>
                    <a:lnTo>
                      <a:pt x="174244" y="108204"/>
                    </a:lnTo>
                    <a:lnTo>
                      <a:pt x="221615" y="74041"/>
                    </a:lnTo>
                    <a:lnTo>
                      <a:pt x="272669" y="45720"/>
                    </a:lnTo>
                    <a:lnTo>
                      <a:pt x="326898" y="24003"/>
                    </a:lnTo>
                    <a:lnTo>
                      <a:pt x="383286" y="9144"/>
                    </a:lnTo>
                    <a:lnTo>
                      <a:pt x="441198" y="1270"/>
                    </a:lnTo>
                    <a:lnTo>
                      <a:pt x="476250" y="0"/>
                    </a:lnTo>
                    <a:lnTo>
                      <a:pt x="487934" y="127"/>
                    </a:lnTo>
                    <a:lnTo>
                      <a:pt x="546100" y="5207"/>
                    </a:lnTo>
                    <a:lnTo>
                      <a:pt x="603250" y="17272"/>
                    </a:lnTo>
                    <a:lnTo>
                      <a:pt x="658495" y="36322"/>
                    </a:lnTo>
                    <a:lnTo>
                      <a:pt x="710946" y="61976"/>
                    </a:lnTo>
                    <a:lnTo>
                      <a:pt x="759841" y="93853"/>
                    </a:lnTo>
                    <a:lnTo>
                      <a:pt x="804545" y="131445"/>
                    </a:lnTo>
                    <a:lnTo>
                      <a:pt x="844296" y="174244"/>
                    </a:lnTo>
                    <a:lnTo>
                      <a:pt x="878459" y="221615"/>
                    </a:lnTo>
                    <a:lnTo>
                      <a:pt x="906653" y="272796"/>
                    </a:lnTo>
                    <a:lnTo>
                      <a:pt x="928370" y="327025"/>
                    </a:lnTo>
                    <a:lnTo>
                      <a:pt x="943229" y="383540"/>
                    </a:lnTo>
                    <a:lnTo>
                      <a:pt x="951103" y="441452"/>
                    </a:lnTo>
                    <a:lnTo>
                      <a:pt x="952373" y="476504"/>
                    </a:lnTo>
                    <a:lnTo>
                      <a:pt x="952246" y="488188"/>
                    </a:lnTo>
                    <a:lnTo>
                      <a:pt x="947293" y="546100"/>
                    </a:lnTo>
                    <a:lnTo>
                      <a:pt x="935228" y="603250"/>
                    </a:lnTo>
                    <a:lnTo>
                      <a:pt x="916178" y="658495"/>
                    </a:lnTo>
                    <a:lnTo>
                      <a:pt x="890524" y="710946"/>
                    </a:lnTo>
                    <a:lnTo>
                      <a:pt x="858647" y="759841"/>
                    </a:lnTo>
                    <a:lnTo>
                      <a:pt x="821055" y="804545"/>
                    </a:lnTo>
                    <a:lnTo>
                      <a:pt x="778256" y="844296"/>
                    </a:lnTo>
                    <a:lnTo>
                      <a:pt x="730885" y="878459"/>
                    </a:lnTo>
                    <a:lnTo>
                      <a:pt x="679704" y="906653"/>
                    </a:lnTo>
                    <a:lnTo>
                      <a:pt x="625475" y="928370"/>
                    </a:lnTo>
                    <a:lnTo>
                      <a:pt x="568960" y="943229"/>
                    </a:lnTo>
                    <a:lnTo>
                      <a:pt x="511048" y="951103"/>
                    </a:lnTo>
                    <a:lnTo>
                      <a:pt x="475996" y="95237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" name="Google Shape;385;p10"/>
              <p:cNvSpPr/>
              <p:nvPr/>
            </p:nvSpPr>
            <p:spPr>
              <a:xfrm>
                <a:off x="1558451" y="8653173"/>
                <a:ext cx="228600" cy="440531"/>
              </a:xfrm>
              <a:custGeom>
                <a:rect b="b" l="l" r="r" t="t"/>
                <a:pathLst>
                  <a:path extrusionOk="0" h="587375" w="304800">
                    <a:moveTo>
                      <a:pt x="197993" y="587375"/>
                    </a:moveTo>
                    <a:lnTo>
                      <a:pt x="90170" y="587375"/>
                    </a:lnTo>
                    <a:lnTo>
                      <a:pt x="90170" y="319405"/>
                    </a:lnTo>
                    <a:lnTo>
                      <a:pt x="0" y="319405"/>
                    </a:lnTo>
                    <a:lnTo>
                      <a:pt x="0" y="215011"/>
                    </a:lnTo>
                    <a:lnTo>
                      <a:pt x="90170" y="215011"/>
                    </a:lnTo>
                    <a:lnTo>
                      <a:pt x="90170" y="138049"/>
                    </a:lnTo>
                    <a:lnTo>
                      <a:pt x="99949" y="78740"/>
                    </a:lnTo>
                    <a:lnTo>
                      <a:pt x="127381" y="35560"/>
                    </a:lnTo>
                    <a:lnTo>
                      <a:pt x="169799" y="9017"/>
                    </a:lnTo>
                    <a:lnTo>
                      <a:pt x="224409" y="0"/>
                    </a:lnTo>
                    <a:lnTo>
                      <a:pt x="251714" y="508"/>
                    </a:lnTo>
                    <a:lnTo>
                      <a:pt x="275336" y="1651"/>
                    </a:lnTo>
                    <a:lnTo>
                      <a:pt x="293624" y="3048"/>
                    </a:lnTo>
                    <a:lnTo>
                      <a:pt x="304800" y="4191"/>
                    </a:lnTo>
                    <a:lnTo>
                      <a:pt x="304800" y="97536"/>
                    </a:lnTo>
                    <a:lnTo>
                      <a:pt x="249555" y="97536"/>
                    </a:lnTo>
                    <a:lnTo>
                      <a:pt x="223139" y="101219"/>
                    </a:lnTo>
                    <a:lnTo>
                      <a:pt x="207391" y="111633"/>
                    </a:lnTo>
                    <a:lnTo>
                      <a:pt x="199771" y="127635"/>
                    </a:lnTo>
                    <a:lnTo>
                      <a:pt x="197739" y="148336"/>
                    </a:lnTo>
                    <a:lnTo>
                      <a:pt x="197739" y="215011"/>
                    </a:lnTo>
                    <a:lnTo>
                      <a:pt x="301117" y="215011"/>
                    </a:lnTo>
                    <a:lnTo>
                      <a:pt x="287655" y="319405"/>
                    </a:lnTo>
                    <a:lnTo>
                      <a:pt x="197993" y="319405"/>
                    </a:lnTo>
                    <a:lnTo>
                      <a:pt x="197993" y="587375"/>
                    </a:lnTo>
                    <a:close/>
                  </a:path>
                </a:pathLst>
              </a:custGeom>
              <a:solidFill>
                <a:srgbClr val="F96E20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6" name="Google Shape;386;p10"/>
            <p:cNvGrpSpPr/>
            <p:nvPr/>
          </p:nvGrpSpPr>
          <p:grpSpPr>
            <a:xfrm>
              <a:off x="839836" y="5693265"/>
              <a:ext cx="537865" cy="537865"/>
              <a:chOff x="380718" y="8517178"/>
              <a:chExt cx="744760" cy="744760"/>
            </a:xfrm>
          </p:grpSpPr>
          <p:sp>
            <p:nvSpPr>
              <p:cNvPr id="387" name="Google Shape;387;p10"/>
              <p:cNvSpPr/>
              <p:nvPr/>
            </p:nvSpPr>
            <p:spPr>
              <a:xfrm>
                <a:off x="380718" y="8517178"/>
                <a:ext cx="744760" cy="744760"/>
              </a:xfrm>
              <a:custGeom>
                <a:rect b="b" l="l" r="r" t="t"/>
                <a:pathLst>
                  <a:path extrusionOk="0" h="993013" w="993013">
                    <a:moveTo>
                      <a:pt x="993013" y="496443"/>
                    </a:moveTo>
                    <a:lnTo>
                      <a:pt x="992124" y="481711"/>
                    </a:lnTo>
                    <a:lnTo>
                      <a:pt x="992124" y="467233"/>
                    </a:lnTo>
                    <a:lnTo>
                      <a:pt x="990219" y="450977"/>
                    </a:lnTo>
                    <a:lnTo>
                      <a:pt x="989203" y="434213"/>
                    </a:lnTo>
                    <a:lnTo>
                      <a:pt x="986663" y="421005"/>
                    </a:lnTo>
                    <a:lnTo>
                      <a:pt x="985266" y="409067"/>
                    </a:lnTo>
                    <a:lnTo>
                      <a:pt x="981329" y="392938"/>
                    </a:lnTo>
                    <a:lnTo>
                      <a:pt x="977900" y="374269"/>
                    </a:lnTo>
                    <a:lnTo>
                      <a:pt x="973963" y="361950"/>
                    </a:lnTo>
                    <a:lnTo>
                      <a:pt x="971550" y="351663"/>
                    </a:lnTo>
                    <a:lnTo>
                      <a:pt x="965708" y="336042"/>
                    </a:lnTo>
                    <a:lnTo>
                      <a:pt x="959612" y="316992"/>
                    </a:lnTo>
                    <a:lnTo>
                      <a:pt x="954532" y="305816"/>
                    </a:lnTo>
                    <a:lnTo>
                      <a:pt x="950849" y="295910"/>
                    </a:lnTo>
                    <a:lnTo>
                      <a:pt x="942975" y="280670"/>
                    </a:lnTo>
                    <a:lnTo>
                      <a:pt x="934847" y="263017"/>
                    </a:lnTo>
                    <a:lnTo>
                      <a:pt x="928370" y="252603"/>
                    </a:lnTo>
                    <a:lnTo>
                      <a:pt x="923163" y="242570"/>
                    </a:lnTo>
                    <a:lnTo>
                      <a:pt x="913892" y="228981"/>
                    </a:lnTo>
                    <a:lnTo>
                      <a:pt x="903986" y="212852"/>
                    </a:lnTo>
                    <a:lnTo>
                      <a:pt x="895477" y="202057"/>
                    </a:lnTo>
                    <a:lnTo>
                      <a:pt x="888746" y="192278"/>
                    </a:lnTo>
                    <a:lnTo>
                      <a:pt x="879094" y="181356"/>
                    </a:lnTo>
                    <a:lnTo>
                      <a:pt x="867664" y="166751"/>
                    </a:lnTo>
                    <a:lnTo>
                      <a:pt x="855980" y="155067"/>
                    </a:lnTo>
                    <a:lnTo>
                      <a:pt x="847471" y="145415"/>
                    </a:lnTo>
                    <a:lnTo>
                      <a:pt x="846836" y="146050"/>
                    </a:lnTo>
                    <a:lnTo>
                      <a:pt x="780034" y="89027"/>
                    </a:lnTo>
                    <a:lnTo>
                      <a:pt x="729742" y="58293"/>
                    </a:lnTo>
                    <a:lnTo>
                      <a:pt x="675767" y="33528"/>
                    </a:lnTo>
                    <a:lnTo>
                      <a:pt x="618617" y="15240"/>
                    </a:lnTo>
                    <a:lnTo>
                      <a:pt x="558800" y="3810"/>
                    </a:lnTo>
                    <a:lnTo>
                      <a:pt x="496443" y="0"/>
                    </a:lnTo>
                    <a:lnTo>
                      <a:pt x="434213" y="3810"/>
                    </a:lnTo>
                    <a:lnTo>
                      <a:pt x="374269" y="15113"/>
                    </a:lnTo>
                    <a:lnTo>
                      <a:pt x="317119" y="33401"/>
                    </a:lnTo>
                    <a:lnTo>
                      <a:pt x="263144" y="58166"/>
                    </a:lnTo>
                    <a:lnTo>
                      <a:pt x="212852" y="88900"/>
                    </a:lnTo>
                    <a:lnTo>
                      <a:pt x="166751" y="125222"/>
                    </a:lnTo>
                    <a:lnTo>
                      <a:pt x="125349" y="166624"/>
                    </a:lnTo>
                    <a:lnTo>
                      <a:pt x="89027" y="212725"/>
                    </a:lnTo>
                    <a:lnTo>
                      <a:pt x="58293" y="263017"/>
                    </a:lnTo>
                    <a:lnTo>
                      <a:pt x="33528" y="316992"/>
                    </a:lnTo>
                    <a:lnTo>
                      <a:pt x="15240" y="374142"/>
                    </a:lnTo>
                    <a:lnTo>
                      <a:pt x="3810" y="434213"/>
                    </a:lnTo>
                    <a:lnTo>
                      <a:pt x="0" y="496443"/>
                    </a:lnTo>
                    <a:lnTo>
                      <a:pt x="3810" y="558800"/>
                    </a:lnTo>
                    <a:lnTo>
                      <a:pt x="15113" y="618744"/>
                    </a:lnTo>
                    <a:lnTo>
                      <a:pt x="33401" y="675894"/>
                    </a:lnTo>
                    <a:lnTo>
                      <a:pt x="58166" y="729869"/>
                    </a:lnTo>
                    <a:lnTo>
                      <a:pt x="88900" y="780161"/>
                    </a:lnTo>
                    <a:lnTo>
                      <a:pt x="125222" y="826262"/>
                    </a:lnTo>
                    <a:lnTo>
                      <a:pt x="145923" y="846963"/>
                    </a:lnTo>
                    <a:lnTo>
                      <a:pt x="145415" y="847471"/>
                    </a:lnTo>
                    <a:lnTo>
                      <a:pt x="154940" y="855980"/>
                    </a:lnTo>
                    <a:lnTo>
                      <a:pt x="166624" y="867664"/>
                    </a:lnTo>
                    <a:lnTo>
                      <a:pt x="180721" y="878840"/>
                    </a:lnTo>
                    <a:lnTo>
                      <a:pt x="192024" y="888873"/>
                    </a:lnTo>
                    <a:lnTo>
                      <a:pt x="202184" y="895858"/>
                    </a:lnTo>
                    <a:lnTo>
                      <a:pt x="212598" y="904113"/>
                    </a:lnTo>
                    <a:lnTo>
                      <a:pt x="227965" y="913511"/>
                    </a:lnTo>
                    <a:lnTo>
                      <a:pt x="242316" y="923290"/>
                    </a:lnTo>
                    <a:lnTo>
                      <a:pt x="252857" y="928751"/>
                    </a:lnTo>
                    <a:lnTo>
                      <a:pt x="262890" y="934847"/>
                    </a:lnTo>
                    <a:lnTo>
                      <a:pt x="279654" y="942594"/>
                    </a:lnTo>
                    <a:lnTo>
                      <a:pt x="295656" y="950849"/>
                    </a:lnTo>
                    <a:lnTo>
                      <a:pt x="306070" y="954786"/>
                    </a:lnTo>
                    <a:lnTo>
                      <a:pt x="316738" y="959739"/>
                    </a:lnTo>
                    <a:lnTo>
                      <a:pt x="334645" y="965454"/>
                    </a:lnTo>
                    <a:lnTo>
                      <a:pt x="351282" y="971550"/>
                    </a:lnTo>
                    <a:lnTo>
                      <a:pt x="362204" y="974217"/>
                    </a:lnTo>
                    <a:lnTo>
                      <a:pt x="374015" y="977900"/>
                    </a:lnTo>
                    <a:lnTo>
                      <a:pt x="391922" y="981329"/>
                    </a:lnTo>
                    <a:lnTo>
                      <a:pt x="408559" y="985266"/>
                    </a:lnTo>
                    <a:lnTo>
                      <a:pt x="420751" y="986663"/>
                    </a:lnTo>
                    <a:lnTo>
                      <a:pt x="433959" y="989203"/>
                    </a:lnTo>
                    <a:lnTo>
                      <a:pt x="450596" y="990219"/>
                    </a:lnTo>
                    <a:lnTo>
                      <a:pt x="466852" y="992124"/>
                    </a:lnTo>
                    <a:lnTo>
                      <a:pt x="481457" y="992124"/>
                    </a:lnTo>
                    <a:lnTo>
                      <a:pt x="496189" y="993013"/>
                    </a:lnTo>
                    <a:lnTo>
                      <a:pt x="510921" y="992124"/>
                    </a:lnTo>
                    <a:lnTo>
                      <a:pt x="525399" y="992124"/>
                    </a:lnTo>
                    <a:lnTo>
                      <a:pt x="541401" y="990219"/>
                    </a:lnTo>
                    <a:lnTo>
                      <a:pt x="558800" y="989076"/>
                    </a:lnTo>
                    <a:lnTo>
                      <a:pt x="572262" y="986536"/>
                    </a:lnTo>
                    <a:lnTo>
                      <a:pt x="579374" y="985647"/>
                    </a:lnTo>
                    <a:lnTo>
                      <a:pt x="579755" y="985647"/>
                    </a:lnTo>
                    <a:lnTo>
                      <a:pt x="584200" y="985139"/>
                    </a:lnTo>
                    <a:lnTo>
                      <a:pt x="600329" y="981202"/>
                    </a:lnTo>
                    <a:lnTo>
                      <a:pt x="618871" y="977646"/>
                    </a:lnTo>
                    <a:lnTo>
                      <a:pt x="630936" y="973836"/>
                    </a:lnTo>
                    <a:lnTo>
                      <a:pt x="641350" y="971296"/>
                    </a:lnTo>
                    <a:lnTo>
                      <a:pt x="646049" y="969518"/>
                    </a:lnTo>
                    <a:lnTo>
                      <a:pt x="646811" y="969391"/>
                    </a:lnTo>
                    <a:lnTo>
                      <a:pt x="650748" y="967867"/>
                    </a:lnTo>
                    <a:lnTo>
                      <a:pt x="657225" y="965454"/>
                    </a:lnTo>
                    <a:lnTo>
                      <a:pt x="676021" y="959485"/>
                    </a:lnTo>
                    <a:lnTo>
                      <a:pt x="687197" y="954405"/>
                    </a:lnTo>
                    <a:lnTo>
                      <a:pt x="697103" y="950722"/>
                    </a:lnTo>
                    <a:lnTo>
                      <a:pt x="706120" y="946023"/>
                    </a:lnTo>
                    <a:lnTo>
                      <a:pt x="710311" y="944372"/>
                    </a:lnTo>
                    <a:lnTo>
                      <a:pt x="716153" y="941070"/>
                    </a:lnTo>
                    <a:lnTo>
                      <a:pt x="729996" y="934720"/>
                    </a:lnTo>
                    <a:lnTo>
                      <a:pt x="740410" y="928370"/>
                    </a:lnTo>
                    <a:lnTo>
                      <a:pt x="750443" y="923163"/>
                    </a:lnTo>
                    <a:lnTo>
                      <a:pt x="762508" y="914908"/>
                    </a:lnTo>
                    <a:lnTo>
                      <a:pt x="769112" y="911225"/>
                    </a:lnTo>
                    <a:lnTo>
                      <a:pt x="772033" y="908939"/>
                    </a:lnTo>
                    <a:lnTo>
                      <a:pt x="780161" y="903986"/>
                    </a:lnTo>
                    <a:lnTo>
                      <a:pt x="790956" y="895477"/>
                    </a:lnTo>
                    <a:lnTo>
                      <a:pt x="800735" y="888746"/>
                    </a:lnTo>
                    <a:lnTo>
                      <a:pt x="811784" y="878967"/>
                    </a:lnTo>
                    <a:lnTo>
                      <a:pt x="819404" y="872998"/>
                    </a:lnTo>
                    <a:lnTo>
                      <a:pt x="822579" y="870585"/>
                    </a:lnTo>
                    <a:lnTo>
                      <a:pt x="823087" y="870077"/>
                    </a:lnTo>
                    <a:lnTo>
                      <a:pt x="826262" y="867537"/>
                    </a:lnTo>
                    <a:lnTo>
                      <a:pt x="837946" y="855853"/>
                    </a:lnTo>
                    <a:lnTo>
                      <a:pt x="847471" y="847471"/>
                    </a:lnTo>
                    <a:lnTo>
                      <a:pt x="855980" y="837946"/>
                    </a:lnTo>
                    <a:lnTo>
                      <a:pt x="867664" y="826262"/>
                    </a:lnTo>
                    <a:lnTo>
                      <a:pt x="869569" y="823722"/>
                    </a:lnTo>
                    <a:lnTo>
                      <a:pt x="869950" y="823341"/>
                    </a:lnTo>
                    <a:lnTo>
                      <a:pt x="872490" y="819912"/>
                    </a:lnTo>
                    <a:lnTo>
                      <a:pt x="878713" y="812038"/>
                    </a:lnTo>
                    <a:lnTo>
                      <a:pt x="888619" y="800735"/>
                    </a:lnTo>
                    <a:lnTo>
                      <a:pt x="895604" y="790575"/>
                    </a:lnTo>
                    <a:lnTo>
                      <a:pt x="903859" y="780161"/>
                    </a:lnTo>
                    <a:lnTo>
                      <a:pt x="907923" y="773557"/>
                    </a:lnTo>
                    <a:lnTo>
                      <a:pt x="910590" y="770001"/>
                    </a:lnTo>
                    <a:lnTo>
                      <a:pt x="915035" y="762127"/>
                    </a:lnTo>
                    <a:lnTo>
                      <a:pt x="923036" y="750443"/>
                    </a:lnTo>
                    <a:lnTo>
                      <a:pt x="928370" y="740029"/>
                    </a:lnTo>
                    <a:lnTo>
                      <a:pt x="934593" y="729996"/>
                    </a:lnTo>
                    <a:lnTo>
                      <a:pt x="939927" y="718312"/>
                    </a:lnTo>
                    <a:lnTo>
                      <a:pt x="943864" y="711327"/>
                    </a:lnTo>
                    <a:lnTo>
                      <a:pt x="946023" y="705866"/>
                    </a:lnTo>
                    <a:lnTo>
                      <a:pt x="950468" y="697230"/>
                    </a:lnTo>
                    <a:lnTo>
                      <a:pt x="954278" y="686816"/>
                    </a:lnTo>
                    <a:lnTo>
                      <a:pt x="959231" y="676148"/>
                    </a:lnTo>
                    <a:lnTo>
                      <a:pt x="964946" y="658495"/>
                    </a:lnTo>
                    <a:lnTo>
                      <a:pt x="969137" y="648081"/>
                    </a:lnTo>
                    <a:lnTo>
                      <a:pt x="970915" y="642620"/>
                    </a:lnTo>
                    <a:lnTo>
                      <a:pt x="974090" y="631063"/>
                    </a:lnTo>
                    <a:lnTo>
                      <a:pt x="973709" y="630809"/>
                    </a:lnTo>
                    <a:lnTo>
                      <a:pt x="977519" y="618998"/>
                    </a:lnTo>
                    <a:lnTo>
                      <a:pt x="980821" y="601091"/>
                    </a:lnTo>
                    <a:lnTo>
                      <a:pt x="984885" y="584327"/>
                    </a:lnTo>
                    <a:lnTo>
                      <a:pt x="986282" y="571881"/>
                    </a:lnTo>
                    <a:lnTo>
                      <a:pt x="988695" y="558927"/>
                    </a:lnTo>
                    <a:lnTo>
                      <a:pt x="989711" y="542544"/>
                    </a:lnTo>
                    <a:lnTo>
                      <a:pt x="991616" y="526161"/>
                    </a:lnTo>
                    <a:lnTo>
                      <a:pt x="991616" y="511175"/>
                    </a:lnTo>
                    <a:lnTo>
                      <a:pt x="992505" y="49644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88" name="Google Shape;388;p10"/>
              <p:cNvGrpSpPr/>
              <p:nvPr/>
            </p:nvGrpSpPr>
            <p:grpSpPr>
              <a:xfrm>
                <a:off x="570731" y="8660503"/>
                <a:ext cx="373380" cy="356902"/>
                <a:chOff x="0" y="0"/>
                <a:chExt cx="497840" cy="475869"/>
              </a:xfrm>
            </p:grpSpPr>
            <p:sp>
              <p:nvSpPr>
                <p:cNvPr id="389" name="Google Shape;389;p10"/>
                <p:cNvSpPr/>
                <p:nvPr/>
              </p:nvSpPr>
              <p:spPr>
                <a:xfrm>
                  <a:off x="278765" y="147320"/>
                  <a:ext cx="194818" cy="54102"/>
                </a:xfrm>
                <a:custGeom>
                  <a:rect b="b" l="l" r="r" t="t"/>
                  <a:pathLst>
                    <a:path extrusionOk="0" h="54102" w="194818">
                      <a:moveTo>
                        <a:pt x="194818" y="53975"/>
                      </a:moveTo>
                      <a:lnTo>
                        <a:pt x="0" y="53975"/>
                      </a:lnTo>
                      <a:lnTo>
                        <a:pt x="0" y="52959"/>
                      </a:lnTo>
                      <a:lnTo>
                        <a:pt x="13081" y="35433"/>
                      </a:lnTo>
                      <a:lnTo>
                        <a:pt x="32131" y="18288"/>
                      </a:lnTo>
                      <a:lnTo>
                        <a:pt x="59182" y="5207"/>
                      </a:lnTo>
                      <a:lnTo>
                        <a:pt x="96139" y="0"/>
                      </a:lnTo>
                      <a:lnTo>
                        <a:pt x="144907" y="8763"/>
                      </a:lnTo>
                      <a:lnTo>
                        <a:pt x="183896" y="35306"/>
                      </a:lnTo>
                      <a:lnTo>
                        <a:pt x="194691" y="54102"/>
                      </a:lnTo>
                      <a:close/>
                    </a:path>
                  </a:pathLst>
                </a:custGeom>
                <a:solidFill>
                  <a:srgbClr val="FA6D1D"/>
                </a:solidFill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" name="Google Shape;390;p10"/>
                <p:cNvSpPr/>
                <p:nvPr/>
              </p:nvSpPr>
              <p:spPr>
                <a:xfrm>
                  <a:off x="172085" y="154813"/>
                  <a:ext cx="317119" cy="321056"/>
                </a:xfrm>
                <a:custGeom>
                  <a:rect b="b" l="l" r="r" t="t"/>
                  <a:pathLst>
                    <a:path extrusionOk="0" h="321056" w="317119">
                      <a:moveTo>
                        <a:pt x="106680" y="321056"/>
                      </a:moveTo>
                      <a:lnTo>
                        <a:pt x="0" y="321056"/>
                      </a:lnTo>
                      <a:lnTo>
                        <a:pt x="254" y="275082"/>
                      </a:lnTo>
                      <a:lnTo>
                        <a:pt x="635" y="171831"/>
                      </a:lnTo>
                      <a:lnTo>
                        <a:pt x="508" y="45466"/>
                      </a:lnTo>
                      <a:lnTo>
                        <a:pt x="127" y="0"/>
                      </a:lnTo>
                      <a:lnTo>
                        <a:pt x="106807" y="0"/>
                      </a:lnTo>
                      <a:lnTo>
                        <a:pt x="106807" y="45466"/>
                      </a:lnTo>
                      <a:lnTo>
                        <a:pt x="106426" y="46228"/>
                      </a:lnTo>
                      <a:lnTo>
                        <a:pt x="106172" y="46482"/>
                      </a:lnTo>
                      <a:lnTo>
                        <a:pt x="301498" y="46482"/>
                      </a:lnTo>
                      <a:lnTo>
                        <a:pt x="316484" y="72771"/>
                      </a:lnTo>
                      <a:lnTo>
                        <a:pt x="317119" y="76708"/>
                      </a:lnTo>
                      <a:lnTo>
                        <a:pt x="165100" y="76708"/>
                      </a:lnTo>
                      <a:lnTo>
                        <a:pt x="145161" y="80137"/>
                      </a:lnTo>
                      <a:lnTo>
                        <a:pt x="107442" y="122555"/>
                      </a:lnTo>
                      <a:lnTo>
                        <a:pt x="106680" y="132207"/>
                      </a:lnTo>
                      <a:lnTo>
                        <a:pt x="106680" y="321056"/>
                      </a:lnTo>
                      <a:close/>
                    </a:path>
                  </a:pathLst>
                </a:custGeom>
                <a:solidFill>
                  <a:srgbClr val="FA6D1D"/>
                </a:solidFill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" name="Google Shape;391;p10"/>
                <p:cNvSpPr/>
                <p:nvPr/>
              </p:nvSpPr>
              <p:spPr>
                <a:xfrm>
                  <a:off x="337058" y="231394"/>
                  <a:ext cx="160782" cy="244475"/>
                </a:xfrm>
                <a:custGeom>
                  <a:rect b="b" l="l" r="r" t="t"/>
                  <a:pathLst>
                    <a:path extrusionOk="0" h="244475" w="160782">
                      <a:moveTo>
                        <a:pt x="160782" y="244475"/>
                      </a:moveTo>
                      <a:lnTo>
                        <a:pt x="54102" y="244475"/>
                      </a:lnTo>
                      <a:lnTo>
                        <a:pt x="54102" y="72771"/>
                      </a:lnTo>
                      <a:lnTo>
                        <a:pt x="51054" y="43180"/>
                      </a:lnTo>
                      <a:lnTo>
                        <a:pt x="41529" y="20193"/>
                      </a:lnTo>
                      <a:lnTo>
                        <a:pt x="24765" y="5334"/>
                      </a:lnTo>
                      <a:lnTo>
                        <a:pt x="0" y="0"/>
                      </a:lnTo>
                      <a:lnTo>
                        <a:pt x="152019" y="0"/>
                      </a:lnTo>
                      <a:lnTo>
                        <a:pt x="160782" y="60198"/>
                      </a:lnTo>
                      <a:lnTo>
                        <a:pt x="160782" y="244348"/>
                      </a:lnTo>
                      <a:close/>
                    </a:path>
                  </a:pathLst>
                </a:custGeom>
                <a:solidFill>
                  <a:srgbClr val="FA6D1D"/>
                </a:solidFill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" name="Google Shape;392;p10"/>
                <p:cNvSpPr/>
                <p:nvPr/>
              </p:nvSpPr>
              <p:spPr>
                <a:xfrm>
                  <a:off x="0" y="0"/>
                  <a:ext cx="120269" cy="110871"/>
                </a:xfrm>
                <a:custGeom>
                  <a:rect b="b" l="l" r="r" t="t"/>
                  <a:pathLst>
                    <a:path extrusionOk="0" h="110871" w="120269">
                      <a:moveTo>
                        <a:pt x="59817" y="110871"/>
                      </a:moveTo>
                      <a:lnTo>
                        <a:pt x="59055" y="110871"/>
                      </a:lnTo>
                      <a:lnTo>
                        <a:pt x="34671" y="106553"/>
                      </a:lnTo>
                      <a:lnTo>
                        <a:pt x="16129" y="94742"/>
                      </a:lnTo>
                      <a:lnTo>
                        <a:pt x="4191" y="77089"/>
                      </a:lnTo>
                      <a:lnTo>
                        <a:pt x="0" y="55372"/>
                      </a:lnTo>
                      <a:lnTo>
                        <a:pt x="4318" y="33528"/>
                      </a:lnTo>
                      <a:lnTo>
                        <a:pt x="16510" y="15875"/>
                      </a:lnTo>
                      <a:lnTo>
                        <a:pt x="35687" y="4191"/>
                      </a:lnTo>
                      <a:lnTo>
                        <a:pt x="60452" y="0"/>
                      </a:lnTo>
                      <a:lnTo>
                        <a:pt x="84963" y="4191"/>
                      </a:lnTo>
                      <a:lnTo>
                        <a:pt x="103632" y="15875"/>
                      </a:lnTo>
                      <a:lnTo>
                        <a:pt x="115570" y="33401"/>
                      </a:lnTo>
                      <a:lnTo>
                        <a:pt x="120269" y="55372"/>
                      </a:lnTo>
                      <a:lnTo>
                        <a:pt x="116078" y="77089"/>
                      </a:lnTo>
                      <a:lnTo>
                        <a:pt x="104013" y="94742"/>
                      </a:lnTo>
                      <a:lnTo>
                        <a:pt x="84963" y="106553"/>
                      </a:lnTo>
                      <a:lnTo>
                        <a:pt x="59817" y="110871"/>
                      </a:lnTo>
                      <a:close/>
                    </a:path>
                  </a:pathLst>
                </a:custGeom>
                <a:solidFill>
                  <a:srgbClr val="FA6D1D"/>
                </a:solidFill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" name="Google Shape;393;p10"/>
                <p:cNvSpPr/>
                <p:nvPr/>
              </p:nvSpPr>
              <p:spPr>
                <a:xfrm>
                  <a:off x="6350" y="154940"/>
                  <a:ext cx="106680" cy="320929"/>
                </a:xfrm>
                <a:custGeom>
                  <a:rect b="b" l="l" r="r" t="t"/>
                  <a:pathLst>
                    <a:path extrusionOk="0" h="320929" w="106680">
                      <a:moveTo>
                        <a:pt x="106680" y="320929"/>
                      </a:moveTo>
                      <a:lnTo>
                        <a:pt x="0" y="320929"/>
                      </a:lnTo>
                      <a:lnTo>
                        <a:pt x="0" y="0"/>
                      </a:lnTo>
                      <a:lnTo>
                        <a:pt x="106680" y="0"/>
                      </a:lnTo>
                      <a:lnTo>
                        <a:pt x="106680" y="320929"/>
                      </a:lnTo>
                      <a:close/>
                    </a:path>
                  </a:pathLst>
                </a:custGeom>
                <a:solidFill>
                  <a:srgbClr val="FA6D1D"/>
                </a:solidFill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4" name="Google Shape;394;p10"/>
            <p:cNvGrpSpPr/>
            <p:nvPr/>
          </p:nvGrpSpPr>
          <p:grpSpPr>
            <a:xfrm>
              <a:off x="2208200" y="5693263"/>
              <a:ext cx="515853" cy="515922"/>
              <a:chOff x="2275431" y="8517171"/>
              <a:chExt cx="714280" cy="714375"/>
            </a:xfrm>
          </p:grpSpPr>
          <p:sp>
            <p:nvSpPr>
              <p:cNvPr id="395" name="Google Shape;395;p10"/>
              <p:cNvSpPr/>
              <p:nvPr/>
            </p:nvSpPr>
            <p:spPr>
              <a:xfrm>
                <a:off x="2275431" y="8517171"/>
                <a:ext cx="714280" cy="714375"/>
              </a:xfrm>
              <a:custGeom>
                <a:rect b="b" l="l" r="r" t="t"/>
                <a:pathLst>
                  <a:path extrusionOk="0" h="952500" w="952373">
                    <a:moveTo>
                      <a:pt x="476250" y="952500"/>
                    </a:moveTo>
                    <a:lnTo>
                      <a:pt x="417957" y="948944"/>
                    </a:lnTo>
                    <a:lnTo>
                      <a:pt x="360553" y="938276"/>
                    </a:lnTo>
                    <a:lnTo>
                      <a:pt x="304800" y="920623"/>
                    </a:lnTo>
                    <a:lnTo>
                      <a:pt x="251714" y="896239"/>
                    </a:lnTo>
                    <a:lnTo>
                      <a:pt x="201930" y="865632"/>
                    </a:lnTo>
                    <a:lnTo>
                      <a:pt x="156337" y="829183"/>
                    </a:lnTo>
                    <a:lnTo>
                      <a:pt x="115570" y="787273"/>
                    </a:lnTo>
                    <a:lnTo>
                      <a:pt x="80264" y="740791"/>
                    </a:lnTo>
                    <a:lnTo>
                      <a:pt x="50800" y="690372"/>
                    </a:lnTo>
                    <a:lnTo>
                      <a:pt x="27813" y="636651"/>
                    </a:lnTo>
                    <a:lnTo>
                      <a:pt x="11557" y="580644"/>
                    </a:lnTo>
                    <a:lnTo>
                      <a:pt x="2286" y="522986"/>
                    </a:lnTo>
                    <a:lnTo>
                      <a:pt x="0" y="476250"/>
                    </a:lnTo>
                    <a:lnTo>
                      <a:pt x="127" y="464566"/>
                    </a:lnTo>
                    <a:lnTo>
                      <a:pt x="5207" y="406400"/>
                    </a:lnTo>
                    <a:lnTo>
                      <a:pt x="17272" y="349250"/>
                    </a:lnTo>
                    <a:lnTo>
                      <a:pt x="36322" y="294005"/>
                    </a:lnTo>
                    <a:lnTo>
                      <a:pt x="61976" y="241554"/>
                    </a:lnTo>
                    <a:lnTo>
                      <a:pt x="93853" y="192659"/>
                    </a:lnTo>
                    <a:lnTo>
                      <a:pt x="131445" y="147955"/>
                    </a:lnTo>
                    <a:lnTo>
                      <a:pt x="174244" y="108204"/>
                    </a:lnTo>
                    <a:lnTo>
                      <a:pt x="221615" y="74041"/>
                    </a:lnTo>
                    <a:lnTo>
                      <a:pt x="272669" y="45720"/>
                    </a:lnTo>
                    <a:lnTo>
                      <a:pt x="326898" y="24003"/>
                    </a:lnTo>
                    <a:lnTo>
                      <a:pt x="383286" y="9144"/>
                    </a:lnTo>
                    <a:lnTo>
                      <a:pt x="441198" y="1270"/>
                    </a:lnTo>
                    <a:lnTo>
                      <a:pt x="476250" y="0"/>
                    </a:lnTo>
                    <a:lnTo>
                      <a:pt x="487934" y="127"/>
                    </a:lnTo>
                    <a:lnTo>
                      <a:pt x="546100" y="5207"/>
                    </a:lnTo>
                    <a:lnTo>
                      <a:pt x="603250" y="17272"/>
                    </a:lnTo>
                    <a:lnTo>
                      <a:pt x="658495" y="36322"/>
                    </a:lnTo>
                    <a:lnTo>
                      <a:pt x="710946" y="61976"/>
                    </a:lnTo>
                    <a:lnTo>
                      <a:pt x="759841" y="93853"/>
                    </a:lnTo>
                    <a:lnTo>
                      <a:pt x="804545" y="131445"/>
                    </a:lnTo>
                    <a:lnTo>
                      <a:pt x="844296" y="174244"/>
                    </a:lnTo>
                    <a:lnTo>
                      <a:pt x="878459" y="221615"/>
                    </a:lnTo>
                    <a:lnTo>
                      <a:pt x="906653" y="272796"/>
                    </a:lnTo>
                    <a:lnTo>
                      <a:pt x="928370" y="327025"/>
                    </a:lnTo>
                    <a:lnTo>
                      <a:pt x="943229" y="383540"/>
                    </a:lnTo>
                    <a:lnTo>
                      <a:pt x="951103" y="441452"/>
                    </a:lnTo>
                    <a:lnTo>
                      <a:pt x="952373" y="476504"/>
                    </a:lnTo>
                    <a:lnTo>
                      <a:pt x="952246" y="488188"/>
                    </a:lnTo>
                    <a:lnTo>
                      <a:pt x="947293" y="546100"/>
                    </a:lnTo>
                    <a:lnTo>
                      <a:pt x="935228" y="603250"/>
                    </a:lnTo>
                    <a:lnTo>
                      <a:pt x="916178" y="658495"/>
                    </a:lnTo>
                    <a:lnTo>
                      <a:pt x="890524" y="710946"/>
                    </a:lnTo>
                    <a:lnTo>
                      <a:pt x="858647" y="759841"/>
                    </a:lnTo>
                    <a:lnTo>
                      <a:pt x="821055" y="804545"/>
                    </a:lnTo>
                    <a:lnTo>
                      <a:pt x="778256" y="844296"/>
                    </a:lnTo>
                    <a:lnTo>
                      <a:pt x="730885" y="878459"/>
                    </a:lnTo>
                    <a:lnTo>
                      <a:pt x="679704" y="906653"/>
                    </a:lnTo>
                    <a:lnTo>
                      <a:pt x="625475" y="928370"/>
                    </a:lnTo>
                    <a:lnTo>
                      <a:pt x="568960" y="943229"/>
                    </a:lnTo>
                    <a:lnTo>
                      <a:pt x="511048" y="951103"/>
                    </a:lnTo>
                    <a:lnTo>
                      <a:pt x="475996" y="95237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96" name="Google Shape;396;p1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376304" y="8620172"/>
                <a:ext cx="512536" cy="51253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397" name="Google Shape;397;p10"/>
          <p:cNvSpPr txBox="1"/>
          <p:nvPr/>
        </p:nvSpPr>
        <p:spPr>
          <a:xfrm>
            <a:off x="2394159" y="2289217"/>
            <a:ext cx="43557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</a:pPr>
            <a:r>
              <a:rPr b="1" i="0" lang="en-GB" sz="5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0"/>
          <p:cNvSpPr txBox="1"/>
          <p:nvPr/>
        </p:nvSpPr>
        <p:spPr>
          <a:xfrm>
            <a:off x="3028956" y="3372264"/>
            <a:ext cx="31965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125" lIns="14125" spcFirstLastPara="1" rIns="14125" wrap="square" tIns="141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MUMBAI | GURUGRAM | KOLKATA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9" name="Google Shape;399;p10"/>
          <p:cNvCxnSpPr/>
          <p:nvPr/>
        </p:nvCxnSpPr>
        <p:spPr>
          <a:xfrm>
            <a:off x="3167492" y="3710783"/>
            <a:ext cx="30534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</p:cxnSp>
      <p:pic>
        <p:nvPicPr>
          <p:cNvPr id="400" name="Google Shape;400;p10"/>
          <p:cNvPicPr preferRelativeResize="0"/>
          <p:nvPr/>
        </p:nvPicPr>
        <p:blipFill rotWithShape="1">
          <a:blip r:embed="rId4">
            <a:alphaModFix/>
          </a:blip>
          <a:srcRect b="0" l="18558" r="18552" t="0"/>
          <a:stretch/>
        </p:blipFill>
        <p:spPr>
          <a:xfrm>
            <a:off x="3985733" y="1007945"/>
            <a:ext cx="1172535" cy="1029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