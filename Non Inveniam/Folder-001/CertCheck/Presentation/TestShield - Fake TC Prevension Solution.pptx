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1"/>
    <p:sldMasterId id="2147483681" r:id="rId2"/>
  </p:sldMasterIdLst>
  <p:notesMasterIdLst>
    <p:notesMasterId r:id="rId22"/>
  </p:notesMasterIdLst>
  <p:sldIdLst>
    <p:sldId id="256" r:id="rId3"/>
    <p:sldId id="269" r:id="rId4"/>
    <p:sldId id="257" r:id="rId5"/>
    <p:sldId id="258" r:id="rId6"/>
    <p:sldId id="259" r:id="rId7"/>
    <p:sldId id="260" r:id="rId8"/>
    <p:sldId id="272" r:id="rId9"/>
    <p:sldId id="270" r:id="rId10"/>
    <p:sldId id="271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3" r:id="rId20"/>
    <p:sldId id="274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763a9984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f763a99847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logo</a:t>
            </a:r>
            <a:endParaRPr/>
          </a:p>
        </p:txBody>
      </p:sp>
      <p:sp>
        <p:nvSpPr>
          <p:cNvPr id="193" name="Google Shape;193;g2f763a99847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763a9984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f763a99847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logo</a:t>
            </a:r>
            <a:endParaRPr/>
          </a:p>
        </p:txBody>
      </p:sp>
      <p:sp>
        <p:nvSpPr>
          <p:cNvPr id="193" name="Google Shape;193;g2f763a99847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978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763a99847_0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763a99847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763a99847_0_4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Process of issue occurrence</a:t>
            </a:r>
            <a:endParaRPr dirty="0"/>
          </a:p>
        </p:txBody>
      </p:sp>
      <p:sp>
        <p:nvSpPr>
          <p:cNvPr id="215" name="Google Shape;215;g2f763a99847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f763a99847_0_5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2f763a99847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f763a99847_0_6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2f763a99847_0_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21B04E34-CEB4-26B5-FE1F-7082E2D9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763a99847_0_773:notes">
            <a:extLst>
              <a:ext uri="{FF2B5EF4-FFF2-40B4-BE49-F238E27FC236}">
                <a16:creationId xmlns:a16="http://schemas.microsoft.com/office/drawing/2014/main" id="{C5020771-9D18-E09B-8B5E-E1D34A95A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f763a99847_0_773:notes">
            <a:extLst>
              <a:ext uri="{FF2B5EF4-FFF2-40B4-BE49-F238E27FC236}">
                <a16:creationId xmlns:a16="http://schemas.microsoft.com/office/drawing/2014/main" id="{EEB012F6-05FC-533B-3047-9CFBDAB15D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533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7715763D-94AA-D4EC-DC82-8C2F1892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763a99847_0_773:notes">
            <a:extLst>
              <a:ext uri="{FF2B5EF4-FFF2-40B4-BE49-F238E27FC236}">
                <a16:creationId xmlns:a16="http://schemas.microsoft.com/office/drawing/2014/main" id="{B3D2AECD-760C-D7BD-9CA7-E171E9843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f763a99847_0_773:notes">
            <a:extLst>
              <a:ext uri="{FF2B5EF4-FFF2-40B4-BE49-F238E27FC236}">
                <a16:creationId xmlns:a16="http://schemas.microsoft.com/office/drawing/2014/main" id="{EC1C0146-9111-58F8-4EF1-FE73821BC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4254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A7AC77B6-641A-C058-565F-3AFE4601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763a99847_0_773:notes">
            <a:extLst>
              <a:ext uri="{FF2B5EF4-FFF2-40B4-BE49-F238E27FC236}">
                <a16:creationId xmlns:a16="http://schemas.microsoft.com/office/drawing/2014/main" id="{788B6DA3-9F9F-ED23-02BD-5507F3065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f763a99847_0_773:notes">
            <a:extLst>
              <a:ext uri="{FF2B5EF4-FFF2-40B4-BE49-F238E27FC236}">
                <a16:creationId xmlns:a16="http://schemas.microsoft.com/office/drawing/2014/main" id="{D5563E1A-2669-AA7F-CABD-EFE129AF1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3412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f763a99847_0_6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2f763a99847_0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763a99847_0_7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2f763a9984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763a99847_0_7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2f763a99847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763a99847_0_7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2f763a99847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763a99847_0_7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f763a99847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763a99847_0_7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2f763a99847_0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763a99847_0_7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f763a99847_0_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763a99847_0_8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2f763a99847_0_8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9B1BE242-323B-D04C-E6FE-41196DB7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763a99847_0_773:notes">
            <a:extLst>
              <a:ext uri="{FF2B5EF4-FFF2-40B4-BE49-F238E27FC236}">
                <a16:creationId xmlns:a16="http://schemas.microsoft.com/office/drawing/2014/main" id="{5ED3C253-AA32-3684-F3A2-7C0AA914D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f763a99847_0_773:notes">
            <a:extLst>
              <a:ext uri="{FF2B5EF4-FFF2-40B4-BE49-F238E27FC236}">
                <a16:creationId xmlns:a16="http://schemas.microsoft.com/office/drawing/2014/main" id="{48B12648-C38A-730C-EA14-188993446B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7229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628650" y="125507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657223" y="124796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dt" idx="10"/>
          </p:nvPr>
        </p:nvSpPr>
        <p:spPr>
          <a:xfrm>
            <a:off x="628650" y="486413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sldNum" idx="12"/>
          </p:nvPr>
        </p:nvSpPr>
        <p:spPr>
          <a:xfrm>
            <a:off x="645795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657223" y="124796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221633" y="205910"/>
            <a:ext cx="78882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4796"/>
              </a:buClr>
              <a:buSzPts val="2100"/>
              <a:buFont typeface="Calibri"/>
              <a:buNone/>
              <a:defRPr sz="2100" b="1">
                <a:solidFill>
                  <a:srgbClr val="2647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3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628650" y="125507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0" y="4817638"/>
            <a:ext cx="4600500" cy="325800"/>
          </a:xfrm>
          <a:prstGeom prst="rect">
            <a:avLst/>
          </a:prstGeom>
          <a:solidFill>
            <a:srgbClr val="26479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600573" y="4817638"/>
            <a:ext cx="4543500" cy="325800"/>
          </a:xfrm>
          <a:prstGeom prst="rect">
            <a:avLst/>
          </a:prstGeom>
          <a:solidFill>
            <a:srgbClr val="264796">
              <a:alpha val="3765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17185" y="-2184"/>
            <a:ext cx="353878" cy="64148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6286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028950" y="484584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4579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628650" y="104777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1"/>
          </p:nvPr>
        </p:nvSpPr>
        <p:spPr>
          <a:xfrm>
            <a:off x="657223" y="124796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5" name="Google Shape;125;p24"/>
          <p:cNvSpPr/>
          <p:nvPr/>
        </p:nvSpPr>
        <p:spPr>
          <a:xfrm>
            <a:off x="0" y="4817638"/>
            <a:ext cx="4600500" cy="325800"/>
          </a:xfrm>
          <a:prstGeom prst="rect">
            <a:avLst/>
          </a:prstGeom>
          <a:solidFill>
            <a:srgbClr val="F68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4"/>
          <p:cNvSpPr/>
          <p:nvPr/>
        </p:nvSpPr>
        <p:spPr>
          <a:xfrm>
            <a:off x="4600573" y="4817638"/>
            <a:ext cx="4543500" cy="325800"/>
          </a:xfrm>
          <a:prstGeom prst="rect">
            <a:avLst/>
          </a:prstGeom>
          <a:solidFill>
            <a:srgbClr val="F6821C">
              <a:alpha val="3765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117185" y="-2184"/>
            <a:ext cx="353878" cy="641489"/>
          </a:xfrm>
          <a:prstGeom prst="flowChartOffpageConnector">
            <a:avLst/>
          </a:prstGeom>
          <a:solidFill>
            <a:srgbClr val="213D8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4"/>
          <p:cNvSpPr txBox="1">
            <a:spLocks noGrp="1"/>
          </p:cNvSpPr>
          <p:nvPr>
            <p:ph type="dt" idx="10"/>
          </p:nvPr>
        </p:nvSpPr>
        <p:spPr>
          <a:xfrm>
            <a:off x="6286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ftr" idx="11"/>
          </p:nvPr>
        </p:nvSpPr>
        <p:spPr>
          <a:xfrm>
            <a:off x="3028950" y="484584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sldNum" idx="12"/>
          </p:nvPr>
        </p:nvSpPr>
        <p:spPr>
          <a:xfrm>
            <a:off x="64579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5" descr="Seamless pattern of isometric pentagons and network hub ic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3431" y="0"/>
            <a:ext cx="457322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5"/>
          <p:cNvPicPr preferRelativeResize="0"/>
          <p:nvPr/>
        </p:nvPicPr>
        <p:blipFill rotWithShape="1">
          <a:blip r:embed="rId4">
            <a:alphaModFix/>
          </a:blip>
          <a:srcRect l="18558" r="18552"/>
          <a:stretch/>
        </p:blipFill>
        <p:spPr>
          <a:xfrm>
            <a:off x="364400" y="842963"/>
            <a:ext cx="1008630" cy="88532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5"/>
          <p:cNvSpPr txBox="1"/>
          <p:nvPr/>
        </p:nvSpPr>
        <p:spPr>
          <a:xfrm>
            <a:off x="552892" y="2571155"/>
            <a:ext cx="391976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50" rIns="0" bIns="1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100"/>
              <a:buFont typeface="Calibri"/>
              <a:buNone/>
            </a:pPr>
            <a:r>
              <a:rPr lang="en" sz="2100" dirty="0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Fake TC Prevention Solution</a:t>
            </a:r>
            <a:endParaRPr sz="1100" dirty="0"/>
          </a:p>
        </p:txBody>
      </p:sp>
      <p:sp>
        <p:nvSpPr>
          <p:cNvPr id="198" name="Google Shape;198;p35"/>
          <p:cNvSpPr txBox="1"/>
          <p:nvPr/>
        </p:nvSpPr>
        <p:spPr>
          <a:xfrm>
            <a:off x="423172" y="1898361"/>
            <a:ext cx="404948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D83"/>
              </a:buClr>
              <a:buSzPts val="4500"/>
              <a:buFont typeface="Calibri"/>
              <a:buNone/>
            </a:pPr>
            <a:r>
              <a:rPr lang="en" sz="4500" b="1" dirty="0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TestShield</a:t>
            </a:r>
            <a:endParaRPr sz="1100" dirty="0"/>
          </a:p>
        </p:txBody>
      </p:sp>
      <p:sp>
        <p:nvSpPr>
          <p:cNvPr id="199" name="Google Shape;199;p35"/>
          <p:cNvSpPr/>
          <p:nvPr/>
        </p:nvSpPr>
        <p:spPr>
          <a:xfrm>
            <a:off x="4200872" y="898364"/>
            <a:ext cx="795600" cy="685800"/>
          </a:xfrm>
          <a:prstGeom prst="triangle">
            <a:avLst>
              <a:gd name="adj" fmla="val 50000"/>
            </a:avLst>
          </a:prstGeom>
          <a:solidFill>
            <a:srgbClr val="213D8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5"/>
          <p:cNvSpPr/>
          <p:nvPr/>
        </p:nvSpPr>
        <p:spPr>
          <a:xfrm rot="10800000">
            <a:off x="4077488" y="-136"/>
            <a:ext cx="1042200" cy="898500"/>
          </a:xfrm>
          <a:prstGeom prst="triangle">
            <a:avLst>
              <a:gd name="adj" fmla="val 50000"/>
            </a:avLst>
          </a:prstGeom>
          <a:solidFill>
            <a:srgbClr val="F68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5"/>
          <p:cNvSpPr/>
          <p:nvPr/>
        </p:nvSpPr>
        <p:spPr>
          <a:xfrm rot="-5400000">
            <a:off x="-1499138" y="2570193"/>
            <a:ext cx="3553778" cy="33115"/>
          </a:xfrm>
          <a:custGeom>
            <a:avLst/>
            <a:gdLst/>
            <a:ahLst/>
            <a:cxnLst/>
            <a:rect l="l" t="t" r="r" b="b"/>
            <a:pathLst>
              <a:path w="11557000" h="88900" extrusionOk="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F6821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5"/>
          <p:cNvSpPr/>
          <p:nvPr/>
        </p:nvSpPr>
        <p:spPr>
          <a:xfrm rot="-5400000">
            <a:off x="-473453" y="2574519"/>
            <a:ext cx="1502410" cy="33115"/>
          </a:xfrm>
          <a:custGeom>
            <a:avLst/>
            <a:gdLst/>
            <a:ahLst/>
            <a:cxnLst/>
            <a:rect l="l" t="t" r="r" b="b"/>
            <a:pathLst>
              <a:path w="11557000" h="88900" extrusionOk="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213D8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5"/>
          <p:cNvSpPr/>
          <p:nvPr/>
        </p:nvSpPr>
        <p:spPr>
          <a:xfrm>
            <a:off x="4593431" y="4817638"/>
            <a:ext cx="4573200" cy="325800"/>
          </a:xfrm>
          <a:prstGeom prst="rect">
            <a:avLst/>
          </a:prstGeom>
          <a:solidFill>
            <a:srgbClr val="F6821C">
              <a:alpha val="3765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111C6D-0B5B-CC1C-9F7E-48250EEC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Agenda</a:t>
            </a:r>
            <a:endParaRPr lang="en-GB" b="0" dirty="0"/>
          </a:p>
        </p:txBody>
      </p:sp>
      <p:sp>
        <p:nvSpPr>
          <p:cNvPr id="4" name="Google Shape;228;p38">
            <a:extLst>
              <a:ext uri="{FF2B5EF4-FFF2-40B4-BE49-F238E27FC236}">
                <a16:creationId xmlns:a16="http://schemas.microsoft.com/office/drawing/2014/main" id="{CDD7EBAF-4274-79B6-1B82-00EDA7D56B08}"/>
              </a:ext>
            </a:extLst>
          </p:cNvPr>
          <p:cNvSpPr/>
          <p:nvPr/>
        </p:nvSpPr>
        <p:spPr>
          <a:xfrm>
            <a:off x="628650" y="1077725"/>
            <a:ext cx="2560320" cy="1475711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31;p38">
            <a:extLst>
              <a:ext uri="{FF2B5EF4-FFF2-40B4-BE49-F238E27FC236}">
                <a16:creationId xmlns:a16="http://schemas.microsoft.com/office/drawing/2014/main" id="{8BE53C8B-E012-1409-AE4E-C7556E03E36D}"/>
              </a:ext>
            </a:extLst>
          </p:cNvPr>
          <p:cNvSpPr txBox="1"/>
          <p:nvPr/>
        </p:nvSpPr>
        <p:spPr>
          <a:xfrm>
            <a:off x="720090" y="1543799"/>
            <a:ext cx="2377440" cy="2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As – is Process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Google Shape;232;p38">
            <a:extLst>
              <a:ext uri="{FF2B5EF4-FFF2-40B4-BE49-F238E27FC236}">
                <a16:creationId xmlns:a16="http://schemas.microsoft.com/office/drawing/2014/main" id="{28031C8A-FE42-F2AF-98E9-ADA615BF8521}"/>
              </a:ext>
            </a:extLst>
          </p:cNvPr>
          <p:cNvSpPr txBox="1"/>
          <p:nvPr/>
        </p:nvSpPr>
        <p:spPr>
          <a:xfrm>
            <a:off x="720090" y="1825063"/>
            <a:ext cx="2377440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process: Distributor orders, manufacturer delivers goods with Test Certificate</a:t>
            </a:r>
            <a:endParaRPr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41204A2-E8A4-298F-D380-51F28DDA91B9}"/>
              </a:ext>
            </a:extLst>
          </p:cNvPr>
          <p:cNvSpPr/>
          <p:nvPr/>
        </p:nvSpPr>
        <p:spPr>
          <a:xfrm>
            <a:off x="1771650" y="1220669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28" name="Google Shape;228;p38">
            <a:extLst>
              <a:ext uri="{FF2B5EF4-FFF2-40B4-BE49-F238E27FC236}">
                <a16:creationId xmlns:a16="http://schemas.microsoft.com/office/drawing/2014/main" id="{F54FD3EE-FA1A-035E-ACEB-6E7B6E09EDE4}"/>
              </a:ext>
            </a:extLst>
          </p:cNvPr>
          <p:cNvSpPr/>
          <p:nvPr/>
        </p:nvSpPr>
        <p:spPr>
          <a:xfrm>
            <a:off x="3296436" y="1077725"/>
            <a:ext cx="2560320" cy="1475711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31;p38">
            <a:extLst>
              <a:ext uri="{FF2B5EF4-FFF2-40B4-BE49-F238E27FC236}">
                <a16:creationId xmlns:a16="http://schemas.microsoft.com/office/drawing/2014/main" id="{563B9011-6306-D29F-D9C9-EBD16DB105D2}"/>
              </a:ext>
            </a:extLst>
          </p:cNvPr>
          <p:cNvSpPr txBox="1"/>
          <p:nvPr/>
        </p:nvSpPr>
        <p:spPr>
          <a:xfrm>
            <a:off x="3387876" y="1543799"/>
            <a:ext cx="2377440" cy="45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Shortcomings of As – Is Process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Google Shape;232;p38">
            <a:extLst>
              <a:ext uri="{FF2B5EF4-FFF2-40B4-BE49-F238E27FC236}">
                <a16:creationId xmlns:a16="http://schemas.microsoft.com/office/drawing/2014/main" id="{FBA3DE84-DA99-4DF1-1448-45E8CFBCF472}"/>
              </a:ext>
            </a:extLst>
          </p:cNvPr>
          <p:cNvSpPr txBox="1"/>
          <p:nvPr/>
        </p:nvSpPr>
        <p:spPr>
          <a:xfrm>
            <a:off x="3387876" y="1997191"/>
            <a:ext cx="237744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Inefficiencies and errors caused by current process. </a:t>
            </a:r>
            <a:endParaRPr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F0A77FB-B6C0-C525-8429-FA96F62D3763}"/>
              </a:ext>
            </a:extLst>
          </p:cNvPr>
          <p:cNvSpPr/>
          <p:nvPr/>
        </p:nvSpPr>
        <p:spPr>
          <a:xfrm>
            <a:off x="4439436" y="1220669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GB" dirty="0"/>
          </a:p>
        </p:txBody>
      </p:sp>
      <p:sp>
        <p:nvSpPr>
          <p:cNvPr id="32" name="Google Shape;228;p38">
            <a:extLst>
              <a:ext uri="{FF2B5EF4-FFF2-40B4-BE49-F238E27FC236}">
                <a16:creationId xmlns:a16="http://schemas.microsoft.com/office/drawing/2014/main" id="{E374C5CA-A899-B072-06F5-E6F9F109063E}"/>
              </a:ext>
            </a:extLst>
          </p:cNvPr>
          <p:cNvSpPr/>
          <p:nvPr/>
        </p:nvSpPr>
        <p:spPr>
          <a:xfrm>
            <a:off x="5964223" y="1077725"/>
            <a:ext cx="2560320" cy="1475711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231;p38">
            <a:extLst>
              <a:ext uri="{FF2B5EF4-FFF2-40B4-BE49-F238E27FC236}">
                <a16:creationId xmlns:a16="http://schemas.microsoft.com/office/drawing/2014/main" id="{B4EECC40-FC72-A00A-6D48-E8B0E724F48A}"/>
              </a:ext>
            </a:extLst>
          </p:cNvPr>
          <p:cNvSpPr txBox="1"/>
          <p:nvPr/>
        </p:nvSpPr>
        <p:spPr>
          <a:xfrm>
            <a:off x="6055663" y="1543799"/>
            <a:ext cx="2377440" cy="45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Problems addressed by blockchain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" name="Google Shape;232;p38">
            <a:extLst>
              <a:ext uri="{FF2B5EF4-FFF2-40B4-BE49-F238E27FC236}">
                <a16:creationId xmlns:a16="http://schemas.microsoft.com/office/drawing/2014/main" id="{EEE760DB-6037-B4A9-EEF5-ADC3F9A7E918}"/>
              </a:ext>
            </a:extLst>
          </p:cNvPr>
          <p:cNvSpPr txBox="1"/>
          <p:nvPr/>
        </p:nvSpPr>
        <p:spPr>
          <a:xfrm>
            <a:off x="6055663" y="1997191"/>
            <a:ext cx="237744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Ensures secure, traceable, and tamper-proof transfer of certificates.</a:t>
            </a:r>
            <a:endParaRPr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2003AAD-C493-11B8-71E4-92829E1F0D49}"/>
              </a:ext>
            </a:extLst>
          </p:cNvPr>
          <p:cNvSpPr/>
          <p:nvPr/>
        </p:nvSpPr>
        <p:spPr>
          <a:xfrm>
            <a:off x="7107223" y="1220669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GB" dirty="0"/>
          </a:p>
        </p:txBody>
      </p:sp>
      <p:sp>
        <p:nvSpPr>
          <p:cNvPr id="36" name="Google Shape;228;p38">
            <a:extLst>
              <a:ext uri="{FF2B5EF4-FFF2-40B4-BE49-F238E27FC236}">
                <a16:creationId xmlns:a16="http://schemas.microsoft.com/office/drawing/2014/main" id="{6437BDDD-4C51-D212-8578-D4F4336B6F1F}"/>
              </a:ext>
            </a:extLst>
          </p:cNvPr>
          <p:cNvSpPr/>
          <p:nvPr/>
        </p:nvSpPr>
        <p:spPr>
          <a:xfrm>
            <a:off x="628650" y="2837736"/>
            <a:ext cx="2560320" cy="1475711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31;p38">
            <a:extLst>
              <a:ext uri="{FF2B5EF4-FFF2-40B4-BE49-F238E27FC236}">
                <a16:creationId xmlns:a16="http://schemas.microsoft.com/office/drawing/2014/main" id="{614A4162-BF7E-AA3A-ED31-C71F0D8FBB73}"/>
              </a:ext>
            </a:extLst>
          </p:cNvPr>
          <p:cNvSpPr txBox="1"/>
          <p:nvPr/>
        </p:nvSpPr>
        <p:spPr>
          <a:xfrm>
            <a:off x="720090" y="3303810"/>
            <a:ext cx="2377440" cy="2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Digital TC Process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8" name="Google Shape;232;p38">
            <a:extLst>
              <a:ext uri="{FF2B5EF4-FFF2-40B4-BE49-F238E27FC236}">
                <a16:creationId xmlns:a16="http://schemas.microsoft.com/office/drawing/2014/main" id="{DF7F8C42-B480-87EA-1F56-CAFEDAEE3C25}"/>
              </a:ext>
            </a:extLst>
          </p:cNvPr>
          <p:cNvSpPr txBox="1"/>
          <p:nvPr/>
        </p:nvSpPr>
        <p:spPr>
          <a:xfrm>
            <a:off x="720090" y="3585074"/>
            <a:ext cx="2377440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Automated TC issuance: seamless digital process from manufacturer to distributor to end – customers.</a:t>
            </a:r>
            <a:endParaRPr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0DE8780-4472-FCDD-5FF2-504985F0995D}"/>
              </a:ext>
            </a:extLst>
          </p:cNvPr>
          <p:cNvSpPr/>
          <p:nvPr/>
        </p:nvSpPr>
        <p:spPr>
          <a:xfrm>
            <a:off x="1771650" y="2980680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GB" dirty="0"/>
          </a:p>
        </p:txBody>
      </p:sp>
      <p:sp>
        <p:nvSpPr>
          <p:cNvPr id="52" name="Google Shape;228;p38">
            <a:extLst>
              <a:ext uri="{FF2B5EF4-FFF2-40B4-BE49-F238E27FC236}">
                <a16:creationId xmlns:a16="http://schemas.microsoft.com/office/drawing/2014/main" id="{3967F3C2-88B2-6483-6901-D18ACBDDCADB}"/>
              </a:ext>
            </a:extLst>
          </p:cNvPr>
          <p:cNvSpPr/>
          <p:nvPr/>
        </p:nvSpPr>
        <p:spPr>
          <a:xfrm>
            <a:off x="3296436" y="2838105"/>
            <a:ext cx="2560320" cy="1475711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231;p38">
            <a:extLst>
              <a:ext uri="{FF2B5EF4-FFF2-40B4-BE49-F238E27FC236}">
                <a16:creationId xmlns:a16="http://schemas.microsoft.com/office/drawing/2014/main" id="{9FF4A45A-1562-46FF-5418-744CB5A3C8E0}"/>
              </a:ext>
            </a:extLst>
          </p:cNvPr>
          <p:cNvSpPr txBox="1"/>
          <p:nvPr/>
        </p:nvSpPr>
        <p:spPr>
          <a:xfrm>
            <a:off x="3387876" y="3303810"/>
            <a:ext cx="2377440" cy="2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View Digital TC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4" name="Google Shape;232;p38">
            <a:extLst>
              <a:ext uri="{FF2B5EF4-FFF2-40B4-BE49-F238E27FC236}">
                <a16:creationId xmlns:a16="http://schemas.microsoft.com/office/drawing/2014/main" id="{7C667740-6360-9E6C-BAE6-F919A4C9FDF5}"/>
              </a:ext>
            </a:extLst>
          </p:cNvPr>
          <p:cNvSpPr txBox="1"/>
          <p:nvPr/>
        </p:nvSpPr>
        <p:spPr>
          <a:xfrm>
            <a:off x="3387876" y="3585074"/>
            <a:ext cx="237744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Process and access digital Test Certificates (TC) efficiently.</a:t>
            </a:r>
            <a:endParaRPr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6A46C7B-3E28-00C8-F34E-FD81B8E3184E}"/>
              </a:ext>
            </a:extLst>
          </p:cNvPr>
          <p:cNvSpPr/>
          <p:nvPr/>
        </p:nvSpPr>
        <p:spPr>
          <a:xfrm>
            <a:off x="4439436" y="2981049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GB" dirty="0"/>
          </a:p>
        </p:txBody>
      </p:sp>
      <p:sp>
        <p:nvSpPr>
          <p:cNvPr id="56" name="Google Shape;228;p38">
            <a:extLst>
              <a:ext uri="{FF2B5EF4-FFF2-40B4-BE49-F238E27FC236}">
                <a16:creationId xmlns:a16="http://schemas.microsoft.com/office/drawing/2014/main" id="{1EB7E929-0728-1F31-170C-64CA567C5DD2}"/>
              </a:ext>
            </a:extLst>
          </p:cNvPr>
          <p:cNvSpPr/>
          <p:nvPr/>
        </p:nvSpPr>
        <p:spPr>
          <a:xfrm>
            <a:off x="5964223" y="2838105"/>
            <a:ext cx="2560320" cy="1475711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231;p38">
            <a:extLst>
              <a:ext uri="{FF2B5EF4-FFF2-40B4-BE49-F238E27FC236}">
                <a16:creationId xmlns:a16="http://schemas.microsoft.com/office/drawing/2014/main" id="{AD503881-B9F2-B22A-8E0C-E4B37221DE36}"/>
              </a:ext>
            </a:extLst>
          </p:cNvPr>
          <p:cNvSpPr txBox="1"/>
          <p:nvPr/>
        </p:nvSpPr>
        <p:spPr>
          <a:xfrm>
            <a:off x="6055663" y="3303810"/>
            <a:ext cx="2377440" cy="2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TC Verification from platform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8" name="Google Shape;232;p38">
            <a:extLst>
              <a:ext uri="{FF2B5EF4-FFF2-40B4-BE49-F238E27FC236}">
                <a16:creationId xmlns:a16="http://schemas.microsoft.com/office/drawing/2014/main" id="{9D73BAF0-A60A-EFDD-09DC-441A01F3F3F2}"/>
              </a:ext>
            </a:extLst>
          </p:cNvPr>
          <p:cNvSpPr txBox="1"/>
          <p:nvPr/>
        </p:nvSpPr>
        <p:spPr>
          <a:xfrm>
            <a:off x="6055663" y="3585074"/>
            <a:ext cx="237744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Streamlined TC verification process through our platform.</a:t>
            </a:r>
            <a:endParaRPr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C2E7ED4-408A-6E34-8994-814156FC14D8}"/>
              </a:ext>
            </a:extLst>
          </p:cNvPr>
          <p:cNvSpPr/>
          <p:nvPr/>
        </p:nvSpPr>
        <p:spPr>
          <a:xfrm>
            <a:off x="7107223" y="2981049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GB" dirty="0"/>
          </a:p>
        </p:txBody>
      </p:sp>
      <p:pic>
        <p:nvPicPr>
          <p:cNvPr id="192" name="Google Shape;196;p29">
            <a:extLst>
              <a:ext uri="{FF2B5EF4-FFF2-40B4-BE49-F238E27FC236}">
                <a16:creationId xmlns:a16="http://schemas.microsoft.com/office/drawing/2014/main" id="{7C6AFD70-554A-20ED-FEE5-445FC1D62270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281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08" name="Google Shape;208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 dirty="0"/>
              <a:t>As-Is Process</a:t>
            </a:r>
            <a:endParaRPr b="0" dirty="0"/>
          </a:p>
        </p:txBody>
      </p:sp>
      <p:sp>
        <p:nvSpPr>
          <p:cNvPr id="211" name="Google Shape;211;p36"/>
          <p:cNvSpPr txBox="1"/>
          <p:nvPr/>
        </p:nvSpPr>
        <p:spPr>
          <a:xfrm>
            <a:off x="628650" y="1161826"/>
            <a:ext cx="4326580" cy="283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42900" marR="0" lvl="0" indent="-288925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Distributor places a purchase order to the manufacturer</a:t>
            </a:r>
            <a:endParaRPr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88925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Manufacturer processes the order</a:t>
            </a:r>
            <a:endParaRPr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88925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Manufacturer sends the Goods and Physical copy of the TC to the Distributor</a:t>
            </a:r>
            <a:endParaRPr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88925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Distributor sells the goods along with a PhotoStated copy of the Original TC</a:t>
            </a:r>
            <a:endParaRPr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278" y="806452"/>
            <a:ext cx="3201072" cy="384022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8;p37">
            <a:extLst>
              <a:ext uri="{FF2B5EF4-FFF2-40B4-BE49-F238E27FC236}">
                <a16:creationId xmlns:a16="http://schemas.microsoft.com/office/drawing/2014/main" id="{9F75615F-7BCE-5DD2-B129-EA85AB316CB7}"/>
              </a:ext>
            </a:extLst>
          </p:cNvPr>
          <p:cNvSpPr txBox="1">
            <a:spLocks/>
          </p:cNvSpPr>
          <p:nvPr/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pic>
        <p:nvPicPr>
          <p:cNvPr id="2" name="Google Shape;196;p29">
            <a:extLst>
              <a:ext uri="{FF2B5EF4-FFF2-40B4-BE49-F238E27FC236}">
                <a16:creationId xmlns:a16="http://schemas.microsoft.com/office/drawing/2014/main" id="{7DF40A97-51BF-D09C-5E45-4C7FC0F3F766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title"/>
          </p:nvPr>
        </p:nvSpPr>
        <p:spPr>
          <a:xfrm>
            <a:off x="628650" y="14773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 dirty="0"/>
              <a:t>Shortcomings of As-Is Process</a:t>
            </a:r>
            <a:endParaRPr b="0" dirty="0"/>
          </a:p>
        </p:txBody>
      </p:sp>
      <p:sp>
        <p:nvSpPr>
          <p:cNvPr id="218" name="Google Shape;218;p37"/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21" name="Google Shape;22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959139"/>
            <a:ext cx="1942428" cy="3397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96;p29">
            <a:extLst>
              <a:ext uri="{FF2B5EF4-FFF2-40B4-BE49-F238E27FC236}">
                <a16:creationId xmlns:a16="http://schemas.microsoft.com/office/drawing/2014/main" id="{8D9137FA-8506-C16A-2748-A11E9A41DBDC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0260AD-F098-D8E0-F17D-AB2DED038AB8}"/>
              </a:ext>
            </a:extLst>
          </p:cNvPr>
          <p:cNvSpPr txBox="1"/>
          <p:nvPr/>
        </p:nvSpPr>
        <p:spPr>
          <a:xfrm>
            <a:off x="2956331" y="1380537"/>
            <a:ext cx="555901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000" dirty="0"/>
              <a:t>There is no visibility after the shipment of the goods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Chances to use the brand image along with using Counterfeit TC and Goods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Erosion of brand reputation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Revenue loss due to misuse of brand image and fulfilling the demand with fake products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 dirty="0"/>
              <a:t>Problems addressed by blockchain</a:t>
            </a:r>
            <a:endParaRPr b="0" dirty="0"/>
          </a:p>
        </p:txBody>
      </p:sp>
      <p:sp>
        <p:nvSpPr>
          <p:cNvPr id="227" name="Google Shape;227;p38"/>
          <p:cNvSpPr txBox="1">
            <a:spLocks noGrp="1"/>
          </p:cNvSpPr>
          <p:nvPr>
            <p:ph type="sldNum" idx="12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28" name="Google Shape;228;p38"/>
          <p:cNvSpPr/>
          <p:nvPr/>
        </p:nvSpPr>
        <p:spPr>
          <a:xfrm>
            <a:off x="583679" y="1107916"/>
            <a:ext cx="2418000" cy="146304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8"/>
          <p:cNvSpPr/>
          <p:nvPr/>
        </p:nvSpPr>
        <p:spPr>
          <a:xfrm>
            <a:off x="3258661" y="1107916"/>
            <a:ext cx="2418000" cy="146304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3416101" y="1312053"/>
            <a:ext cx="2103120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Digital Sign &amp; QR code</a:t>
            </a: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741119" y="1312053"/>
            <a:ext cx="210312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Digitise issued TC</a:t>
            </a: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232" name="Google Shape;232;p38"/>
          <p:cNvSpPr txBox="1"/>
          <p:nvPr/>
        </p:nvSpPr>
        <p:spPr>
          <a:xfrm>
            <a:off x="741119" y="1683129"/>
            <a:ext cx="210312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3416101" y="1683129"/>
            <a:ext cx="2103120" cy="746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234" name="Google Shape;234;p38"/>
          <p:cNvSpPr/>
          <p:nvPr/>
        </p:nvSpPr>
        <p:spPr>
          <a:xfrm>
            <a:off x="583679" y="2889881"/>
            <a:ext cx="2418000" cy="1466966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8"/>
          <p:cNvSpPr/>
          <p:nvPr/>
        </p:nvSpPr>
        <p:spPr>
          <a:xfrm>
            <a:off x="3258661" y="2889881"/>
            <a:ext cx="2418000" cy="1466966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8"/>
          <p:cNvSpPr txBox="1"/>
          <p:nvPr/>
        </p:nvSpPr>
        <p:spPr>
          <a:xfrm>
            <a:off x="741119" y="3063045"/>
            <a:ext cx="210312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741119" y="3437284"/>
            <a:ext cx="210312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Transactions of a TC need to be transparent to the Customers and Consumers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3416101" y="3063045"/>
            <a:ext cx="210312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3416101" y="3437284"/>
            <a:ext cx="210312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TC data needs to be tamper proof to maintain the reliability, trustworthiness and the brand image</a:t>
            </a:r>
            <a:endParaRPr sz="1100" dirty="0">
              <a:solidFill>
                <a:schemeClr val="tx1"/>
              </a:solidFill>
            </a:endParaRPr>
          </a:p>
        </p:txBody>
      </p:sp>
      <p:pic>
        <p:nvPicPr>
          <p:cNvPr id="240" name="Google Shape;240;p38"/>
          <p:cNvPicPr preferRelativeResize="0"/>
          <p:nvPr/>
        </p:nvPicPr>
        <p:blipFill>
          <a:blip r:embed="rId3">
            <a:alphaModFix/>
          </a:blip>
          <a:srcRect l="4620" t="2499" r="5406" b="1918"/>
          <a:stretch/>
        </p:blipFill>
        <p:spPr>
          <a:xfrm>
            <a:off x="6279632" y="1618581"/>
            <a:ext cx="1978736" cy="267371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8"/>
          <p:cNvSpPr txBox="1">
            <a:spLocks noGrp="1"/>
          </p:cNvSpPr>
          <p:nvPr>
            <p:ph type="title"/>
          </p:nvPr>
        </p:nvSpPr>
        <p:spPr>
          <a:xfrm>
            <a:off x="6022650" y="1073260"/>
            <a:ext cx="24927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sz="1600" dirty="0"/>
              <a:t>Core Features of Blockchain</a:t>
            </a:r>
            <a:endParaRPr sz="1600" dirty="0"/>
          </a:p>
        </p:txBody>
      </p:sp>
      <p:pic>
        <p:nvPicPr>
          <p:cNvPr id="2" name="Google Shape;196;p29">
            <a:extLst>
              <a:ext uri="{FF2B5EF4-FFF2-40B4-BE49-F238E27FC236}">
                <a16:creationId xmlns:a16="http://schemas.microsoft.com/office/drawing/2014/main" id="{BCF1712E-0F08-C535-8F78-C11310783332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 dirty="0"/>
              <a:t>Digital TC Process – Manufacturer to Distributor</a:t>
            </a:r>
            <a:endParaRPr b="0" dirty="0"/>
          </a:p>
        </p:txBody>
      </p:sp>
      <p:sp>
        <p:nvSpPr>
          <p:cNvPr id="247" name="Google Shape;247;p39"/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49" name="Google Shape;249;p39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50" name="Google Shape;250;p39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51" name="Google Shape;251;p39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sp>
        <p:nvSpPr>
          <p:cNvPr id="253" name="Google Shape;253;p39"/>
          <p:cNvSpPr txBox="1"/>
          <p:nvPr/>
        </p:nvSpPr>
        <p:spPr>
          <a:xfrm>
            <a:off x="614877" y="3840860"/>
            <a:ext cx="78867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*  Digitally signed Test Certificates can be viewed from the platform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*  Digitally signed Test Certificates can be sent over email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53;p39">
            <a:extLst>
              <a:ext uri="{FF2B5EF4-FFF2-40B4-BE49-F238E27FC236}">
                <a16:creationId xmlns:a16="http://schemas.microsoft.com/office/drawing/2014/main" id="{368FD184-DC52-59DC-FA6C-372CDD6A271F}"/>
              </a:ext>
            </a:extLst>
          </p:cNvPr>
          <p:cNvSpPr txBox="1"/>
          <p:nvPr/>
        </p:nvSpPr>
        <p:spPr>
          <a:xfrm>
            <a:off x="614877" y="876852"/>
            <a:ext cx="7886700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Test Certificates (TC) will be generated through the Oracle system as mandated by MSL.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7.png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AE717025-9E83-A9A7-D6CC-52E89D9EAFCA}"/>
              </a:ext>
            </a:extLst>
          </p:cNvPr>
          <p:cNvPicPr/>
          <p:nvPr/>
        </p:nvPicPr>
        <p:blipFill>
          <a:blip r:embed="rId3"/>
          <a:srcRect l="1918" t="4016" r="1918" b="5755"/>
          <a:stretch/>
        </p:blipFill>
        <p:spPr>
          <a:xfrm>
            <a:off x="614877" y="1331182"/>
            <a:ext cx="7900473" cy="2361619"/>
          </a:xfrm>
          <a:prstGeom prst="rect">
            <a:avLst/>
          </a:prstGeom>
          <a:ln/>
        </p:spPr>
      </p:pic>
      <p:pic>
        <p:nvPicPr>
          <p:cNvPr id="4" name="Google Shape;196;p29">
            <a:extLst>
              <a:ext uri="{FF2B5EF4-FFF2-40B4-BE49-F238E27FC236}">
                <a16:creationId xmlns:a16="http://schemas.microsoft.com/office/drawing/2014/main" id="{820C64EB-B100-5590-5B12-40BF10C08D5A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B0492A24-A5E6-B6CA-2AC6-6A0AD6C04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>
            <a:extLst>
              <a:ext uri="{FF2B5EF4-FFF2-40B4-BE49-F238E27FC236}">
                <a16:creationId xmlns:a16="http://schemas.microsoft.com/office/drawing/2014/main" id="{ABDB121D-2329-6AF3-3510-1BE31BBAB7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 dirty="0"/>
              <a:t>Digital TC Process – Manufacturer to Distributor</a:t>
            </a:r>
            <a:endParaRPr b="0" dirty="0"/>
          </a:p>
        </p:txBody>
      </p:sp>
      <p:sp>
        <p:nvSpPr>
          <p:cNvPr id="331" name="Google Shape;331;p46">
            <a:extLst>
              <a:ext uri="{FF2B5EF4-FFF2-40B4-BE49-F238E27FC236}">
                <a16:creationId xmlns:a16="http://schemas.microsoft.com/office/drawing/2014/main" id="{23213051-185F-A61F-E367-4FA37F5542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pic>
        <p:nvPicPr>
          <p:cNvPr id="3" name="Google Shape;196;p29">
            <a:extLst>
              <a:ext uri="{FF2B5EF4-FFF2-40B4-BE49-F238E27FC236}">
                <a16:creationId xmlns:a16="http://schemas.microsoft.com/office/drawing/2014/main" id="{8DEAAF75-922A-D7F4-8AC7-FED087BA3CFE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316DB3-A070-C42A-7353-DC723453CE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" t="522" r="403" b="631"/>
          <a:stretch/>
        </p:blipFill>
        <p:spPr>
          <a:xfrm>
            <a:off x="1504939" y="902471"/>
            <a:ext cx="6134122" cy="370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6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85D0D39E-5967-6111-5AE1-5F022831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>
            <a:extLst>
              <a:ext uri="{FF2B5EF4-FFF2-40B4-BE49-F238E27FC236}">
                <a16:creationId xmlns:a16="http://schemas.microsoft.com/office/drawing/2014/main" id="{758227FA-F0A7-9FDD-2926-D8DF78F44D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 dirty="0"/>
              <a:t>Digital TC Process – Manufacturer to Distributor</a:t>
            </a:r>
            <a:endParaRPr b="0" dirty="0"/>
          </a:p>
        </p:txBody>
      </p:sp>
      <p:sp>
        <p:nvSpPr>
          <p:cNvPr id="331" name="Google Shape;331;p46">
            <a:extLst>
              <a:ext uri="{FF2B5EF4-FFF2-40B4-BE49-F238E27FC236}">
                <a16:creationId xmlns:a16="http://schemas.microsoft.com/office/drawing/2014/main" id="{00BD43CB-6DB3-177D-D705-4106F5C80F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pic>
        <p:nvPicPr>
          <p:cNvPr id="3" name="Google Shape;196;p29">
            <a:extLst>
              <a:ext uri="{FF2B5EF4-FFF2-40B4-BE49-F238E27FC236}">
                <a16:creationId xmlns:a16="http://schemas.microsoft.com/office/drawing/2014/main" id="{D79019DA-B21B-8D03-B469-D43B84A6C441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person sitting at a computer&#10;&#10;Description automatically generated">
            <a:extLst>
              <a:ext uri="{FF2B5EF4-FFF2-40B4-BE49-F238E27FC236}">
                <a16:creationId xmlns:a16="http://schemas.microsoft.com/office/drawing/2014/main" id="{04049CC7-9033-70F6-D9A7-837114489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919796"/>
            <a:ext cx="7886700" cy="36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21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F8C4A267-0EF2-6B00-0A8F-574491F7D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>
            <a:extLst>
              <a:ext uri="{FF2B5EF4-FFF2-40B4-BE49-F238E27FC236}">
                <a16:creationId xmlns:a16="http://schemas.microsoft.com/office/drawing/2014/main" id="{75F3E58A-9741-6C3C-724D-3EC7D527B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 dirty="0"/>
              <a:t>Digital TC Process – Buyer Verifies</a:t>
            </a:r>
            <a:endParaRPr b="0" dirty="0"/>
          </a:p>
        </p:txBody>
      </p:sp>
      <p:sp>
        <p:nvSpPr>
          <p:cNvPr id="331" name="Google Shape;331;p46">
            <a:extLst>
              <a:ext uri="{FF2B5EF4-FFF2-40B4-BE49-F238E27FC236}">
                <a16:creationId xmlns:a16="http://schemas.microsoft.com/office/drawing/2014/main" id="{44B5190D-165E-36A2-1913-2C9487D064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pic>
        <p:nvPicPr>
          <p:cNvPr id="3" name="Google Shape;196;p29">
            <a:extLst>
              <a:ext uri="{FF2B5EF4-FFF2-40B4-BE49-F238E27FC236}">
                <a16:creationId xmlns:a16="http://schemas.microsoft.com/office/drawing/2014/main" id="{9904AE1D-7C0F-A51A-382D-AF31DD4D3617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DFC2031-D3D1-96DE-A6B0-1DE0A445C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17" y="1138884"/>
            <a:ext cx="7882667" cy="286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/>
              <a:t>View Digital TC - Step 1</a:t>
            </a:r>
            <a:endParaRPr b="0"/>
          </a:p>
        </p:txBody>
      </p:sp>
      <p:sp>
        <p:nvSpPr>
          <p:cNvPr id="259" name="Google Shape;259;p40"/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 dirty="0"/>
          </a:p>
        </p:txBody>
      </p:sp>
      <p:sp>
        <p:nvSpPr>
          <p:cNvPr id="260" name="Google Shape;260;p40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61" name="Google Shape;261;p40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62" name="Google Shape;262;p40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63" name="Google Shape;263;p40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806452"/>
            <a:ext cx="7886700" cy="374308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0"/>
          <p:cNvSpPr/>
          <p:nvPr/>
        </p:nvSpPr>
        <p:spPr>
          <a:xfrm>
            <a:off x="7875156" y="1864914"/>
            <a:ext cx="348648" cy="14614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96;p29">
            <a:extLst>
              <a:ext uri="{FF2B5EF4-FFF2-40B4-BE49-F238E27FC236}">
                <a16:creationId xmlns:a16="http://schemas.microsoft.com/office/drawing/2014/main" id="{592E4C43-6EC7-95A6-B120-59FEF00A91BF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/>
              <a:t>View Digital TC - Step 2</a:t>
            </a:r>
            <a:endParaRPr b="0"/>
          </a:p>
        </p:txBody>
      </p:sp>
      <p:sp>
        <p:nvSpPr>
          <p:cNvPr id="271" name="Google Shape;271;p41"/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72" name="Google Shape;272;p41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73" name="Google Shape;273;p41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74" name="Google Shape;274;p41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75" name="Google Shape;275;p41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276" name="Google Shape;2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775124"/>
            <a:ext cx="7886700" cy="38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/>
              <a:t>View Digital TC - Step 2 - After scrolling down</a:t>
            </a:r>
            <a:endParaRPr b="0"/>
          </a:p>
        </p:txBody>
      </p:sp>
      <p:sp>
        <p:nvSpPr>
          <p:cNvPr id="282" name="Google Shape;282;p42"/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83" name="Google Shape;283;p42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84" name="Google Shape;284;p42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85" name="Google Shape;285;p42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86" name="Google Shape;286;p42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287" name="Google Shape;287;p42"/>
          <p:cNvPicPr preferRelativeResize="0"/>
          <p:nvPr/>
        </p:nvPicPr>
        <p:blipFill rotWithShape="1">
          <a:blip r:embed="rId3">
            <a:alphaModFix/>
          </a:blip>
          <a:srcRect t="268" b="258"/>
          <a:stretch/>
        </p:blipFill>
        <p:spPr>
          <a:xfrm>
            <a:off x="628650" y="775123"/>
            <a:ext cx="7886700" cy="3732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96;p29">
            <a:extLst>
              <a:ext uri="{FF2B5EF4-FFF2-40B4-BE49-F238E27FC236}">
                <a16:creationId xmlns:a16="http://schemas.microsoft.com/office/drawing/2014/main" id="{0201CAA7-04AB-291B-B214-F67C3898DBD4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 dirty="0"/>
              <a:t>Digital TC Process – Distributor to end customer</a:t>
            </a:r>
            <a:endParaRPr b="0" dirty="0"/>
          </a:p>
        </p:txBody>
      </p:sp>
      <p:sp>
        <p:nvSpPr>
          <p:cNvPr id="293" name="Google Shape;293;p43"/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94" name="Google Shape;294;p43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95" name="Google Shape;295;p43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96" name="Google Shape;296;p43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97" name="Google Shape;297;p43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sp>
        <p:nvSpPr>
          <p:cNvPr id="298" name="Google Shape;298;p43"/>
          <p:cNvSpPr txBox="1"/>
          <p:nvPr/>
        </p:nvSpPr>
        <p:spPr>
          <a:xfrm>
            <a:off x="628650" y="3191763"/>
            <a:ext cx="7886700" cy="12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1. Distributor (Seller) logs a transaction of gods quantity into the platform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2. Buyer gets notification over Email/SMS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3. Buyer scans the QR Code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eriod"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Seller can provide the printout of the original TC which has the QR code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eriod"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Ownership of the TC is not proven without the platform confirmation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4. Buyer authenticate to view the TC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5. View the TC and Transactions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946673"/>
            <a:ext cx="7886700" cy="2022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96;p29">
            <a:extLst>
              <a:ext uri="{FF2B5EF4-FFF2-40B4-BE49-F238E27FC236}">
                <a16:creationId xmlns:a16="http://schemas.microsoft.com/office/drawing/2014/main" id="{BEA54DC1-F68C-C778-31E8-F3CD075FF798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 dirty="0"/>
              <a:t>TC Verification from Platform - Step 1</a:t>
            </a:r>
            <a:endParaRPr b="0" dirty="0"/>
          </a:p>
        </p:txBody>
      </p:sp>
      <p:sp>
        <p:nvSpPr>
          <p:cNvPr id="305" name="Google Shape;305;p44"/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06" name="Google Shape;306;p44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307" name="Google Shape;307;p44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308" name="Google Shape;308;p44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309" name="Google Shape;309;p44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310" name="Google Shape;3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57" y="1021977"/>
            <a:ext cx="7735393" cy="360381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/>
        </p:nvSpPr>
        <p:spPr>
          <a:xfrm>
            <a:off x="678025" y="690975"/>
            <a:ext cx="4860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Enter the buyer details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4"/>
          <p:cNvSpPr/>
          <p:nvPr/>
        </p:nvSpPr>
        <p:spPr>
          <a:xfrm>
            <a:off x="2171046" y="1411154"/>
            <a:ext cx="5940219" cy="1409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96;p29">
            <a:extLst>
              <a:ext uri="{FF2B5EF4-FFF2-40B4-BE49-F238E27FC236}">
                <a16:creationId xmlns:a16="http://schemas.microsoft.com/office/drawing/2014/main" id="{42D807F7-4F04-2915-50CA-92C6920EF995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/>
              <a:t>TC Verification from Platform - Step 2</a:t>
            </a:r>
            <a:endParaRPr b="0"/>
          </a:p>
        </p:txBody>
      </p:sp>
      <p:sp>
        <p:nvSpPr>
          <p:cNvPr id="318" name="Google Shape;318;p45"/>
          <p:cNvSpPr txBox="1">
            <a:spLocks noGrp="1"/>
          </p:cNvSpPr>
          <p:nvPr>
            <p:ph type="sldNum" idx="12"/>
          </p:nvPr>
        </p:nvSpPr>
        <p:spPr>
          <a:xfrm>
            <a:off x="6457950" y="483181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 dirty="0"/>
          </a:p>
        </p:txBody>
      </p:sp>
      <p:sp>
        <p:nvSpPr>
          <p:cNvPr id="319" name="Google Shape;319;p45"/>
          <p:cNvSpPr txBox="1"/>
          <p:nvPr/>
        </p:nvSpPr>
        <p:spPr>
          <a:xfrm>
            <a:off x="3605135" y="1015388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320" name="Google Shape;320;p45"/>
          <p:cNvSpPr txBox="1"/>
          <p:nvPr/>
        </p:nvSpPr>
        <p:spPr>
          <a:xfrm>
            <a:off x="841088" y="1009148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321" name="Google Shape;321;p45"/>
          <p:cNvSpPr txBox="1"/>
          <p:nvPr/>
        </p:nvSpPr>
        <p:spPr>
          <a:xfrm>
            <a:off x="779957" y="1380224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322" name="Google Shape;322;p45"/>
          <p:cNvSpPr txBox="1"/>
          <p:nvPr/>
        </p:nvSpPr>
        <p:spPr>
          <a:xfrm>
            <a:off x="3605135" y="1389627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323" name="Google Shape;32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960" y="929475"/>
            <a:ext cx="7735390" cy="368718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5"/>
          <p:cNvSpPr txBox="1"/>
          <p:nvPr/>
        </p:nvSpPr>
        <p:spPr>
          <a:xfrm>
            <a:off x="678025" y="690975"/>
            <a:ext cx="4860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Enter the product details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5"/>
          <p:cNvSpPr/>
          <p:nvPr/>
        </p:nvSpPr>
        <p:spPr>
          <a:xfrm>
            <a:off x="2151530" y="3044413"/>
            <a:ext cx="6013524" cy="1300757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>
            <a:spLocks noGrp="1"/>
          </p:cNvSpPr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b="0"/>
              <a:t>TC Verification from Platform - Step 2</a:t>
            </a:r>
            <a:endParaRPr b="0"/>
          </a:p>
        </p:txBody>
      </p:sp>
      <p:sp>
        <p:nvSpPr>
          <p:cNvPr id="331" name="Google Shape;331;p46"/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 dirty="0"/>
          </a:p>
        </p:txBody>
      </p:sp>
      <p:sp>
        <p:nvSpPr>
          <p:cNvPr id="332" name="Google Shape;332;p46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333" name="Google Shape;333;p46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334" name="Google Shape;334;p46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335" name="Google Shape;335;p46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336" name="Google Shape;336;p46"/>
          <p:cNvPicPr preferRelativeResize="0"/>
          <p:nvPr/>
        </p:nvPicPr>
        <p:blipFill rotWithShape="1">
          <a:blip r:embed="rId3">
            <a:alphaModFix/>
          </a:blip>
          <a:srcRect t="268" b="258"/>
          <a:stretch/>
        </p:blipFill>
        <p:spPr>
          <a:xfrm>
            <a:off x="628650" y="962025"/>
            <a:ext cx="7886701" cy="361293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6"/>
          <p:cNvSpPr txBox="1"/>
          <p:nvPr/>
        </p:nvSpPr>
        <p:spPr>
          <a:xfrm>
            <a:off x="678025" y="690975"/>
            <a:ext cx="4860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View the TC and Transactions after OTP Authentication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96;p29">
            <a:extLst>
              <a:ext uri="{FF2B5EF4-FFF2-40B4-BE49-F238E27FC236}">
                <a16:creationId xmlns:a16="http://schemas.microsoft.com/office/drawing/2014/main" id="{968458BD-CBAD-2FD1-738B-F2E7F685D4DC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 r="18556"/>
          <a:stretch/>
        </p:blipFill>
        <p:spPr>
          <a:xfrm>
            <a:off x="8078992" y="102394"/>
            <a:ext cx="795405" cy="70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/>
          <p:nvPr/>
        </p:nvSpPr>
        <p:spPr>
          <a:xfrm>
            <a:off x="0" y="-23175"/>
            <a:ext cx="9144000" cy="5143500"/>
          </a:xfrm>
          <a:prstGeom prst="rect">
            <a:avLst/>
          </a:prstGeom>
          <a:gradFill>
            <a:gsLst>
              <a:gs pos="0">
                <a:srgbClr val="476ED1"/>
              </a:gs>
              <a:gs pos="88000">
                <a:srgbClr val="264796"/>
              </a:gs>
              <a:gs pos="100000">
                <a:srgbClr val="264796"/>
              </a:gs>
            </a:gsLst>
            <a:lin ang="16200038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7"/>
          <p:cNvSpPr/>
          <p:nvPr/>
        </p:nvSpPr>
        <p:spPr>
          <a:xfrm>
            <a:off x="248144" y="142766"/>
            <a:ext cx="8694000" cy="4677300"/>
          </a:xfrm>
          <a:prstGeom prst="rect">
            <a:avLst/>
          </a:prstGeom>
          <a:gradFill>
            <a:gsLst>
              <a:gs pos="0">
                <a:srgbClr val="476ED1">
                  <a:alpha val="0"/>
                </a:srgbClr>
              </a:gs>
              <a:gs pos="100000">
                <a:srgbClr val="476ED1"/>
              </a:gs>
            </a:gsLst>
            <a:lin ang="16200038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7"/>
          <p:cNvSpPr/>
          <p:nvPr/>
        </p:nvSpPr>
        <p:spPr>
          <a:xfrm rot="10800000">
            <a:off x="117185" y="4502011"/>
            <a:ext cx="353878" cy="64148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7"/>
          <p:cNvSpPr txBox="1"/>
          <p:nvPr/>
        </p:nvSpPr>
        <p:spPr>
          <a:xfrm>
            <a:off x="2923205" y="4766198"/>
            <a:ext cx="32976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25" tIns="14125" rIns="14125" bIns="141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www.varatechnology.com</a:t>
            </a:r>
            <a:endParaRPr sz="1100"/>
          </a:p>
        </p:txBody>
      </p:sp>
      <p:sp>
        <p:nvSpPr>
          <p:cNvPr id="346" name="Google Shape;346;p47"/>
          <p:cNvSpPr txBox="1"/>
          <p:nvPr/>
        </p:nvSpPr>
        <p:spPr>
          <a:xfrm>
            <a:off x="3666451" y="3874247"/>
            <a:ext cx="181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7" name="Google Shape;347;p47"/>
          <p:cNvGrpSpPr/>
          <p:nvPr/>
        </p:nvGrpSpPr>
        <p:grpSpPr>
          <a:xfrm>
            <a:off x="3865474" y="4290352"/>
            <a:ext cx="1413162" cy="403401"/>
            <a:chOff x="839836" y="5693263"/>
            <a:chExt cx="1884216" cy="537868"/>
          </a:xfrm>
        </p:grpSpPr>
        <p:grpSp>
          <p:nvGrpSpPr>
            <p:cNvPr id="348" name="Google Shape;348;p47"/>
            <p:cNvGrpSpPr/>
            <p:nvPr/>
          </p:nvGrpSpPr>
          <p:grpSpPr>
            <a:xfrm>
              <a:off x="1523616" y="5693267"/>
              <a:ext cx="515853" cy="515922"/>
              <a:chOff x="1327518" y="8517177"/>
              <a:chExt cx="714280" cy="714375"/>
            </a:xfrm>
          </p:grpSpPr>
          <p:sp>
            <p:nvSpPr>
              <p:cNvPr id="349" name="Google Shape;349;p47"/>
              <p:cNvSpPr/>
              <p:nvPr/>
            </p:nvSpPr>
            <p:spPr>
              <a:xfrm>
                <a:off x="1327518" y="8517177"/>
                <a:ext cx="71428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952373" h="952500" extrusionOk="0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47"/>
              <p:cNvSpPr/>
              <p:nvPr/>
            </p:nvSpPr>
            <p:spPr>
              <a:xfrm>
                <a:off x="1558451" y="8653173"/>
                <a:ext cx="228600" cy="440531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587375" extrusionOk="0">
                    <a:moveTo>
                      <a:pt x="197993" y="587375"/>
                    </a:moveTo>
                    <a:lnTo>
                      <a:pt x="90170" y="587375"/>
                    </a:lnTo>
                    <a:lnTo>
                      <a:pt x="90170" y="319405"/>
                    </a:lnTo>
                    <a:lnTo>
                      <a:pt x="0" y="319405"/>
                    </a:lnTo>
                    <a:lnTo>
                      <a:pt x="0" y="215011"/>
                    </a:lnTo>
                    <a:lnTo>
                      <a:pt x="90170" y="215011"/>
                    </a:lnTo>
                    <a:lnTo>
                      <a:pt x="90170" y="138049"/>
                    </a:lnTo>
                    <a:lnTo>
                      <a:pt x="99949" y="78740"/>
                    </a:lnTo>
                    <a:lnTo>
                      <a:pt x="127381" y="35560"/>
                    </a:lnTo>
                    <a:lnTo>
                      <a:pt x="169799" y="9017"/>
                    </a:lnTo>
                    <a:lnTo>
                      <a:pt x="224409" y="0"/>
                    </a:lnTo>
                    <a:lnTo>
                      <a:pt x="251714" y="508"/>
                    </a:lnTo>
                    <a:lnTo>
                      <a:pt x="275336" y="1651"/>
                    </a:lnTo>
                    <a:lnTo>
                      <a:pt x="293624" y="3048"/>
                    </a:lnTo>
                    <a:lnTo>
                      <a:pt x="304800" y="4191"/>
                    </a:lnTo>
                    <a:lnTo>
                      <a:pt x="304800" y="97536"/>
                    </a:lnTo>
                    <a:lnTo>
                      <a:pt x="249555" y="97536"/>
                    </a:lnTo>
                    <a:lnTo>
                      <a:pt x="223139" y="101219"/>
                    </a:lnTo>
                    <a:lnTo>
                      <a:pt x="207391" y="111633"/>
                    </a:lnTo>
                    <a:lnTo>
                      <a:pt x="199771" y="127635"/>
                    </a:lnTo>
                    <a:lnTo>
                      <a:pt x="197739" y="148336"/>
                    </a:lnTo>
                    <a:lnTo>
                      <a:pt x="197739" y="215011"/>
                    </a:lnTo>
                    <a:lnTo>
                      <a:pt x="301117" y="215011"/>
                    </a:lnTo>
                    <a:lnTo>
                      <a:pt x="287655" y="319405"/>
                    </a:lnTo>
                    <a:lnTo>
                      <a:pt x="197993" y="319405"/>
                    </a:lnTo>
                    <a:lnTo>
                      <a:pt x="197993" y="587375"/>
                    </a:lnTo>
                    <a:close/>
                  </a:path>
                </a:pathLst>
              </a:custGeom>
              <a:solidFill>
                <a:srgbClr val="F96E2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" name="Google Shape;351;p47"/>
            <p:cNvGrpSpPr/>
            <p:nvPr/>
          </p:nvGrpSpPr>
          <p:grpSpPr>
            <a:xfrm>
              <a:off x="839836" y="5693265"/>
              <a:ext cx="537865" cy="537865"/>
              <a:chOff x="380718" y="8517178"/>
              <a:chExt cx="744760" cy="744760"/>
            </a:xfrm>
          </p:grpSpPr>
          <p:sp>
            <p:nvSpPr>
              <p:cNvPr id="352" name="Google Shape;352;p47"/>
              <p:cNvSpPr/>
              <p:nvPr/>
            </p:nvSpPr>
            <p:spPr>
              <a:xfrm>
                <a:off x="380718" y="8517178"/>
                <a:ext cx="744760" cy="744760"/>
              </a:xfrm>
              <a:custGeom>
                <a:avLst/>
                <a:gdLst/>
                <a:ahLst/>
                <a:cxnLst/>
                <a:rect l="l" t="t" r="r" b="b"/>
                <a:pathLst>
                  <a:path w="993013" h="993013" extrusionOk="0">
                    <a:moveTo>
                      <a:pt x="993013" y="496443"/>
                    </a:moveTo>
                    <a:lnTo>
                      <a:pt x="992124" y="481711"/>
                    </a:lnTo>
                    <a:lnTo>
                      <a:pt x="992124" y="467233"/>
                    </a:lnTo>
                    <a:lnTo>
                      <a:pt x="990219" y="450977"/>
                    </a:lnTo>
                    <a:lnTo>
                      <a:pt x="989203" y="434213"/>
                    </a:lnTo>
                    <a:lnTo>
                      <a:pt x="986663" y="421005"/>
                    </a:lnTo>
                    <a:lnTo>
                      <a:pt x="985266" y="409067"/>
                    </a:lnTo>
                    <a:lnTo>
                      <a:pt x="981329" y="392938"/>
                    </a:lnTo>
                    <a:lnTo>
                      <a:pt x="977900" y="374269"/>
                    </a:lnTo>
                    <a:lnTo>
                      <a:pt x="973963" y="361950"/>
                    </a:lnTo>
                    <a:lnTo>
                      <a:pt x="971550" y="351663"/>
                    </a:lnTo>
                    <a:lnTo>
                      <a:pt x="965708" y="336042"/>
                    </a:lnTo>
                    <a:lnTo>
                      <a:pt x="959612" y="316992"/>
                    </a:lnTo>
                    <a:lnTo>
                      <a:pt x="954532" y="305816"/>
                    </a:lnTo>
                    <a:lnTo>
                      <a:pt x="950849" y="295910"/>
                    </a:lnTo>
                    <a:lnTo>
                      <a:pt x="942975" y="280670"/>
                    </a:lnTo>
                    <a:lnTo>
                      <a:pt x="934847" y="263017"/>
                    </a:lnTo>
                    <a:lnTo>
                      <a:pt x="928370" y="252603"/>
                    </a:lnTo>
                    <a:lnTo>
                      <a:pt x="923163" y="242570"/>
                    </a:lnTo>
                    <a:lnTo>
                      <a:pt x="913892" y="228981"/>
                    </a:lnTo>
                    <a:lnTo>
                      <a:pt x="903986" y="212852"/>
                    </a:lnTo>
                    <a:lnTo>
                      <a:pt x="895477" y="202057"/>
                    </a:lnTo>
                    <a:lnTo>
                      <a:pt x="888746" y="192278"/>
                    </a:lnTo>
                    <a:lnTo>
                      <a:pt x="879094" y="181356"/>
                    </a:lnTo>
                    <a:lnTo>
                      <a:pt x="867664" y="166751"/>
                    </a:lnTo>
                    <a:lnTo>
                      <a:pt x="855980" y="155067"/>
                    </a:lnTo>
                    <a:lnTo>
                      <a:pt x="847471" y="145415"/>
                    </a:lnTo>
                    <a:lnTo>
                      <a:pt x="846836" y="146050"/>
                    </a:lnTo>
                    <a:lnTo>
                      <a:pt x="780034" y="89027"/>
                    </a:lnTo>
                    <a:lnTo>
                      <a:pt x="729742" y="58293"/>
                    </a:lnTo>
                    <a:lnTo>
                      <a:pt x="675767" y="33528"/>
                    </a:lnTo>
                    <a:lnTo>
                      <a:pt x="618617" y="15240"/>
                    </a:lnTo>
                    <a:lnTo>
                      <a:pt x="558800" y="3810"/>
                    </a:lnTo>
                    <a:lnTo>
                      <a:pt x="496443" y="0"/>
                    </a:lnTo>
                    <a:lnTo>
                      <a:pt x="434213" y="3810"/>
                    </a:lnTo>
                    <a:lnTo>
                      <a:pt x="374269" y="15113"/>
                    </a:lnTo>
                    <a:lnTo>
                      <a:pt x="317119" y="33401"/>
                    </a:lnTo>
                    <a:lnTo>
                      <a:pt x="263144" y="58166"/>
                    </a:lnTo>
                    <a:lnTo>
                      <a:pt x="212852" y="88900"/>
                    </a:lnTo>
                    <a:lnTo>
                      <a:pt x="166751" y="125222"/>
                    </a:lnTo>
                    <a:lnTo>
                      <a:pt x="125349" y="166624"/>
                    </a:lnTo>
                    <a:lnTo>
                      <a:pt x="89027" y="212725"/>
                    </a:lnTo>
                    <a:lnTo>
                      <a:pt x="58293" y="263017"/>
                    </a:lnTo>
                    <a:lnTo>
                      <a:pt x="33528" y="316992"/>
                    </a:lnTo>
                    <a:lnTo>
                      <a:pt x="15240" y="374142"/>
                    </a:lnTo>
                    <a:lnTo>
                      <a:pt x="3810" y="434213"/>
                    </a:lnTo>
                    <a:lnTo>
                      <a:pt x="0" y="496443"/>
                    </a:lnTo>
                    <a:lnTo>
                      <a:pt x="3810" y="558800"/>
                    </a:lnTo>
                    <a:lnTo>
                      <a:pt x="15113" y="618744"/>
                    </a:lnTo>
                    <a:lnTo>
                      <a:pt x="33401" y="675894"/>
                    </a:lnTo>
                    <a:lnTo>
                      <a:pt x="58166" y="729869"/>
                    </a:lnTo>
                    <a:lnTo>
                      <a:pt x="88900" y="780161"/>
                    </a:lnTo>
                    <a:lnTo>
                      <a:pt x="125222" y="826262"/>
                    </a:lnTo>
                    <a:lnTo>
                      <a:pt x="145923" y="846963"/>
                    </a:lnTo>
                    <a:lnTo>
                      <a:pt x="145415" y="847471"/>
                    </a:lnTo>
                    <a:lnTo>
                      <a:pt x="154940" y="855980"/>
                    </a:lnTo>
                    <a:lnTo>
                      <a:pt x="166624" y="867664"/>
                    </a:lnTo>
                    <a:lnTo>
                      <a:pt x="180721" y="878840"/>
                    </a:lnTo>
                    <a:lnTo>
                      <a:pt x="192024" y="888873"/>
                    </a:lnTo>
                    <a:lnTo>
                      <a:pt x="202184" y="895858"/>
                    </a:lnTo>
                    <a:lnTo>
                      <a:pt x="212598" y="904113"/>
                    </a:lnTo>
                    <a:lnTo>
                      <a:pt x="227965" y="913511"/>
                    </a:lnTo>
                    <a:lnTo>
                      <a:pt x="242316" y="923290"/>
                    </a:lnTo>
                    <a:lnTo>
                      <a:pt x="252857" y="928751"/>
                    </a:lnTo>
                    <a:lnTo>
                      <a:pt x="262890" y="934847"/>
                    </a:lnTo>
                    <a:lnTo>
                      <a:pt x="279654" y="942594"/>
                    </a:lnTo>
                    <a:lnTo>
                      <a:pt x="295656" y="950849"/>
                    </a:lnTo>
                    <a:lnTo>
                      <a:pt x="306070" y="954786"/>
                    </a:lnTo>
                    <a:lnTo>
                      <a:pt x="316738" y="959739"/>
                    </a:lnTo>
                    <a:lnTo>
                      <a:pt x="334645" y="965454"/>
                    </a:lnTo>
                    <a:lnTo>
                      <a:pt x="351282" y="971550"/>
                    </a:lnTo>
                    <a:lnTo>
                      <a:pt x="362204" y="974217"/>
                    </a:lnTo>
                    <a:lnTo>
                      <a:pt x="374015" y="977900"/>
                    </a:lnTo>
                    <a:lnTo>
                      <a:pt x="391922" y="981329"/>
                    </a:lnTo>
                    <a:lnTo>
                      <a:pt x="408559" y="985266"/>
                    </a:lnTo>
                    <a:lnTo>
                      <a:pt x="420751" y="986663"/>
                    </a:lnTo>
                    <a:lnTo>
                      <a:pt x="433959" y="989203"/>
                    </a:lnTo>
                    <a:lnTo>
                      <a:pt x="450596" y="990219"/>
                    </a:lnTo>
                    <a:lnTo>
                      <a:pt x="466852" y="992124"/>
                    </a:lnTo>
                    <a:lnTo>
                      <a:pt x="481457" y="992124"/>
                    </a:lnTo>
                    <a:lnTo>
                      <a:pt x="496189" y="993013"/>
                    </a:lnTo>
                    <a:lnTo>
                      <a:pt x="510921" y="992124"/>
                    </a:lnTo>
                    <a:lnTo>
                      <a:pt x="525399" y="992124"/>
                    </a:lnTo>
                    <a:lnTo>
                      <a:pt x="541401" y="990219"/>
                    </a:lnTo>
                    <a:lnTo>
                      <a:pt x="558800" y="989076"/>
                    </a:lnTo>
                    <a:lnTo>
                      <a:pt x="572262" y="986536"/>
                    </a:lnTo>
                    <a:lnTo>
                      <a:pt x="579374" y="985647"/>
                    </a:lnTo>
                    <a:lnTo>
                      <a:pt x="579755" y="985647"/>
                    </a:lnTo>
                    <a:lnTo>
                      <a:pt x="584200" y="985139"/>
                    </a:lnTo>
                    <a:lnTo>
                      <a:pt x="600329" y="981202"/>
                    </a:lnTo>
                    <a:lnTo>
                      <a:pt x="618871" y="977646"/>
                    </a:lnTo>
                    <a:lnTo>
                      <a:pt x="630936" y="973836"/>
                    </a:lnTo>
                    <a:lnTo>
                      <a:pt x="641350" y="971296"/>
                    </a:lnTo>
                    <a:lnTo>
                      <a:pt x="646049" y="969518"/>
                    </a:lnTo>
                    <a:lnTo>
                      <a:pt x="646811" y="969391"/>
                    </a:lnTo>
                    <a:lnTo>
                      <a:pt x="650748" y="967867"/>
                    </a:lnTo>
                    <a:lnTo>
                      <a:pt x="657225" y="965454"/>
                    </a:lnTo>
                    <a:lnTo>
                      <a:pt x="676021" y="959485"/>
                    </a:lnTo>
                    <a:lnTo>
                      <a:pt x="687197" y="954405"/>
                    </a:lnTo>
                    <a:lnTo>
                      <a:pt x="697103" y="950722"/>
                    </a:lnTo>
                    <a:lnTo>
                      <a:pt x="706120" y="946023"/>
                    </a:lnTo>
                    <a:lnTo>
                      <a:pt x="710311" y="944372"/>
                    </a:lnTo>
                    <a:lnTo>
                      <a:pt x="716153" y="941070"/>
                    </a:lnTo>
                    <a:lnTo>
                      <a:pt x="729996" y="934720"/>
                    </a:lnTo>
                    <a:lnTo>
                      <a:pt x="740410" y="928370"/>
                    </a:lnTo>
                    <a:lnTo>
                      <a:pt x="750443" y="923163"/>
                    </a:lnTo>
                    <a:lnTo>
                      <a:pt x="762508" y="914908"/>
                    </a:lnTo>
                    <a:lnTo>
                      <a:pt x="769112" y="911225"/>
                    </a:lnTo>
                    <a:lnTo>
                      <a:pt x="772033" y="908939"/>
                    </a:lnTo>
                    <a:lnTo>
                      <a:pt x="780161" y="903986"/>
                    </a:lnTo>
                    <a:lnTo>
                      <a:pt x="790956" y="895477"/>
                    </a:lnTo>
                    <a:lnTo>
                      <a:pt x="800735" y="888746"/>
                    </a:lnTo>
                    <a:lnTo>
                      <a:pt x="811784" y="878967"/>
                    </a:lnTo>
                    <a:lnTo>
                      <a:pt x="819404" y="872998"/>
                    </a:lnTo>
                    <a:lnTo>
                      <a:pt x="822579" y="870585"/>
                    </a:lnTo>
                    <a:lnTo>
                      <a:pt x="823087" y="870077"/>
                    </a:lnTo>
                    <a:lnTo>
                      <a:pt x="826262" y="867537"/>
                    </a:lnTo>
                    <a:lnTo>
                      <a:pt x="837946" y="855853"/>
                    </a:lnTo>
                    <a:lnTo>
                      <a:pt x="847471" y="847471"/>
                    </a:lnTo>
                    <a:lnTo>
                      <a:pt x="855980" y="837946"/>
                    </a:lnTo>
                    <a:lnTo>
                      <a:pt x="867664" y="826262"/>
                    </a:lnTo>
                    <a:lnTo>
                      <a:pt x="869569" y="823722"/>
                    </a:lnTo>
                    <a:lnTo>
                      <a:pt x="869950" y="823341"/>
                    </a:lnTo>
                    <a:lnTo>
                      <a:pt x="872490" y="819912"/>
                    </a:lnTo>
                    <a:lnTo>
                      <a:pt x="878713" y="812038"/>
                    </a:lnTo>
                    <a:lnTo>
                      <a:pt x="888619" y="800735"/>
                    </a:lnTo>
                    <a:lnTo>
                      <a:pt x="895604" y="790575"/>
                    </a:lnTo>
                    <a:lnTo>
                      <a:pt x="903859" y="780161"/>
                    </a:lnTo>
                    <a:lnTo>
                      <a:pt x="907923" y="773557"/>
                    </a:lnTo>
                    <a:lnTo>
                      <a:pt x="910590" y="770001"/>
                    </a:lnTo>
                    <a:lnTo>
                      <a:pt x="915035" y="762127"/>
                    </a:lnTo>
                    <a:lnTo>
                      <a:pt x="923036" y="750443"/>
                    </a:lnTo>
                    <a:lnTo>
                      <a:pt x="928370" y="740029"/>
                    </a:lnTo>
                    <a:lnTo>
                      <a:pt x="934593" y="729996"/>
                    </a:lnTo>
                    <a:lnTo>
                      <a:pt x="939927" y="718312"/>
                    </a:lnTo>
                    <a:lnTo>
                      <a:pt x="943864" y="711327"/>
                    </a:lnTo>
                    <a:lnTo>
                      <a:pt x="946023" y="705866"/>
                    </a:lnTo>
                    <a:lnTo>
                      <a:pt x="950468" y="697230"/>
                    </a:lnTo>
                    <a:lnTo>
                      <a:pt x="954278" y="686816"/>
                    </a:lnTo>
                    <a:lnTo>
                      <a:pt x="959231" y="676148"/>
                    </a:lnTo>
                    <a:lnTo>
                      <a:pt x="964946" y="658495"/>
                    </a:lnTo>
                    <a:lnTo>
                      <a:pt x="969137" y="648081"/>
                    </a:lnTo>
                    <a:lnTo>
                      <a:pt x="970915" y="642620"/>
                    </a:lnTo>
                    <a:lnTo>
                      <a:pt x="974090" y="631063"/>
                    </a:lnTo>
                    <a:lnTo>
                      <a:pt x="973709" y="630809"/>
                    </a:lnTo>
                    <a:lnTo>
                      <a:pt x="977519" y="618998"/>
                    </a:lnTo>
                    <a:lnTo>
                      <a:pt x="980821" y="601091"/>
                    </a:lnTo>
                    <a:lnTo>
                      <a:pt x="984885" y="584327"/>
                    </a:lnTo>
                    <a:lnTo>
                      <a:pt x="986282" y="571881"/>
                    </a:lnTo>
                    <a:lnTo>
                      <a:pt x="988695" y="558927"/>
                    </a:lnTo>
                    <a:lnTo>
                      <a:pt x="989711" y="542544"/>
                    </a:lnTo>
                    <a:lnTo>
                      <a:pt x="991616" y="526161"/>
                    </a:lnTo>
                    <a:lnTo>
                      <a:pt x="991616" y="511175"/>
                    </a:lnTo>
                    <a:lnTo>
                      <a:pt x="992505" y="496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3" name="Google Shape;353;p47"/>
              <p:cNvGrpSpPr/>
              <p:nvPr/>
            </p:nvGrpSpPr>
            <p:grpSpPr>
              <a:xfrm>
                <a:off x="570731" y="8660503"/>
                <a:ext cx="373380" cy="356902"/>
                <a:chOff x="0" y="0"/>
                <a:chExt cx="497840" cy="475869"/>
              </a:xfrm>
            </p:grpSpPr>
            <p:sp>
              <p:nvSpPr>
                <p:cNvPr id="354" name="Google Shape;354;p47"/>
                <p:cNvSpPr/>
                <p:nvPr/>
              </p:nvSpPr>
              <p:spPr>
                <a:xfrm>
                  <a:off x="278765" y="147320"/>
                  <a:ext cx="194818" cy="541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18" h="54102" extrusionOk="0">
                      <a:moveTo>
                        <a:pt x="194818" y="53975"/>
                      </a:moveTo>
                      <a:lnTo>
                        <a:pt x="0" y="53975"/>
                      </a:lnTo>
                      <a:lnTo>
                        <a:pt x="0" y="52959"/>
                      </a:lnTo>
                      <a:lnTo>
                        <a:pt x="13081" y="35433"/>
                      </a:lnTo>
                      <a:lnTo>
                        <a:pt x="32131" y="18288"/>
                      </a:lnTo>
                      <a:lnTo>
                        <a:pt x="59182" y="5207"/>
                      </a:lnTo>
                      <a:lnTo>
                        <a:pt x="96139" y="0"/>
                      </a:lnTo>
                      <a:lnTo>
                        <a:pt x="144907" y="8763"/>
                      </a:lnTo>
                      <a:lnTo>
                        <a:pt x="183896" y="35306"/>
                      </a:lnTo>
                      <a:lnTo>
                        <a:pt x="194691" y="54102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" name="Google Shape;355;p47"/>
                <p:cNvSpPr/>
                <p:nvPr/>
              </p:nvSpPr>
              <p:spPr>
                <a:xfrm>
                  <a:off x="172085" y="154813"/>
                  <a:ext cx="317119" cy="321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119" h="321056" extrusionOk="0">
                      <a:moveTo>
                        <a:pt x="106680" y="321056"/>
                      </a:moveTo>
                      <a:lnTo>
                        <a:pt x="0" y="321056"/>
                      </a:lnTo>
                      <a:lnTo>
                        <a:pt x="254" y="275082"/>
                      </a:lnTo>
                      <a:lnTo>
                        <a:pt x="635" y="171831"/>
                      </a:lnTo>
                      <a:lnTo>
                        <a:pt x="508" y="45466"/>
                      </a:lnTo>
                      <a:lnTo>
                        <a:pt x="127" y="0"/>
                      </a:lnTo>
                      <a:lnTo>
                        <a:pt x="106807" y="0"/>
                      </a:lnTo>
                      <a:lnTo>
                        <a:pt x="106807" y="45466"/>
                      </a:lnTo>
                      <a:lnTo>
                        <a:pt x="106426" y="46228"/>
                      </a:lnTo>
                      <a:lnTo>
                        <a:pt x="106172" y="46482"/>
                      </a:lnTo>
                      <a:lnTo>
                        <a:pt x="301498" y="46482"/>
                      </a:lnTo>
                      <a:lnTo>
                        <a:pt x="316484" y="72771"/>
                      </a:lnTo>
                      <a:lnTo>
                        <a:pt x="317119" y="76708"/>
                      </a:lnTo>
                      <a:lnTo>
                        <a:pt x="165100" y="76708"/>
                      </a:lnTo>
                      <a:lnTo>
                        <a:pt x="145161" y="80137"/>
                      </a:lnTo>
                      <a:lnTo>
                        <a:pt x="107442" y="122555"/>
                      </a:lnTo>
                      <a:lnTo>
                        <a:pt x="106680" y="132207"/>
                      </a:lnTo>
                      <a:lnTo>
                        <a:pt x="106680" y="321056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47"/>
                <p:cNvSpPr/>
                <p:nvPr/>
              </p:nvSpPr>
              <p:spPr>
                <a:xfrm>
                  <a:off x="337058" y="231394"/>
                  <a:ext cx="160782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82" h="244475" extrusionOk="0">
                      <a:moveTo>
                        <a:pt x="160782" y="244475"/>
                      </a:moveTo>
                      <a:lnTo>
                        <a:pt x="54102" y="244475"/>
                      </a:lnTo>
                      <a:lnTo>
                        <a:pt x="54102" y="72771"/>
                      </a:lnTo>
                      <a:lnTo>
                        <a:pt x="51054" y="43180"/>
                      </a:lnTo>
                      <a:lnTo>
                        <a:pt x="41529" y="20193"/>
                      </a:lnTo>
                      <a:lnTo>
                        <a:pt x="24765" y="5334"/>
                      </a:lnTo>
                      <a:lnTo>
                        <a:pt x="0" y="0"/>
                      </a:lnTo>
                      <a:lnTo>
                        <a:pt x="152019" y="0"/>
                      </a:lnTo>
                      <a:lnTo>
                        <a:pt x="160782" y="60198"/>
                      </a:lnTo>
                      <a:lnTo>
                        <a:pt x="160782" y="244348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47"/>
                <p:cNvSpPr/>
                <p:nvPr/>
              </p:nvSpPr>
              <p:spPr>
                <a:xfrm>
                  <a:off x="0" y="0"/>
                  <a:ext cx="120269" cy="110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269" h="110871" extrusionOk="0">
                      <a:moveTo>
                        <a:pt x="59817" y="110871"/>
                      </a:moveTo>
                      <a:lnTo>
                        <a:pt x="59055" y="110871"/>
                      </a:lnTo>
                      <a:lnTo>
                        <a:pt x="34671" y="106553"/>
                      </a:lnTo>
                      <a:lnTo>
                        <a:pt x="16129" y="94742"/>
                      </a:lnTo>
                      <a:lnTo>
                        <a:pt x="4191" y="77089"/>
                      </a:lnTo>
                      <a:lnTo>
                        <a:pt x="0" y="55372"/>
                      </a:lnTo>
                      <a:lnTo>
                        <a:pt x="4318" y="33528"/>
                      </a:lnTo>
                      <a:lnTo>
                        <a:pt x="16510" y="15875"/>
                      </a:lnTo>
                      <a:lnTo>
                        <a:pt x="35687" y="4191"/>
                      </a:lnTo>
                      <a:lnTo>
                        <a:pt x="60452" y="0"/>
                      </a:lnTo>
                      <a:lnTo>
                        <a:pt x="84963" y="4191"/>
                      </a:lnTo>
                      <a:lnTo>
                        <a:pt x="103632" y="15875"/>
                      </a:lnTo>
                      <a:lnTo>
                        <a:pt x="115570" y="33401"/>
                      </a:lnTo>
                      <a:lnTo>
                        <a:pt x="120269" y="55372"/>
                      </a:lnTo>
                      <a:lnTo>
                        <a:pt x="116078" y="77089"/>
                      </a:lnTo>
                      <a:lnTo>
                        <a:pt x="104013" y="94742"/>
                      </a:lnTo>
                      <a:lnTo>
                        <a:pt x="84963" y="106553"/>
                      </a:lnTo>
                      <a:lnTo>
                        <a:pt x="59817" y="110871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47"/>
                <p:cNvSpPr/>
                <p:nvPr/>
              </p:nvSpPr>
              <p:spPr>
                <a:xfrm>
                  <a:off x="6350" y="154940"/>
                  <a:ext cx="106680" cy="320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80" h="320929" extrusionOk="0">
                      <a:moveTo>
                        <a:pt x="106680" y="320929"/>
                      </a:moveTo>
                      <a:lnTo>
                        <a:pt x="0" y="320929"/>
                      </a:lnTo>
                      <a:lnTo>
                        <a:pt x="0" y="0"/>
                      </a:lnTo>
                      <a:lnTo>
                        <a:pt x="106680" y="0"/>
                      </a:lnTo>
                      <a:lnTo>
                        <a:pt x="106680" y="320929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9" name="Google Shape;359;p47"/>
            <p:cNvGrpSpPr/>
            <p:nvPr/>
          </p:nvGrpSpPr>
          <p:grpSpPr>
            <a:xfrm>
              <a:off x="2208200" y="5693263"/>
              <a:ext cx="515853" cy="515922"/>
              <a:chOff x="2275431" y="8517171"/>
              <a:chExt cx="714280" cy="714375"/>
            </a:xfrm>
          </p:grpSpPr>
          <p:sp>
            <p:nvSpPr>
              <p:cNvPr id="360" name="Google Shape;360;p47"/>
              <p:cNvSpPr/>
              <p:nvPr/>
            </p:nvSpPr>
            <p:spPr>
              <a:xfrm>
                <a:off x="2275431" y="8517171"/>
                <a:ext cx="71428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952373" h="952500" extrusionOk="0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61" name="Google Shape;361;p4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376304" y="8620172"/>
                <a:ext cx="512536" cy="5125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62" name="Google Shape;362;p47"/>
          <p:cNvSpPr txBox="1"/>
          <p:nvPr/>
        </p:nvSpPr>
        <p:spPr>
          <a:xfrm>
            <a:off x="2394159" y="2289217"/>
            <a:ext cx="43557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lang="en" sz="5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100"/>
          </a:p>
        </p:txBody>
      </p:sp>
      <p:sp>
        <p:nvSpPr>
          <p:cNvPr id="363" name="Google Shape;363;p47"/>
          <p:cNvSpPr txBox="1"/>
          <p:nvPr/>
        </p:nvSpPr>
        <p:spPr>
          <a:xfrm>
            <a:off x="3028956" y="3372264"/>
            <a:ext cx="3196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25" tIns="14125" rIns="14125" bIns="141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MUMBAI | GURUGRAM</a:t>
            </a: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"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KOLKATA</a:t>
            </a:r>
            <a:endParaRPr sz="1100"/>
          </a:p>
        </p:txBody>
      </p:sp>
      <p:cxnSp>
        <p:nvCxnSpPr>
          <p:cNvPr id="364" name="Google Shape;364;p47"/>
          <p:cNvCxnSpPr/>
          <p:nvPr/>
        </p:nvCxnSpPr>
        <p:spPr>
          <a:xfrm>
            <a:off x="3167492" y="3710783"/>
            <a:ext cx="30534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365" name="Google Shape;365;p47"/>
          <p:cNvPicPr preferRelativeResize="0"/>
          <p:nvPr/>
        </p:nvPicPr>
        <p:blipFill rotWithShape="1">
          <a:blip r:embed="rId4">
            <a:alphaModFix/>
          </a:blip>
          <a:srcRect l="18558" r="18552"/>
          <a:stretch/>
        </p:blipFill>
        <p:spPr>
          <a:xfrm>
            <a:off x="3985733" y="1007945"/>
            <a:ext cx="1172535" cy="1029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5E3E05DF-3DC9-C3E5-DFF5-FE3CB84A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>
            <a:extLst>
              <a:ext uri="{FF2B5EF4-FFF2-40B4-BE49-F238E27FC236}">
                <a16:creationId xmlns:a16="http://schemas.microsoft.com/office/drawing/2014/main" id="{53B16BA1-1332-92C8-020C-BC054BA7B89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US" b="0" dirty="0"/>
              <a:t>Annexure</a:t>
            </a:r>
            <a:endParaRPr lang="en-GB" b="0"/>
          </a:p>
        </p:txBody>
      </p:sp>
      <p:sp>
        <p:nvSpPr>
          <p:cNvPr id="331" name="Google Shape;331;p46" hidden="1">
            <a:extLst>
              <a:ext uri="{FF2B5EF4-FFF2-40B4-BE49-F238E27FC236}">
                <a16:creationId xmlns:a16="http://schemas.microsoft.com/office/drawing/2014/main" id="{BCB99959-5749-30DF-DF69-2FB4347F1D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84256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444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EBE0B-2F76-F44E-1EEF-F702AB0CF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52" y="1117647"/>
            <a:ext cx="2884571" cy="2908205"/>
          </a:xfrm>
        </p:spPr>
        <p:txBody>
          <a:bodyPr>
            <a:noAutofit/>
          </a:bodyPr>
          <a:lstStyle/>
          <a:p>
            <a:r>
              <a:rPr lang="en-US" b="0" dirty="0"/>
              <a:t>Digital TC Process Overall Flow</a:t>
            </a:r>
            <a:endParaRPr lang="en-GB" b="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099E1BF-C992-F7B1-1B6C-0E73CD596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232" y="0"/>
            <a:ext cx="4235116" cy="481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236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803</Words>
  <Application>Microsoft Office PowerPoint</Application>
  <PresentationFormat>On-screen Show (16:9)</PresentationFormat>
  <Paragraphs>123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Custom Design</vt:lpstr>
      <vt:lpstr>Office Theme</vt:lpstr>
      <vt:lpstr>PowerPoint Presentation</vt:lpstr>
      <vt:lpstr>Agenda</vt:lpstr>
      <vt:lpstr>As-Is Process</vt:lpstr>
      <vt:lpstr>Shortcomings of As-Is Process</vt:lpstr>
      <vt:lpstr>Problems addressed by blockchain</vt:lpstr>
      <vt:lpstr>Digital TC Process – Manufacturer to Distributor</vt:lpstr>
      <vt:lpstr>Digital TC Process – Manufacturer to Distributor</vt:lpstr>
      <vt:lpstr>Digital TC Process – Manufacturer to Distributor</vt:lpstr>
      <vt:lpstr>Digital TC Process – Buyer Verifies</vt:lpstr>
      <vt:lpstr>View Digital TC - Step 1</vt:lpstr>
      <vt:lpstr>View Digital TC - Step 2</vt:lpstr>
      <vt:lpstr>View Digital TC - Step 2 - After scrolling down</vt:lpstr>
      <vt:lpstr>Digital TC Process – Distributor to end customer</vt:lpstr>
      <vt:lpstr>TC Verification from Platform - Step 1</vt:lpstr>
      <vt:lpstr>TC Verification from Platform - Step 2</vt:lpstr>
      <vt:lpstr>TC Verification from Platform - Step 2</vt:lpstr>
      <vt:lpstr>PowerPoint Presentation</vt:lpstr>
      <vt:lpstr>Annexure</vt:lpstr>
      <vt:lpstr>Digital TC Process Overall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Navvya Vishal</cp:lastModifiedBy>
  <cp:revision>8</cp:revision>
  <dcterms:modified xsi:type="dcterms:W3CDTF">2024-10-21T16:10:10Z</dcterms:modified>
</cp:coreProperties>
</file>