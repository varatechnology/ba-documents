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e47926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e47926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e4792644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2e4792644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e4792644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e4792644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e4792644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2e4792644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e4792644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e4792644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Pain001 Mircorservice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 Finance Microservice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55150" y="214875"/>
            <a:ext cx="809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Architecture of Batch program in Trade Finance Blockchain project</a:t>
            </a:r>
            <a:endParaRPr b="1" sz="1800"/>
          </a:p>
        </p:txBody>
      </p:sp>
      <p:grpSp>
        <p:nvGrpSpPr>
          <p:cNvPr id="61" name="Google Shape;61;p14"/>
          <p:cNvGrpSpPr/>
          <p:nvPr/>
        </p:nvGrpSpPr>
        <p:grpSpPr>
          <a:xfrm>
            <a:off x="335750" y="712675"/>
            <a:ext cx="8286050" cy="3128300"/>
            <a:chOff x="564050" y="1155850"/>
            <a:chExt cx="8286050" cy="3128300"/>
          </a:xfrm>
        </p:grpSpPr>
        <p:sp>
          <p:nvSpPr>
            <p:cNvPr id="62" name="Google Shape;62;p14"/>
            <p:cNvSpPr/>
            <p:nvPr/>
          </p:nvSpPr>
          <p:spPr>
            <a:xfrm>
              <a:off x="564050" y="1289225"/>
              <a:ext cx="1933800" cy="95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BatchProgram</a:t>
              </a:r>
              <a:r>
                <a:rPr lang="en"/>
                <a:t>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for Pain001</a:t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5725650" y="1289225"/>
              <a:ext cx="2833500" cy="95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REST server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(dedicated for BatchProgram)</a:t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775000" y="3778350"/>
              <a:ext cx="2734800" cy="505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Blockchain</a:t>
              </a:r>
              <a:endParaRPr b="1"/>
            </a:p>
          </p:txBody>
        </p:sp>
        <p:cxnSp>
          <p:nvCxnSpPr>
            <p:cNvPr id="65" name="Google Shape;65;p14"/>
            <p:cNvCxnSpPr/>
            <p:nvPr/>
          </p:nvCxnSpPr>
          <p:spPr>
            <a:xfrm>
              <a:off x="2497850" y="1613525"/>
              <a:ext cx="322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" name="Google Shape;66;p14"/>
            <p:cNvSpPr txBox="1"/>
            <p:nvPr/>
          </p:nvSpPr>
          <p:spPr>
            <a:xfrm>
              <a:off x="2914200" y="1155850"/>
              <a:ext cx="2135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HTTP request to get the Batch of pending Pain001</a:t>
              </a:r>
              <a:endParaRPr sz="1100"/>
            </a:p>
          </p:txBody>
        </p:sp>
        <p:cxnSp>
          <p:nvCxnSpPr>
            <p:cNvPr id="67" name="Google Shape;67;p14"/>
            <p:cNvCxnSpPr/>
            <p:nvPr/>
          </p:nvCxnSpPr>
          <p:spPr>
            <a:xfrm rot="10800000">
              <a:off x="2497950" y="1842125"/>
              <a:ext cx="322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" name="Google Shape;68;p14"/>
            <p:cNvSpPr txBox="1"/>
            <p:nvPr/>
          </p:nvSpPr>
          <p:spPr>
            <a:xfrm>
              <a:off x="2990400" y="1765450"/>
              <a:ext cx="2135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HTTP response to get the Batch of pending Pain001</a:t>
              </a:r>
              <a:endParaRPr sz="1100"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117350" y="2256150"/>
              <a:ext cx="66900" cy="1522200"/>
            </a:xfrm>
            <a:prstGeom prst="upDownArrow">
              <a:avLst>
                <a:gd fmla="val 50000" name="adj1"/>
                <a:gd fmla="val 140047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7238500" y="2766475"/>
              <a:ext cx="1611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Query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using Fabric SDK</a:t>
              </a:r>
              <a:endParaRPr/>
            </a:p>
          </p:txBody>
        </p:sp>
      </p:grpSp>
      <p:sp>
        <p:nvSpPr>
          <p:cNvPr id="71" name="Google Shape;71;p14"/>
          <p:cNvSpPr/>
          <p:nvPr/>
        </p:nvSpPr>
        <p:spPr>
          <a:xfrm>
            <a:off x="335750" y="2081550"/>
            <a:ext cx="5022600" cy="257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Batch program sends a http request to get the list of approved transactions ( A1, A2 etc ) and Pain001 msg not generated.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Batch program process the transactions and generates Pain001 message and its attachment.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After successfully generated Pain001 msg, it sends another http request to update status of the transaction to Pain001 generated ( XML generated and Docs generated 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35750" y="0"/>
            <a:ext cx="8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Architecture of Batch program in Trade Finance Blockchain project</a:t>
            </a:r>
            <a:endParaRPr b="1" sz="1800"/>
          </a:p>
        </p:txBody>
      </p:sp>
      <p:grpSp>
        <p:nvGrpSpPr>
          <p:cNvPr id="77" name="Google Shape;77;p15"/>
          <p:cNvGrpSpPr/>
          <p:nvPr/>
        </p:nvGrpSpPr>
        <p:grpSpPr>
          <a:xfrm>
            <a:off x="335750" y="1303250"/>
            <a:ext cx="8286050" cy="2994925"/>
            <a:chOff x="564050" y="1289225"/>
            <a:chExt cx="8286050" cy="2994925"/>
          </a:xfrm>
        </p:grpSpPr>
        <p:sp>
          <p:nvSpPr>
            <p:cNvPr id="78" name="Google Shape;78;p15"/>
            <p:cNvSpPr/>
            <p:nvPr/>
          </p:nvSpPr>
          <p:spPr>
            <a:xfrm>
              <a:off x="564050" y="1289225"/>
              <a:ext cx="1933800" cy="95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BatchProgram</a:t>
              </a:r>
              <a:r>
                <a:rPr lang="en"/>
                <a:t>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for Swift notification</a:t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5725650" y="1289225"/>
              <a:ext cx="2833500" cy="95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REST server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(dedicated for BatchProgram)</a:t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5775000" y="3778350"/>
              <a:ext cx="2734800" cy="505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Blockchain</a:t>
              </a:r>
              <a:endParaRPr b="1"/>
            </a:p>
          </p:txBody>
        </p:sp>
        <p:cxnSp>
          <p:nvCxnSpPr>
            <p:cNvPr id="81" name="Google Shape;81;p15"/>
            <p:cNvCxnSpPr/>
            <p:nvPr/>
          </p:nvCxnSpPr>
          <p:spPr>
            <a:xfrm>
              <a:off x="2497850" y="1765925"/>
              <a:ext cx="322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" name="Google Shape;82;p15"/>
            <p:cNvSpPr txBox="1"/>
            <p:nvPr/>
          </p:nvSpPr>
          <p:spPr>
            <a:xfrm>
              <a:off x="2914200" y="1308250"/>
              <a:ext cx="2135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Http request to update the status</a:t>
              </a:r>
              <a:endParaRPr sz="110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7117350" y="2256150"/>
              <a:ext cx="66900" cy="1522200"/>
            </a:xfrm>
            <a:prstGeom prst="upDownArrow">
              <a:avLst>
                <a:gd fmla="val 50000" name="adj1"/>
                <a:gd fmla="val 140047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7238500" y="2766475"/>
              <a:ext cx="1611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Query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using Fabric SDK</a:t>
              </a:r>
              <a:endParaRPr/>
            </a:p>
          </p:txBody>
        </p:sp>
      </p:grpSp>
      <p:sp>
        <p:nvSpPr>
          <p:cNvPr id="85" name="Google Shape;85;p15"/>
          <p:cNvSpPr/>
          <p:nvPr/>
        </p:nvSpPr>
        <p:spPr>
          <a:xfrm>
            <a:off x="335750" y="2914875"/>
            <a:ext cx="5022600" cy="138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Batch program periodically watches for new files in the directory NetAck and DeliveryNotif.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When </a:t>
            </a:r>
            <a:r>
              <a:rPr lang="en"/>
              <a:t>new</a:t>
            </a:r>
            <a:r>
              <a:rPr lang="en"/>
              <a:t> file is received, the file is processed.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It sends http request to update status of the transaction ( XML Ack and XML Del ) </a:t>
            </a:r>
            <a:r>
              <a:rPr lang="en">
                <a:solidFill>
                  <a:schemeClr val="dk1"/>
                </a:solidFill>
              </a:rPr>
              <a:t>( Docs Ack and Docs Del 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255150" y="214875"/>
            <a:ext cx="81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Architecture of Batch program in Trade Finance Blockchain project</a:t>
            </a:r>
            <a:endParaRPr b="1" sz="1800"/>
          </a:p>
        </p:txBody>
      </p:sp>
      <p:grpSp>
        <p:nvGrpSpPr>
          <p:cNvPr id="91" name="Google Shape;91;p16"/>
          <p:cNvGrpSpPr/>
          <p:nvPr/>
        </p:nvGrpSpPr>
        <p:grpSpPr>
          <a:xfrm>
            <a:off x="335750" y="1379450"/>
            <a:ext cx="8286050" cy="2994925"/>
            <a:chOff x="564050" y="1289225"/>
            <a:chExt cx="8286050" cy="2994925"/>
          </a:xfrm>
        </p:grpSpPr>
        <p:sp>
          <p:nvSpPr>
            <p:cNvPr id="92" name="Google Shape;92;p16"/>
            <p:cNvSpPr/>
            <p:nvPr/>
          </p:nvSpPr>
          <p:spPr>
            <a:xfrm>
              <a:off x="564050" y="1289225"/>
              <a:ext cx="1933800" cy="95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BatchProgram</a:t>
              </a:r>
              <a:r>
                <a:rPr lang="en"/>
                <a:t>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for Pain002</a:t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5725650" y="1289225"/>
              <a:ext cx="2833500" cy="95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REST server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(dedicated for BatchProgram)</a:t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5775000" y="3778350"/>
              <a:ext cx="2734800" cy="505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Blockchain</a:t>
              </a:r>
              <a:endParaRPr b="1"/>
            </a:p>
          </p:txBody>
        </p:sp>
        <p:cxnSp>
          <p:nvCxnSpPr>
            <p:cNvPr id="95" name="Google Shape;95;p16"/>
            <p:cNvCxnSpPr/>
            <p:nvPr/>
          </p:nvCxnSpPr>
          <p:spPr>
            <a:xfrm>
              <a:off x="2497850" y="1765925"/>
              <a:ext cx="322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" name="Google Shape;96;p16"/>
            <p:cNvSpPr txBox="1"/>
            <p:nvPr/>
          </p:nvSpPr>
          <p:spPr>
            <a:xfrm>
              <a:off x="2914200" y="1308250"/>
              <a:ext cx="2135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Http request to update the status</a:t>
              </a:r>
              <a:endParaRPr sz="1100"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7117350" y="2256150"/>
              <a:ext cx="66900" cy="1522200"/>
            </a:xfrm>
            <a:prstGeom prst="upDownArrow">
              <a:avLst>
                <a:gd fmla="val 50000" name="adj1"/>
                <a:gd fmla="val 140047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7238500" y="2766475"/>
              <a:ext cx="1611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Query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using Fabric SDK</a:t>
              </a:r>
              <a:endParaRPr/>
            </a:p>
          </p:txBody>
        </p:sp>
      </p:grpSp>
      <p:sp>
        <p:nvSpPr>
          <p:cNvPr id="99" name="Google Shape;99;p16"/>
          <p:cNvSpPr/>
          <p:nvPr/>
        </p:nvSpPr>
        <p:spPr>
          <a:xfrm>
            <a:off x="335750" y="2991075"/>
            <a:ext cx="5022600" cy="138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Batch program periodically watches for new files in the directory incoming pain.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When new file is received, the file is processed.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It sends http request to update status of the transaction ( Bank reference no 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255150" y="214875"/>
            <a:ext cx="7338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What needs to be improved ?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There is no way to get the status each batch program from CLI.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There is no way to get the status of each batch program remotely..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programs are running independently and cannot to stopped safely. Currently, the process of each batch program is </a:t>
            </a:r>
            <a:r>
              <a:rPr lang="en"/>
              <a:t>terminated</a:t>
            </a:r>
            <a:r>
              <a:rPr lang="en"/>
              <a:t> by killing the process.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No email notification send if any error occurs.</a:t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55150" y="2272275"/>
            <a:ext cx="73380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Proposed Solution: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Instead of using batch-program, use micro-service architecture.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Micro-service will </a:t>
            </a:r>
            <a:r>
              <a:rPr lang="en"/>
              <a:t>control</a:t>
            </a:r>
            <a:r>
              <a:rPr lang="en"/>
              <a:t> the execution of the functionality of each batch program using a control panel.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Using web server, remote access should be available to the control panel to stop required service with safety.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Introduce email notification on probable error places.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255150" y="214875"/>
            <a:ext cx="733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Architecture of Pain 001 Microservice</a:t>
            </a:r>
            <a:endParaRPr b="1" sz="1800"/>
          </a:p>
        </p:txBody>
      </p:sp>
      <p:sp>
        <p:nvSpPr>
          <p:cNvPr id="111" name="Google Shape;111;p18"/>
          <p:cNvSpPr/>
          <p:nvPr/>
        </p:nvSpPr>
        <p:spPr>
          <a:xfrm>
            <a:off x="349175" y="765475"/>
            <a:ext cx="4337700" cy="416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8"/>
          <p:cNvGrpSpPr/>
          <p:nvPr/>
        </p:nvGrpSpPr>
        <p:grpSpPr>
          <a:xfrm>
            <a:off x="658325" y="1065300"/>
            <a:ext cx="3746725" cy="3540750"/>
            <a:chOff x="618050" y="1051875"/>
            <a:chExt cx="3746725" cy="3540750"/>
          </a:xfrm>
        </p:grpSpPr>
        <p:sp>
          <p:nvSpPr>
            <p:cNvPr id="113" name="Google Shape;113;p18"/>
            <p:cNvSpPr/>
            <p:nvPr/>
          </p:nvSpPr>
          <p:spPr>
            <a:xfrm>
              <a:off x="618075" y="1830875"/>
              <a:ext cx="3746700" cy="644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Control Panel</a:t>
              </a:r>
              <a:endParaRPr b="1"/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618075" y="1051875"/>
              <a:ext cx="3746700" cy="644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Web Server</a:t>
              </a:r>
              <a:endParaRPr b="1"/>
            </a:p>
          </p:txBody>
        </p:sp>
        <p:grpSp>
          <p:nvGrpSpPr>
            <p:cNvPr id="115" name="Google Shape;115;p18"/>
            <p:cNvGrpSpPr/>
            <p:nvPr/>
          </p:nvGrpSpPr>
          <p:grpSpPr>
            <a:xfrm>
              <a:off x="618050" y="2645325"/>
              <a:ext cx="3746700" cy="1947300"/>
              <a:chOff x="389450" y="2873925"/>
              <a:chExt cx="3746700" cy="1947300"/>
            </a:xfrm>
          </p:grpSpPr>
          <p:sp>
            <p:nvSpPr>
              <p:cNvPr id="116" name="Google Shape;116;p18"/>
              <p:cNvSpPr/>
              <p:nvPr/>
            </p:nvSpPr>
            <p:spPr>
              <a:xfrm>
                <a:off x="389450" y="2873925"/>
                <a:ext cx="3746700" cy="1947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496875" y="2994784"/>
                <a:ext cx="1638300" cy="765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/>
                  <a:t>Pain001 Generator</a:t>
                </a:r>
                <a:endParaRPr b="1"/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2381700" y="3917334"/>
                <a:ext cx="1638300" cy="765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/>
                  <a:t>DeliveryNotif Processor</a:t>
                </a:r>
                <a:endParaRPr b="1"/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496875" y="3917334"/>
                <a:ext cx="1638300" cy="765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/>
                  <a:t>Pain002 Processor</a:t>
                </a:r>
                <a:endParaRPr b="1"/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2381700" y="2994784"/>
                <a:ext cx="1638300" cy="765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/>
                  <a:t>NetAck Processor</a:t>
                </a:r>
                <a:endParaRPr b="1"/>
              </a:p>
            </p:txBody>
          </p:sp>
        </p:grpSp>
      </p:grpSp>
      <p:sp>
        <p:nvSpPr>
          <p:cNvPr id="121" name="Google Shape;121;p18"/>
          <p:cNvSpPr/>
          <p:nvPr/>
        </p:nvSpPr>
        <p:spPr>
          <a:xfrm>
            <a:off x="6969925" y="3675325"/>
            <a:ext cx="1880100" cy="8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Blockchain</a:t>
            </a:r>
            <a:endParaRPr b="1"/>
          </a:p>
        </p:txBody>
      </p:sp>
      <p:sp>
        <p:nvSpPr>
          <p:cNvPr id="122" name="Google Shape;122;p18"/>
          <p:cNvSpPr/>
          <p:nvPr/>
        </p:nvSpPr>
        <p:spPr>
          <a:xfrm>
            <a:off x="4405050" y="4096000"/>
            <a:ext cx="2542200" cy="81900"/>
          </a:xfrm>
          <a:prstGeom prst="leftRightArrow">
            <a:avLst>
              <a:gd fmla="val 32477" name="adj1"/>
              <a:gd fmla="val 58075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5000450" y="3786825"/>
            <a:ext cx="119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 SDK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4861475" y="765475"/>
            <a:ext cx="3988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Web Server:</a:t>
            </a:r>
            <a:r>
              <a:rPr lang="en"/>
              <a:t> It is introduced to have remote access to the control-panel.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Control Panel:</a:t>
            </a:r>
            <a:r>
              <a:rPr lang="en"/>
              <a:t> It executes the services in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Pain001 Generator:</a:t>
            </a:r>
            <a:r>
              <a:rPr lang="en"/>
              <a:t> It is a program to generate Pain001 XML and zip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NetAck</a:t>
            </a:r>
            <a:r>
              <a:rPr b="1" lang="en">
                <a:solidFill>
                  <a:schemeClr val="dk1"/>
                </a:solidFill>
              </a:rPr>
              <a:t> Processor:</a:t>
            </a:r>
            <a:r>
              <a:rPr lang="en">
                <a:solidFill>
                  <a:schemeClr val="dk1"/>
                </a:solidFill>
              </a:rPr>
              <a:t> It is a program to process NetAck files.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DeliveryNotif Processor:</a:t>
            </a:r>
            <a:r>
              <a:rPr lang="en">
                <a:solidFill>
                  <a:schemeClr val="dk1"/>
                </a:solidFill>
              </a:rPr>
              <a:t> It is a program to process DeliveryNotif files.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Pain002 Processor:</a:t>
            </a:r>
            <a:r>
              <a:rPr lang="en">
                <a:solidFill>
                  <a:schemeClr val="dk1"/>
                </a:solidFill>
              </a:rPr>
              <a:t> It is a program to process Pain002 XML and zip file.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