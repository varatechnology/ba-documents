
<file path=[Content_Types].xml><?xml version="1.0" encoding="utf-8"?>
<Types xmlns="http://schemas.openxmlformats.org/package/2006/content-types"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2ea532fe6a8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2ea532fe6a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2ea532fe6a8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2ea532fe6a8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2ea532fe6a8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2ea532fe6a8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TubeNxt - MSL</a:t>
            </a:r>
            <a:endParaRPr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Use Cases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  <a:buClr>
                <a:schemeClr val="dk1"/>
              </a:buClr>
              <a:buSzPct val="66666"/>
              <a:buFont typeface="Arial"/>
              <a:buNone/>
            </a:pPr>
            <a:r>
              <a:rPr b="1" lang="en" sz="1650">
                <a:solidFill>
                  <a:srgbClr val="1F2328"/>
                </a:solidFill>
                <a:highlight>
                  <a:srgbClr val="FFFFFF"/>
                </a:highlight>
              </a:rPr>
              <a:t>Use Case 1: TC Issuance</a:t>
            </a:r>
            <a:endParaRPr/>
          </a:p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95275" lvl="0" marL="457200" rtl="0" algn="l">
              <a:spcBef>
                <a:spcPts val="0"/>
              </a:spcBef>
              <a:spcAft>
                <a:spcPts val="0"/>
              </a:spcAft>
              <a:buClr>
                <a:srgbClr val="1F2328"/>
              </a:buClr>
              <a:buSzPts val="1050"/>
              <a:buAutoNum type="arabicPeriod"/>
            </a:pPr>
            <a:r>
              <a:rPr lang="en" sz="1050">
                <a:solidFill>
                  <a:srgbClr val="1F2328"/>
                </a:solidFill>
                <a:highlight>
                  <a:srgbClr val="FFFFFF"/>
                </a:highlight>
              </a:rPr>
              <a:t>MSL will generate the TC on their exisitng system which is Oracle.</a:t>
            </a:r>
            <a:endParaRPr sz="1050">
              <a:solidFill>
                <a:srgbClr val="1F2328"/>
              </a:solidFill>
              <a:highlight>
                <a:srgbClr val="FFFFFF"/>
              </a:highlight>
            </a:endParaRPr>
          </a:p>
          <a:p>
            <a:pPr indent="-295275" lvl="0" marL="457200" rtl="0" algn="l">
              <a:spcBef>
                <a:spcPts val="0"/>
              </a:spcBef>
              <a:spcAft>
                <a:spcPts val="0"/>
              </a:spcAft>
              <a:buClr>
                <a:srgbClr val="1F2328"/>
              </a:buClr>
              <a:buSzPts val="1050"/>
              <a:buAutoNum type="arabicPeriod"/>
            </a:pPr>
            <a:r>
              <a:rPr lang="en" sz="1050">
                <a:solidFill>
                  <a:srgbClr val="1F2328"/>
                </a:solidFill>
                <a:highlight>
                  <a:srgbClr val="FFFFFF"/>
                </a:highlight>
              </a:rPr>
              <a:t>MSL will send the TC along with metadata to the platform.</a:t>
            </a:r>
            <a:endParaRPr sz="1050">
              <a:solidFill>
                <a:srgbClr val="1F2328"/>
              </a:solidFill>
              <a:highlight>
                <a:srgbClr val="FFFFFF"/>
              </a:highlight>
            </a:endParaRPr>
          </a:p>
          <a:p>
            <a:pPr indent="-295275" lvl="0" marL="457200" rtl="0" algn="l">
              <a:spcBef>
                <a:spcPts val="0"/>
              </a:spcBef>
              <a:spcAft>
                <a:spcPts val="0"/>
              </a:spcAft>
              <a:buClr>
                <a:srgbClr val="1F2328"/>
              </a:buClr>
              <a:buSzPts val="1050"/>
              <a:buAutoNum type="arabicPeriod"/>
            </a:pPr>
            <a:r>
              <a:rPr lang="en" sz="1050">
                <a:solidFill>
                  <a:srgbClr val="1F2328"/>
                </a:solidFill>
                <a:highlight>
                  <a:srgbClr val="FFFFFF"/>
                </a:highlight>
              </a:rPr>
              <a:t>The platform will add digital signatures and QR code to the TC.</a:t>
            </a:r>
            <a:endParaRPr sz="1050">
              <a:solidFill>
                <a:srgbClr val="1F2328"/>
              </a:solidFill>
              <a:highlight>
                <a:srgbClr val="FFFFFF"/>
              </a:highlight>
            </a:endParaRPr>
          </a:p>
          <a:p>
            <a:pPr indent="-295275" lvl="0" marL="457200" rtl="0" algn="l">
              <a:spcBef>
                <a:spcPts val="0"/>
              </a:spcBef>
              <a:spcAft>
                <a:spcPts val="0"/>
              </a:spcAft>
              <a:buClr>
                <a:srgbClr val="1F2328"/>
              </a:buClr>
              <a:buSzPts val="1050"/>
              <a:buAutoNum type="arabicPeriod"/>
            </a:pPr>
            <a:r>
              <a:rPr lang="en" sz="1050">
                <a:solidFill>
                  <a:srgbClr val="1F2328"/>
                </a:solidFill>
                <a:highlight>
                  <a:srgbClr val="FFFFFF"/>
                </a:highlight>
              </a:rPr>
              <a:t>The singed copy for the dealer will be sent over email.</a:t>
            </a:r>
            <a:endParaRPr sz="1050">
              <a:solidFill>
                <a:srgbClr val="1F2328"/>
              </a:solidFill>
              <a:highlight>
                <a:srgbClr val="FFFFFF"/>
              </a:highlight>
            </a:endParaRPr>
          </a:p>
          <a:p>
            <a:pPr indent="-295275" lvl="0" marL="457200" rtl="0" algn="l">
              <a:spcBef>
                <a:spcPts val="0"/>
              </a:spcBef>
              <a:spcAft>
                <a:spcPts val="0"/>
              </a:spcAft>
              <a:buClr>
                <a:srgbClr val="1F2328"/>
              </a:buClr>
              <a:buSzPts val="1050"/>
              <a:buAutoNum type="arabicPeriod"/>
            </a:pPr>
            <a:r>
              <a:rPr lang="en" sz="1050">
                <a:solidFill>
                  <a:srgbClr val="1F2328"/>
                </a:solidFill>
                <a:highlight>
                  <a:srgbClr val="FFFFFF"/>
                </a:highlight>
              </a:rPr>
              <a:t>The dealer can login into the platform and view the TC.</a:t>
            </a:r>
            <a:endParaRPr sz="1050">
              <a:solidFill>
                <a:srgbClr val="1F2328"/>
              </a:solidFill>
              <a:highlight>
                <a:srgbClr val="FFFFFF"/>
              </a:highlight>
            </a:endParaRPr>
          </a:p>
          <a:p>
            <a:pPr indent="-295275" lvl="0" marL="457200" rtl="0" algn="l">
              <a:spcBef>
                <a:spcPts val="0"/>
              </a:spcBef>
              <a:spcAft>
                <a:spcPts val="0"/>
              </a:spcAft>
              <a:buClr>
                <a:srgbClr val="1F2328"/>
              </a:buClr>
              <a:buSzPts val="1050"/>
              <a:buAutoNum type="arabicPeriod"/>
            </a:pPr>
            <a:r>
              <a:rPr lang="en" sz="1050">
                <a:solidFill>
                  <a:srgbClr val="1F2328"/>
                </a:solidFill>
                <a:highlight>
                  <a:srgbClr val="FFFFFF"/>
                </a:highlight>
              </a:rPr>
              <a:t>No TC download option will be provided.</a:t>
            </a:r>
            <a:endParaRPr sz="1050">
              <a:solidFill>
                <a:srgbClr val="1F2328"/>
              </a:solidFill>
              <a:highlight>
                <a:srgbClr val="FFFFFF"/>
              </a:highlight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rgbClr val="1F2328"/>
              </a:solidFill>
              <a:highlight>
                <a:srgbClr val="FFFFFF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25000"/>
              </a:lnSpc>
              <a:spcBef>
                <a:spcPts val="1400"/>
              </a:spcBef>
              <a:spcAft>
                <a:spcPts val="400"/>
              </a:spcAft>
              <a:buClr>
                <a:schemeClr val="dk1"/>
              </a:buClr>
              <a:buSzPct val="66666"/>
              <a:buFont typeface="Arial"/>
              <a:buNone/>
            </a:pPr>
            <a:r>
              <a:rPr b="1" lang="en" sz="1650">
                <a:solidFill>
                  <a:srgbClr val="1F2328"/>
                </a:solidFill>
                <a:highlight>
                  <a:srgbClr val="FFFFFF"/>
                </a:highlight>
              </a:rPr>
              <a:t>Use Case 2: Customer Order Generation</a:t>
            </a:r>
            <a:endParaRPr/>
          </a:p>
        </p:txBody>
      </p:sp>
      <p:sp>
        <p:nvSpPr>
          <p:cNvPr id="67" name="Google Shape;67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95275" lvl="0" marL="457200" rtl="0" algn="l">
              <a:spcBef>
                <a:spcPts val="0"/>
              </a:spcBef>
              <a:spcAft>
                <a:spcPts val="0"/>
              </a:spcAft>
              <a:buClr>
                <a:srgbClr val="1F2328"/>
              </a:buClr>
              <a:buSzPts val="1050"/>
              <a:buAutoNum type="arabicPeriod"/>
            </a:pPr>
            <a:r>
              <a:rPr lang="en" sz="1050">
                <a:solidFill>
                  <a:srgbClr val="1F2328"/>
                </a:solidFill>
                <a:highlight>
                  <a:srgbClr val="FFFFFF"/>
                </a:highlight>
              </a:rPr>
              <a:t>Dealer login into the platform</a:t>
            </a:r>
            <a:endParaRPr sz="1050">
              <a:solidFill>
                <a:srgbClr val="1F2328"/>
              </a:solidFill>
              <a:highlight>
                <a:srgbClr val="FFFFFF"/>
              </a:highlight>
            </a:endParaRPr>
          </a:p>
          <a:p>
            <a:pPr indent="-295275" lvl="0" marL="457200" rtl="0" algn="l">
              <a:spcBef>
                <a:spcPts val="0"/>
              </a:spcBef>
              <a:spcAft>
                <a:spcPts val="0"/>
              </a:spcAft>
              <a:buClr>
                <a:srgbClr val="1F2328"/>
              </a:buClr>
              <a:buSzPts val="1050"/>
              <a:buAutoNum type="arabicPeriod"/>
            </a:pPr>
            <a:r>
              <a:rPr lang="en" sz="1050">
                <a:solidFill>
                  <a:srgbClr val="1F2328"/>
                </a:solidFill>
                <a:highlight>
                  <a:srgbClr val="FFFFFF"/>
                </a:highlight>
              </a:rPr>
              <a:t>Dealer goes to the Order window</a:t>
            </a:r>
            <a:endParaRPr sz="1050">
              <a:solidFill>
                <a:srgbClr val="1F2328"/>
              </a:solidFill>
              <a:highlight>
                <a:srgbClr val="FFFFFF"/>
              </a:highlight>
            </a:endParaRPr>
          </a:p>
          <a:p>
            <a:pPr indent="-295275" lvl="0" marL="457200" rtl="0" algn="l">
              <a:spcBef>
                <a:spcPts val="0"/>
              </a:spcBef>
              <a:spcAft>
                <a:spcPts val="0"/>
              </a:spcAft>
              <a:buClr>
                <a:srgbClr val="1F2328"/>
              </a:buClr>
              <a:buSzPts val="1050"/>
              <a:buAutoNum type="arabicPeriod"/>
            </a:pPr>
            <a:r>
              <a:rPr lang="en" sz="1050">
                <a:solidFill>
                  <a:srgbClr val="1F2328"/>
                </a:solidFill>
                <a:highlight>
                  <a:srgbClr val="FFFFFF"/>
                </a:highlight>
              </a:rPr>
              <a:t>Dealer fills up the form with basic details like</a:t>
            </a:r>
            <a:endParaRPr sz="1050">
              <a:solidFill>
                <a:srgbClr val="1F2328"/>
              </a:solidFill>
              <a:highlight>
                <a:srgbClr val="FFFFFF"/>
              </a:highlight>
            </a:endParaRPr>
          </a:p>
          <a:p>
            <a:pPr indent="-295275" lvl="1" marL="914400" rtl="0" algn="l">
              <a:spcBef>
                <a:spcPts val="0"/>
              </a:spcBef>
              <a:spcAft>
                <a:spcPts val="0"/>
              </a:spcAft>
              <a:buClr>
                <a:srgbClr val="1F2328"/>
              </a:buClr>
              <a:buSzPts val="1050"/>
              <a:buChar char="○"/>
            </a:pPr>
            <a:r>
              <a:rPr lang="en" sz="1050">
                <a:solidFill>
                  <a:srgbClr val="1F2328"/>
                </a:solidFill>
                <a:highlight>
                  <a:srgbClr val="FFFFFF"/>
                </a:highlight>
              </a:rPr>
              <a:t>Main Dimensions</a:t>
            </a:r>
            <a:endParaRPr sz="1050">
              <a:solidFill>
                <a:srgbClr val="1F2328"/>
              </a:solidFill>
              <a:highlight>
                <a:srgbClr val="FFFFFF"/>
              </a:highlight>
            </a:endParaRPr>
          </a:p>
          <a:p>
            <a:pPr indent="-295275" lvl="1" marL="914400" rtl="0" algn="l">
              <a:spcBef>
                <a:spcPts val="0"/>
              </a:spcBef>
              <a:spcAft>
                <a:spcPts val="0"/>
              </a:spcAft>
              <a:buClr>
                <a:srgbClr val="1F2328"/>
              </a:buClr>
              <a:buSzPts val="1050"/>
              <a:buChar char="○"/>
            </a:pPr>
            <a:r>
              <a:rPr lang="en" sz="1050">
                <a:solidFill>
                  <a:srgbClr val="1F2328"/>
                </a:solidFill>
                <a:highlight>
                  <a:srgbClr val="FFFFFF"/>
                </a:highlight>
              </a:rPr>
              <a:t>Lot No</a:t>
            </a:r>
            <a:endParaRPr sz="1050">
              <a:solidFill>
                <a:srgbClr val="1F2328"/>
              </a:solidFill>
              <a:highlight>
                <a:srgbClr val="FFFFFF"/>
              </a:highlight>
            </a:endParaRPr>
          </a:p>
          <a:p>
            <a:pPr indent="-295275" lvl="1" marL="914400" rtl="0" algn="l">
              <a:spcBef>
                <a:spcPts val="0"/>
              </a:spcBef>
              <a:spcAft>
                <a:spcPts val="0"/>
              </a:spcAft>
              <a:buClr>
                <a:srgbClr val="1F2328"/>
              </a:buClr>
              <a:buSzPts val="1050"/>
              <a:buChar char="○"/>
            </a:pPr>
            <a:r>
              <a:rPr lang="en" sz="1050">
                <a:solidFill>
                  <a:srgbClr val="1F2328"/>
                </a:solidFill>
                <a:highlight>
                  <a:srgbClr val="FFFFFF"/>
                </a:highlight>
              </a:rPr>
              <a:t>Quantity</a:t>
            </a:r>
            <a:endParaRPr sz="1050">
              <a:solidFill>
                <a:srgbClr val="1F2328"/>
              </a:solidFill>
              <a:highlight>
                <a:srgbClr val="FFFFFF"/>
              </a:highlight>
            </a:endParaRPr>
          </a:p>
          <a:p>
            <a:pPr indent="-295275" lvl="0" marL="457200" rtl="0" algn="l">
              <a:spcBef>
                <a:spcPts val="0"/>
              </a:spcBef>
              <a:spcAft>
                <a:spcPts val="0"/>
              </a:spcAft>
              <a:buClr>
                <a:srgbClr val="1F2328"/>
              </a:buClr>
              <a:buSzPts val="1050"/>
              <a:buAutoNum type="arabicPeriod"/>
            </a:pPr>
            <a:r>
              <a:rPr lang="en" sz="1050">
                <a:solidFill>
                  <a:srgbClr val="1F2328"/>
                </a:solidFill>
                <a:highlight>
                  <a:srgbClr val="FFFFFF"/>
                </a:highlight>
              </a:rPr>
              <a:t>Based on the order information, system will generate a Order Request</a:t>
            </a:r>
            <a:endParaRPr sz="1050">
              <a:solidFill>
                <a:srgbClr val="1F2328"/>
              </a:solidFill>
              <a:highlight>
                <a:srgbClr val="FFFFFF"/>
              </a:highlight>
            </a:endParaRPr>
          </a:p>
          <a:p>
            <a:pPr indent="-295275" lvl="0" marL="457200" rtl="0" algn="l">
              <a:spcBef>
                <a:spcPts val="0"/>
              </a:spcBef>
              <a:spcAft>
                <a:spcPts val="0"/>
              </a:spcAft>
              <a:buClr>
                <a:srgbClr val="1F2328"/>
              </a:buClr>
              <a:buSzPts val="1050"/>
              <a:buAutoNum type="arabicPeriod"/>
            </a:pPr>
            <a:r>
              <a:rPr lang="en" sz="1050">
                <a:solidFill>
                  <a:srgbClr val="1F2328"/>
                </a:solidFill>
                <a:highlight>
                  <a:srgbClr val="FFFFFF"/>
                </a:highlight>
              </a:rPr>
              <a:t>The order request will produce a PDF file which will have following information</a:t>
            </a:r>
            <a:endParaRPr sz="1050">
              <a:solidFill>
                <a:srgbClr val="1F2328"/>
              </a:solidFill>
              <a:highlight>
                <a:srgbClr val="FFFFFF"/>
              </a:highlight>
            </a:endParaRPr>
          </a:p>
          <a:p>
            <a:pPr indent="-295275" lvl="1" marL="914400" rtl="0" algn="l">
              <a:spcBef>
                <a:spcPts val="0"/>
              </a:spcBef>
              <a:spcAft>
                <a:spcPts val="0"/>
              </a:spcAft>
              <a:buClr>
                <a:srgbClr val="1F2328"/>
              </a:buClr>
              <a:buSzPts val="1050"/>
              <a:buChar char="○"/>
            </a:pPr>
            <a:r>
              <a:rPr lang="en" sz="1050">
                <a:solidFill>
                  <a:srgbClr val="1F2328"/>
                </a:solidFill>
                <a:highlight>
                  <a:srgbClr val="FFFFFF"/>
                </a:highlight>
              </a:rPr>
              <a:t>Customer Details</a:t>
            </a:r>
            <a:endParaRPr sz="1050">
              <a:solidFill>
                <a:srgbClr val="1F2328"/>
              </a:solidFill>
              <a:highlight>
                <a:srgbClr val="FFFFFF"/>
              </a:highlight>
            </a:endParaRPr>
          </a:p>
          <a:p>
            <a:pPr indent="-295275" lvl="1" marL="914400" rtl="0" algn="l">
              <a:spcBef>
                <a:spcPts val="0"/>
              </a:spcBef>
              <a:spcAft>
                <a:spcPts val="0"/>
              </a:spcAft>
              <a:buClr>
                <a:srgbClr val="1F2328"/>
              </a:buClr>
              <a:buSzPts val="1050"/>
              <a:buChar char="○"/>
            </a:pPr>
            <a:r>
              <a:rPr lang="en" sz="1050">
                <a:solidFill>
                  <a:srgbClr val="1F2328"/>
                </a:solidFill>
                <a:highlight>
                  <a:srgbClr val="FFFFFF"/>
                </a:highlight>
              </a:rPr>
              <a:t>Dealer Details</a:t>
            </a:r>
            <a:endParaRPr sz="1050">
              <a:solidFill>
                <a:srgbClr val="1F2328"/>
              </a:solidFill>
              <a:highlight>
                <a:srgbClr val="FFFFFF"/>
              </a:highlight>
            </a:endParaRPr>
          </a:p>
          <a:p>
            <a:pPr indent="-295275" lvl="1" marL="914400" rtl="0" algn="l">
              <a:spcBef>
                <a:spcPts val="0"/>
              </a:spcBef>
              <a:spcAft>
                <a:spcPts val="0"/>
              </a:spcAft>
              <a:buClr>
                <a:srgbClr val="1F2328"/>
              </a:buClr>
              <a:buSzPts val="1050"/>
              <a:buChar char="○"/>
            </a:pPr>
            <a:r>
              <a:rPr lang="en" sz="1050">
                <a:solidFill>
                  <a:srgbClr val="1F2328"/>
                </a:solidFill>
                <a:highlight>
                  <a:srgbClr val="FFFFFF"/>
                </a:highlight>
              </a:rPr>
              <a:t>Manufacturer Details</a:t>
            </a:r>
            <a:endParaRPr sz="1050">
              <a:solidFill>
                <a:srgbClr val="1F2328"/>
              </a:solidFill>
              <a:highlight>
                <a:srgbClr val="FFFFFF"/>
              </a:highlight>
            </a:endParaRPr>
          </a:p>
          <a:p>
            <a:pPr indent="-295275" lvl="1" marL="914400" rtl="0" algn="l">
              <a:spcBef>
                <a:spcPts val="0"/>
              </a:spcBef>
              <a:spcAft>
                <a:spcPts val="0"/>
              </a:spcAft>
              <a:buClr>
                <a:srgbClr val="1F2328"/>
              </a:buClr>
              <a:buSzPts val="1050"/>
              <a:buChar char="○"/>
            </a:pPr>
            <a:r>
              <a:rPr lang="en" sz="1050">
                <a:solidFill>
                  <a:srgbClr val="1F2328"/>
                </a:solidFill>
                <a:highlight>
                  <a:srgbClr val="FFFFFF"/>
                </a:highlight>
              </a:rPr>
              <a:t>Copy of the Signed TC in subsequent Pages</a:t>
            </a:r>
            <a:endParaRPr sz="1050">
              <a:solidFill>
                <a:srgbClr val="1F2328"/>
              </a:solidFill>
              <a:highlight>
                <a:srgbClr val="FFFFFF"/>
              </a:highlight>
            </a:endParaRPr>
          </a:p>
          <a:p>
            <a:pPr indent="-295275" lvl="0" marL="457200" rtl="0" algn="l">
              <a:spcBef>
                <a:spcPts val="0"/>
              </a:spcBef>
              <a:spcAft>
                <a:spcPts val="0"/>
              </a:spcAft>
              <a:buClr>
                <a:srgbClr val="1F2328"/>
              </a:buClr>
              <a:buSzPts val="1050"/>
              <a:buAutoNum type="arabicPeriod"/>
            </a:pPr>
            <a:r>
              <a:rPr lang="en" sz="1050">
                <a:solidFill>
                  <a:srgbClr val="1F2328"/>
                </a:solidFill>
                <a:highlight>
                  <a:srgbClr val="FFFFFF"/>
                </a:highlight>
              </a:rPr>
              <a:t>Order Request PDF copy will be sent to End-Customer over email.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25000"/>
              </a:lnSpc>
              <a:spcBef>
                <a:spcPts val="1400"/>
              </a:spcBef>
              <a:spcAft>
                <a:spcPts val="400"/>
              </a:spcAft>
              <a:buClr>
                <a:schemeClr val="dk1"/>
              </a:buClr>
              <a:buSzPct val="66666"/>
              <a:buFont typeface="Arial"/>
              <a:buNone/>
            </a:pPr>
            <a:r>
              <a:rPr b="1" lang="en" sz="1650">
                <a:solidFill>
                  <a:srgbClr val="1F2328"/>
                </a:solidFill>
                <a:highlight>
                  <a:srgbClr val="FFFFFF"/>
                </a:highlight>
              </a:rPr>
              <a:t>Use Case 3: TC Verification</a:t>
            </a:r>
            <a:endParaRPr/>
          </a:p>
        </p:txBody>
      </p:sp>
      <p:sp>
        <p:nvSpPr>
          <p:cNvPr id="73" name="Google Shape;73;p1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95275" lvl="0" marL="457200" rtl="0" algn="l">
              <a:spcBef>
                <a:spcPts val="0"/>
              </a:spcBef>
              <a:spcAft>
                <a:spcPts val="0"/>
              </a:spcAft>
              <a:buClr>
                <a:srgbClr val="1F2328"/>
              </a:buClr>
              <a:buSzPts val="1050"/>
              <a:buAutoNum type="arabicPeriod"/>
            </a:pPr>
            <a:r>
              <a:rPr lang="en" sz="1050">
                <a:solidFill>
                  <a:srgbClr val="1F2328"/>
                </a:solidFill>
                <a:highlight>
                  <a:srgbClr val="FFFFFF"/>
                </a:highlight>
              </a:rPr>
              <a:t>User visit the platform and go to QR Scanner</a:t>
            </a:r>
            <a:endParaRPr sz="1050">
              <a:solidFill>
                <a:srgbClr val="1F2328"/>
              </a:solidFill>
              <a:highlight>
                <a:srgbClr val="FFFFFF"/>
              </a:highlight>
            </a:endParaRPr>
          </a:p>
          <a:p>
            <a:pPr indent="-295275" lvl="0" marL="457200" rtl="0" algn="l">
              <a:spcBef>
                <a:spcPts val="0"/>
              </a:spcBef>
              <a:spcAft>
                <a:spcPts val="0"/>
              </a:spcAft>
              <a:buClr>
                <a:srgbClr val="1F2328"/>
              </a:buClr>
              <a:buSzPts val="1050"/>
              <a:buAutoNum type="arabicPeriod"/>
            </a:pPr>
            <a:r>
              <a:rPr lang="en" sz="1050">
                <a:solidFill>
                  <a:srgbClr val="1F2328"/>
                </a:solidFill>
                <a:highlight>
                  <a:srgbClr val="FFFFFF"/>
                </a:highlight>
              </a:rPr>
              <a:t>The platform Scans the QR Code</a:t>
            </a:r>
            <a:endParaRPr sz="1050">
              <a:solidFill>
                <a:srgbClr val="1F2328"/>
              </a:solidFill>
              <a:highlight>
                <a:srgbClr val="FFFFFF"/>
              </a:highlight>
            </a:endParaRPr>
          </a:p>
          <a:p>
            <a:pPr indent="-295275" lvl="0" marL="457200" rtl="0" algn="l">
              <a:spcBef>
                <a:spcPts val="0"/>
              </a:spcBef>
              <a:spcAft>
                <a:spcPts val="0"/>
              </a:spcAft>
              <a:buClr>
                <a:srgbClr val="1F2328"/>
              </a:buClr>
              <a:buSzPts val="1050"/>
              <a:buAutoNum type="arabicPeriod"/>
            </a:pPr>
            <a:r>
              <a:rPr lang="en" sz="1050">
                <a:solidFill>
                  <a:srgbClr val="1F2328"/>
                </a:solidFill>
                <a:highlight>
                  <a:srgbClr val="FFFFFF"/>
                </a:highlight>
              </a:rPr>
              <a:t>The platform will authenticate the User</a:t>
            </a:r>
            <a:endParaRPr sz="1050">
              <a:solidFill>
                <a:srgbClr val="1F2328"/>
              </a:solidFill>
              <a:highlight>
                <a:srgbClr val="FFFFFF"/>
              </a:highlight>
            </a:endParaRPr>
          </a:p>
          <a:p>
            <a:pPr indent="-295275" lvl="0" marL="457200" rtl="0" algn="l">
              <a:spcBef>
                <a:spcPts val="0"/>
              </a:spcBef>
              <a:spcAft>
                <a:spcPts val="0"/>
              </a:spcAft>
              <a:buClr>
                <a:srgbClr val="1F2328"/>
              </a:buClr>
              <a:buSzPts val="1050"/>
              <a:buAutoNum type="arabicPeriod"/>
            </a:pPr>
            <a:r>
              <a:rPr lang="en" sz="1050">
                <a:solidFill>
                  <a:srgbClr val="1F2328"/>
                </a:solidFill>
                <a:highlight>
                  <a:srgbClr val="FFFFFF"/>
                </a:highlight>
              </a:rPr>
              <a:t>If the authenticated user has permission to see the TC, it will show the details.</a:t>
            </a:r>
            <a:endParaRPr sz="1050">
              <a:solidFill>
                <a:srgbClr val="1F2328"/>
              </a:solidFill>
              <a:highlight>
                <a:srgbClr val="FFFFFF"/>
              </a:highlight>
            </a:endParaRPr>
          </a:p>
          <a:p>
            <a:pPr indent="-295275" lvl="0" marL="457200" rtl="0" algn="l">
              <a:spcBef>
                <a:spcPts val="0"/>
              </a:spcBef>
              <a:spcAft>
                <a:spcPts val="0"/>
              </a:spcAft>
              <a:buClr>
                <a:srgbClr val="1F2328"/>
              </a:buClr>
              <a:buSzPts val="1050"/>
              <a:buAutoNum type="arabicPeriod"/>
            </a:pPr>
            <a:r>
              <a:rPr lang="en" sz="1050">
                <a:solidFill>
                  <a:srgbClr val="1F2328"/>
                </a:solidFill>
                <a:highlight>
                  <a:srgbClr val="FFFFFF"/>
                </a:highlight>
              </a:rPr>
              <a:t>Authenticated User is a</a:t>
            </a:r>
            <a:endParaRPr sz="1050">
              <a:solidFill>
                <a:srgbClr val="1F2328"/>
              </a:solidFill>
              <a:highlight>
                <a:srgbClr val="FFFFFF"/>
              </a:highlight>
            </a:endParaRPr>
          </a:p>
          <a:p>
            <a:pPr indent="-295275" lvl="1" marL="914400" rtl="0" algn="l">
              <a:spcBef>
                <a:spcPts val="0"/>
              </a:spcBef>
              <a:spcAft>
                <a:spcPts val="0"/>
              </a:spcAft>
              <a:buClr>
                <a:srgbClr val="1F2328"/>
              </a:buClr>
              <a:buSzPts val="1050"/>
              <a:buChar char="○"/>
            </a:pPr>
            <a:r>
              <a:rPr lang="en" sz="1050">
                <a:solidFill>
                  <a:srgbClr val="1F2328"/>
                </a:solidFill>
                <a:highlight>
                  <a:srgbClr val="FFFFFF"/>
                </a:highlight>
              </a:rPr>
              <a:t>End-Customer if any order request exists with the registerred Phone Number</a:t>
            </a:r>
            <a:endParaRPr sz="1050">
              <a:solidFill>
                <a:srgbClr val="1F2328"/>
              </a:solidFill>
              <a:highlight>
                <a:srgbClr val="FFFFFF"/>
              </a:highlight>
            </a:endParaRPr>
          </a:p>
          <a:p>
            <a:pPr indent="-295275" lvl="1" marL="914400" rtl="0" algn="l">
              <a:spcBef>
                <a:spcPts val="0"/>
              </a:spcBef>
              <a:spcAft>
                <a:spcPts val="0"/>
              </a:spcAft>
              <a:buClr>
                <a:srgbClr val="1F2328"/>
              </a:buClr>
              <a:buSzPts val="1050"/>
              <a:buChar char="○"/>
            </a:pPr>
            <a:r>
              <a:rPr lang="en" sz="1050">
                <a:solidFill>
                  <a:srgbClr val="1F2328"/>
                </a:solidFill>
                <a:highlight>
                  <a:srgbClr val="FFFFFF"/>
                </a:highlight>
              </a:rPr>
              <a:t>Dealer User if Manufacturer issued the TC into the Dealer name</a:t>
            </a:r>
            <a:endParaRPr sz="1050">
              <a:solidFill>
                <a:srgbClr val="1F2328"/>
              </a:solidFill>
              <a:highlight>
                <a:srgbClr val="FFFFFF"/>
              </a:highlight>
            </a:endParaRPr>
          </a:p>
          <a:p>
            <a:pPr indent="-295275" lvl="1" marL="914400" rtl="0" algn="l">
              <a:spcBef>
                <a:spcPts val="0"/>
              </a:spcBef>
              <a:spcAft>
                <a:spcPts val="0"/>
              </a:spcAft>
              <a:buClr>
                <a:srgbClr val="1F2328"/>
              </a:buClr>
              <a:buSzPts val="1050"/>
              <a:buChar char="○"/>
            </a:pPr>
            <a:r>
              <a:rPr lang="en" sz="1050">
                <a:solidFill>
                  <a:srgbClr val="1F2328"/>
                </a:solidFill>
                <a:highlight>
                  <a:srgbClr val="FFFFFF"/>
                </a:highlight>
              </a:rPr>
              <a:t>Manufacturer if the User belongs to the Manufacturer</a:t>
            </a:r>
            <a:endParaRPr sz="1050">
              <a:solidFill>
                <a:srgbClr val="1F2328"/>
              </a:solidFill>
              <a:highlight>
                <a:srgbClr val="FFFFFF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